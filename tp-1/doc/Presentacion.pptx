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Pixelify Sans"/>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ixelifySans-bold.fntdata"/><Relationship Id="rId50" Type="http://schemas.openxmlformats.org/officeDocument/2006/relationships/font" Target="fonts/PixelifySans-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3ef457463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f3ef45746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f3ef457463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f3ef457463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a:solidFill>
                  <a:schemeClr val="dk1"/>
                </a:solidFill>
              </a:rPr>
              <a:t>Para representar cada estado usamos una </a:t>
            </a:r>
            <a:r>
              <a:rPr b="1" lang="es">
                <a:solidFill>
                  <a:schemeClr val="dk1"/>
                </a:solidFill>
              </a:rPr>
              <a:t>tupla de 9 elementos</a:t>
            </a:r>
            <a:r>
              <a:rPr lang="es">
                <a:solidFill>
                  <a:schemeClr val="dk1"/>
                </a:solidFill>
              </a:rPr>
              <a:t>, donde el 0 representa el espacio vacío.</a:t>
            </a:r>
            <a:endParaRPr>
              <a:solidFill>
                <a:schemeClr val="dk1"/>
              </a:solidFill>
            </a:endParaRPr>
          </a:p>
          <a:p>
            <a:pPr indent="0" lvl="0" marL="0" rtl="0" algn="l">
              <a:lnSpc>
                <a:spcPct val="115000"/>
              </a:lnSpc>
              <a:spcBef>
                <a:spcPts val="1200"/>
              </a:spcBef>
              <a:spcAft>
                <a:spcPts val="0"/>
              </a:spcAft>
              <a:buNone/>
            </a:pPr>
            <a:r>
              <a:rPr lang="es">
                <a:solidFill>
                  <a:schemeClr val="dk1"/>
                </a:solidFill>
              </a:rPr>
              <a:t>Si bien una matriz 3x3 seria más intuitiva para representar visualmente el tablero, para la búsqueda necesitamos comparar y almacenar una gran cantidad de estados.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La tupla tiene la ventaja de ser </a:t>
            </a:r>
            <a:r>
              <a:rPr b="1" lang="es">
                <a:solidFill>
                  <a:schemeClr val="dk1"/>
                </a:solidFill>
              </a:rPr>
              <a:t>inmutable y hashable</a:t>
            </a:r>
            <a:r>
              <a:rPr lang="es">
                <a:solidFill>
                  <a:schemeClr val="dk1"/>
                </a:solidFill>
              </a:rPr>
              <a:t>, por lo que podemos guardarla directamente en un set de estados visitados y detectar rápidamente si un estado ya fue explorado.</a:t>
            </a:r>
            <a:endParaRPr>
              <a:solidFill>
                <a:schemeClr val="dk1"/>
              </a:solidFill>
            </a:endParaRPr>
          </a:p>
          <a:p>
            <a:pPr indent="0" lvl="0" marL="0" rtl="0" algn="l">
              <a:lnSpc>
                <a:spcPct val="115000"/>
              </a:lnSpc>
              <a:spcBef>
                <a:spcPts val="1200"/>
              </a:spcBef>
              <a:spcAft>
                <a:spcPts val="0"/>
              </a:spcAft>
              <a:buNone/>
            </a:pPr>
            <a:r>
              <a:rPr lang="es">
                <a:solidFill>
                  <a:schemeClr val="dk1"/>
                </a:solidFill>
              </a:rPr>
              <a:t>Por eso, aunque conceptualmente el estado sigue siendo un tablero de 3×3, </a:t>
            </a:r>
            <a:r>
              <a:rPr b="1" lang="es">
                <a:solidFill>
                  <a:schemeClr val="dk1"/>
                </a:solidFill>
              </a:rPr>
              <a:t>lo representamos internamente como una tupla de 9 elementos</a:t>
            </a:r>
            <a:r>
              <a:rPr lang="es">
                <a:solidFill>
                  <a:schemeClr val="dk1"/>
                </a:solidFill>
              </a:rPr>
              <a:t>, priorizando la eficiencia para la búsqueda.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f3ef457463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f3ef457463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La primera heuristica es la </a:t>
            </a:r>
            <a:r>
              <a:rPr b="1" lang="es">
                <a:solidFill>
                  <a:schemeClr val="dk1"/>
                </a:solidFill>
              </a:rPr>
              <a:t>distancia Manhattan</a:t>
            </a:r>
            <a:r>
              <a:rPr lang="es">
                <a:solidFill>
                  <a:schemeClr val="dk1"/>
                </a:solidFill>
              </a:rPr>
              <a:t>. Para cada ficha contamos cuántas posiciones horizontales y verticales necesita recorrer para llegar a su posición en un estado objetivo. Sumamos estas distancias para todas las fichas.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Como en nuestro problema tenemos varias configuraciones objetivo equivalentes por rotaciones y reflexiones, calculamos esta distancia para cada objetivo y nos quedamos con el </a:t>
            </a:r>
            <a:r>
              <a:rPr b="1" lang="es">
                <a:solidFill>
                  <a:schemeClr val="dk1"/>
                </a:solidFill>
              </a:rPr>
              <a:t>mínimo</a:t>
            </a:r>
            <a:r>
              <a:rPr lang="es">
                <a:solidFill>
                  <a:schemeClr val="dk1"/>
                </a:solidFill>
              </a:rPr>
              <a:t>.</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Es admisible porque una ficha solamente puede moverse una posición por vez. Entonces, la distancia Manhattan representa una cantidad de movimientos que necesariamente hay que realizar como mínimo. Por eso nunca sobreestima el costo real.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La segunda es </a:t>
            </a:r>
            <a:r>
              <a:rPr b="1" lang="es">
                <a:solidFill>
                  <a:schemeClr val="dk1"/>
                </a:solidFill>
              </a:rPr>
              <a:t>fichas fuera de lugar</a:t>
            </a:r>
            <a:r>
              <a:rPr lang="es">
                <a:solidFill>
                  <a:schemeClr val="dk1"/>
                </a:solidFill>
              </a:rPr>
              <a:t>. Simplemente contamos cuántas fichas no están en la posición que deberían ocupar. Nuevamente, calculamos el valor respecto de cada uno de los objetivos posibles y tomamos el mínimo.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También es admisible porque cada ficha que está fuera de su posición necesita al menos un movimiento para cambiar de posición. Por lo tanto, este valor nunca puede ser mayor que el costo real de la solución.</a:t>
            </a:r>
            <a:endParaRPr>
              <a:solidFill>
                <a:schemeClr val="dk1"/>
              </a:solidFill>
            </a:endParaRPr>
          </a:p>
          <a:p>
            <a:pPr indent="0" lvl="0" marL="0" rtl="0" algn="l">
              <a:lnSpc>
                <a:spcPct val="115000"/>
              </a:lnSpc>
              <a:spcBef>
                <a:spcPts val="1200"/>
              </a:spcBef>
              <a:spcAft>
                <a:spcPts val="1200"/>
              </a:spcAft>
              <a:buNone/>
            </a:pPr>
            <a:r>
              <a:rPr lang="es">
                <a:solidFill>
                  <a:schemeClr val="dk1"/>
                </a:solidFill>
              </a:rPr>
              <a:t>Entre las dos, </a:t>
            </a:r>
            <a:r>
              <a:rPr b="1" lang="es">
                <a:solidFill>
                  <a:schemeClr val="dk1"/>
                </a:solidFill>
              </a:rPr>
              <a:t>Manhattan es más informativa</a:t>
            </a:r>
            <a:r>
              <a:rPr lang="es">
                <a:solidFill>
                  <a:schemeClr val="dk1"/>
                </a:solidFill>
              </a:rPr>
              <a:t>, porque no solamente considera si una ficha está mal ubicada, sino también qué tan lejos está de su posición objetivo.</a:t>
            </a:r>
            <a:endParaRPr b="1" sz="13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f3ef457463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f3ef457463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Para el método de búsqueda vamos a utilizar </a:t>
            </a:r>
            <a:r>
              <a:rPr b="1" lang="es">
                <a:solidFill>
                  <a:schemeClr val="dk1"/>
                </a:solidFill>
              </a:rPr>
              <a:t>A*</a:t>
            </a:r>
            <a:r>
              <a:rPr lang="e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A* combina el costo que ya llevamos acumulado con una estimación del costo que falta, mediante f(n)=g(n)+h(n).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En nuestro caso vamos a utilizar </a:t>
            </a:r>
            <a:r>
              <a:rPr b="1" lang="es">
                <a:solidFill>
                  <a:schemeClr val="dk1"/>
                </a:solidFill>
              </a:rPr>
              <a:t>distancia Manhattan</a:t>
            </a:r>
            <a:r>
              <a:rPr lang="es">
                <a:solidFill>
                  <a:schemeClr val="dk1"/>
                </a:solidFill>
              </a:rPr>
              <a:t> como heurística. La elegimos porque es admisible y, además, es bastante informativa: nos permite distinguir entre dos estados que tienen la misma cantidad de fichas fuera de lugar pero en los que las fichas están a diferentes distancias de sus posiciones objetivo.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Al ser la heurística admisible, A* puede garantizar que la solución encontrada sea </a:t>
            </a:r>
            <a:r>
              <a:rPr b="1" lang="es">
                <a:solidFill>
                  <a:schemeClr val="dk1"/>
                </a:solidFill>
              </a:rPr>
              <a:t>óptima</a:t>
            </a:r>
            <a:r>
              <a:rPr lang="es">
                <a:solidFill>
                  <a:schemeClr val="dk1"/>
                </a:solidFill>
              </a:rPr>
              <a:t>, es decir, que tenga la menor cantidad de movimientos.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También podríamos utilizar BFS, ya que todos los movimientos tienen costo uno y BFS encuentra soluciones óptimas. Sin embargo, BFS no utiliza información sobre qué estados parecen estar más cerca de una solución y puede consumir mucha memoria.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DFS tampoco sería conveniente porque no garantiza optimalidad.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IDDFS tiene como ventaja un menor consumo de memoria, pero no aprovecha nuestras heurísticas. Por eso, para este problema, elegimos </a:t>
            </a:r>
            <a:r>
              <a:rPr b="1" lang="es">
                <a:solidFill>
                  <a:schemeClr val="dk1"/>
                </a:solidFill>
              </a:rPr>
              <a:t>A* con Manhattan</a:t>
            </a:r>
            <a:r>
              <a:rPr lang="es">
                <a:solidFill>
                  <a:schemeClr val="dk1"/>
                </a:solidFill>
              </a:rPr>
              <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3ef457463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f3ef457463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f3edfb1bde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f3edfb1bde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85f1fd7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f85f1fd7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f4013e48b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f4013e48b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f85f1fd7c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f85f1fd7c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f85f1fd7c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f85f1fd7c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f85f1fd7c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f85f1fd7c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m</a:t>
            </a:r>
            <a:r>
              <a:rPr lang="es"/>
              <a:t>étodo</a:t>
            </a:r>
            <a:r>
              <a:rPr lang="es"/>
              <a:t> que genera los tableros derivados que se mencionaba antes es derived_boards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f85f1fd7c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f85f1fd7c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f85f1fd7c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f85f1fd7c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f3edfb1bde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f3edfb1bde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f3edfb1bde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f3edfb1bde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a:solidFill>
                  <a:schemeClr val="dk1"/>
                </a:solidFill>
              </a:rPr>
              <a:t>Para DeadSquare: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Como estos cuadrados no cambian durante el juego, se pueden identificar al principio (antes de empezar a jugar):</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s">
                <a:solidFill>
                  <a:schemeClr val="dk1"/>
                </a:solidFill>
              </a:rPr>
              <a:t>En lugar de empujar una caja desde el inicio hasta el objetivo, se hace lo contrario: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Toma un objetivo y coloca una caja ahí.</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"Tira" de la caja hacia todas las direcciones posibles desde el objetivo.</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s">
                <a:solidFill>
                  <a:schemeClr val="dk1"/>
                </a:solidFill>
              </a:rPr>
              <a:t>Todo cuadrado por el que la caja pueda pasar durante este proceso "hacia atrás" se marca como "seguro" o "alcanzable".</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rPr b="1" lang="es"/>
              <a:t>Para Freeze:</a:t>
            </a:r>
            <a:endParaRPr b="1"/>
          </a:p>
          <a:p>
            <a:pPr indent="0" lvl="0" marL="0" rtl="0" algn="l">
              <a:lnSpc>
                <a:spcPct val="115000"/>
              </a:lnSpc>
              <a:spcBef>
                <a:spcPts val="0"/>
              </a:spcBef>
              <a:spcAft>
                <a:spcPts val="0"/>
              </a:spcAft>
              <a:buClr>
                <a:schemeClr val="dk1"/>
              </a:buClr>
              <a:buSzPts val="1100"/>
              <a:buFont typeface="Arial"/>
              <a:buNone/>
            </a:pPr>
            <a:r>
              <a:rPr lang="es">
                <a:solidFill>
                  <a:schemeClr val="dk1"/>
                </a:solidFill>
              </a:rPr>
              <a:t>Detectar esto es más complejo y dinámico, porque depende de las paredes, otros obstáculos y la posición de otras cajas. El programa analiza si una caja puede moverse en el eje horizontal o vertical:</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Se considera que una caja está bloqueada en un eje si:</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Hay una pared a ambos lados (o arriba/abajo).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Hay "dead squares" a ambos lados.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Hay otra caja que también está bloqueada.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Si una caja está al lado de otra, el programa verifica si la segunda caja puede moverse. Si la segunda caja tampoco puede moverse, entonces la primera está bloqueada por ella. Esto se puede convertir en una cadena: la Caja A depende de la Caja B, la Caja B de la C, y la Caja C choca contra una pared. Si toda la cadena está bloqueada, todas esas cajas están "congeladas".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71571fe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f71571fe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f3f699b824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f3f699b824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f3f699b824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f3f699b824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utiliza Jonker-Volgenant para evitar buscar por fuerza bruta, se expanden menos nodos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3f86ddbf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f3f86ddbf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f3f86ddbf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f3f86ddbf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Más rápido, no garantiza que sea óptimo</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f3edfb1bde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f3edfb1bde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f3fd6996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f3fd6996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f8526071f5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f8526071f5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Vamos al </a:t>
            </a:r>
            <a:r>
              <a:rPr lang="es">
                <a:solidFill>
                  <a:srgbClr val="5FB86D"/>
                </a:solidFill>
                <a:latin typeface="Pixelify Sans"/>
                <a:ea typeface="Pixelify Sans"/>
                <a:cs typeface="Pixelify Sans"/>
                <a:sym typeface="Pixelify Sans"/>
              </a:rPr>
              <a:t>Análisis de eficiencia de algoritmos y heurísticas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f400230b63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f400230b63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Peor a mejor</a:t>
            </a:r>
            <a:endParaRPr/>
          </a:p>
          <a:p>
            <a:pPr indent="0" lvl="0" marL="0" rtl="0" algn="l">
              <a:spcBef>
                <a:spcPts val="0"/>
              </a:spcBef>
              <a:spcAft>
                <a:spcPts val="0"/>
              </a:spcAft>
              <a:buNone/>
            </a:pPr>
            <a:r>
              <a:rPr lang="es"/>
              <a:t>DFS -&gt; BFS -&gt; A* -&gt; GREEDY</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f3fd699619_2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f3fd699619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Peor a mejor</a:t>
            </a:r>
            <a:endParaRPr/>
          </a:p>
          <a:p>
            <a:pPr indent="0" lvl="0" marL="0" rtl="0" algn="l">
              <a:spcBef>
                <a:spcPts val="0"/>
              </a:spcBef>
              <a:spcAft>
                <a:spcPts val="0"/>
              </a:spcAft>
              <a:buNone/>
            </a:pPr>
            <a:r>
              <a:rPr lang="es"/>
              <a:t>DFS &gt;&gt;&gt; GREEDY &gt; A* = BFS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f8526071f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f8526071f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Greedy apenas peor costo</a:t>
            </a:r>
            <a:endParaRPr>
              <a:solidFill>
                <a:schemeClr val="dk1"/>
              </a:solidFill>
            </a:endParaRPr>
          </a:p>
          <a:p>
            <a:pPr indent="0" lvl="0" marL="0" rtl="0" algn="l">
              <a:spcBef>
                <a:spcPts val="0"/>
              </a:spcBef>
              <a:spcAft>
                <a:spcPts val="0"/>
              </a:spcAft>
              <a:buNone/>
            </a:pPr>
            <a:r>
              <a:rPr lang="es">
                <a:solidFill>
                  <a:schemeClr val="dk1"/>
                </a:solidFill>
              </a:rPr>
              <a:t>y mucho MÁS RÁPIDO… NO cuando DIFÍCIL</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f8526071f5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f8526071f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nivel TOP más Difícil</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Salvo DFS, están parejos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Greedy es MALO, mejor A*</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f400230b6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f400230b6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Muy similar al anterior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Salvo DFS explota en costo</a:t>
            </a:r>
            <a:endParaRPr>
              <a:solidFill>
                <a:schemeClr val="dk1"/>
              </a:solidFill>
            </a:endParaRPr>
          </a:p>
          <a:p>
            <a:pPr indent="0" lvl="0" marL="0" rtl="0" algn="l">
              <a:spcBef>
                <a:spcPts val="0"/>
              </a:spcBef>
              <a:spcAft>
                <a:spcPts val="0"/>
              </a:spcAft>
              <a:buNone/>
            </a:pPr>
            <a:r>
              <a:rPr lang="es">
                <a:solidFill>
                  <a:schemeClr val="dk1"/>
                </a:solidFill>
              </a:rPr>
              <a:t>Pero no explota en tiempo!</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SzPts val="1100"/>
              <a:buChar char="●"/>
            </a:pPr>
            <a:r>
              <a:rPr lang="es">
                <a:solidFill>
                  <a:schemeClr val="dk1"/>
                </a:solidFill>
              </a:rPr>
              <a:t>No garantiza camino óptimo</a:t>
            </a:r>
            <a:endParaRPr>
              <a:solidFill>
                <a:schemeClr val="dk1"/>
              </a:solidFill>
            </a:endParaRPr>
          </a:p>
          <a:p>
            <a:pPr indent="-298450" lvl="0" marL="457200" rtl="0" algn="l">
              <a:spcBef>
                <a:spcPts val="0"/>
              </a:spcBef>
              <a:spcAft>
                <a:spcPts val="0"/>
              </a:spcAft>
              <a:buClr>
                <a:schemeClr val="dk1"/>
              </a:buClr>
              <a:buSzPts val="1100"/>
              <a:buChar char="●"/>
            </a:pPr>
            <a:r>
              <a:rPr lang="es">
                <a:solidFill>
                  <a:schemeClr val="dk1"/>
                </a:solidFill>
              </a:rPr>
              <a:t>Puede alcanzar soluciones muy profundas</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f8526071f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f8526071f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914400" rtl="0" algn="l">
              <a:lnSpc>
                <a:spcPct val="115000"/>
              </a:lnSpc>
              <a:spcBef>
                <a:spcPts val="1200"/>
              </a:spcBef>
              <a:spcAft>
                <a:spcPts val="1200"/>
              </a:spcAft>
              <a:buNone/>
            </a:pPr>
            <a:r>
              <a:rPr lang="es"/>
              <a:t>Optimización colapso de estados equivalentes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f8526071f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f8526071f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Inicialmente: 1 movimiento por dirección</a:t>
            </a:r>
            <a:endParaRPr/>
          </a:p>
          <a:p>
            <a:pPr indent="0" lvl="0" marL="0" rtl="0" algn="l">
              <a:spcBef>
                <a:spcPts val="0"/>
              </a:spcBef>
              <a:spcAft>
                <a:spcPts val="0"/>
              </a:spcAft>
              <a:buNone/>
            </a:pPr>
            <a:r>
              <a:rPr lang="es"/>
              <a:t>Colapso de estados: 1 movimiento por </a:t>
            </a:r>
            <a:r>
              <a:rPr lang="es"/>
              <a:t>dirección</a:t>
            </a:r>
            <a:r>
              <a:rPr lang="es"/>
              <a:t> de caja movible</a:t>
            </a:r>
            <a:endParaRPr/>
          </a:p>
          <a:p>
            <a:pPr indent="0" lvl="0" marL="0" rtl="0" algn="l">
              <a:spcBef>
                <a:spcPts val="0"/>
              </a:spcBef>
              <a:spcAft>
                <a:spcPts val="0"/>
              </a:spcAft>
              <a:buNone/>
            </a:pPr>
            <a:r>
              <a:rPr b="1" lang="es"/>
              <a:t>USA BFS</a:t>
            </a:r>
            <a:endParaRPr b="1"/>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3fd699619_2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f3fd699619_2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Peor a mejor: DFS &gt; BFS &gt; A* &gt; GREEDY</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s"/>
              <a:t>BFS empeora</a:t>
            </a:r>
            <a:endParaRPr/>
          </a:p>
          <a:p>
            <a:pPr indent="-298450" lvl="0" marL="457200" rtl="0" algn="l">
              <a:spcBef>
                <a:spcPts val="0"/>
              </a:spcBef>
              <a:spcAft>
                <a:spcPts val="0"/>
              </a:spcAft>
              <a:buSzPts val="1100"/>
              <a:buChar char="●"/>
            </a:pPr>
            <a:r>
              <a:rPr lang="es"/>
              <a:t>El resto mejora</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s"/>
              <a:t>Original: (56 niveles)</a:t>
            </a:r>
            <a:endParaRPr/>
          </a:p>
          <a:p>
            <a:pPr indent="0" lvl="0" marL="0" rtl="0" algn="l">
              <a:spcBef>
                <a:spcPts val="0"/>
              </a:spcBef>
              <a:spcAft>
                <a:spcPts val="0"/>
              </a:spcAft>
              <a:buClr>
                <a:schemeClr val="dk1"/>
              </a:buClr>
              <a:buSzPts val="1100"/>
              <a:buFont typeface="Arial"/>
              <a:buNone/>
            </a:pPr>
            <a:r>
              <a:rPr lang="es"/>
              <a:t>Costo: 672.887</a:t>
            </a:r>
            <a:endParaRPr/>
          </a:p>
          <a:p>
            <a:pPr indent="0" lvl="0" marL="0" rtl="0" algn="l">
              <a:spcBef>
                <a:spcPts val="0"/>
              </a:spcBef>
              <a:spcAft>
                <a:spcPts val="0"/>
              </a:spcAft>
              <a:buClr>
                <a:schemeClr val="dk1"/>
              </a:buClr>
              <a:buSzPts val="1100"/>
              <a:buFont typeface="Arial"/>
              <a:buNone/>
            </a:pPr>
            <a:r>
              <a:rPr lang="es"/>
              <a:t>Tiempo: </a:t>
            </a:r>
            <a:r>
              <a:rPr b="1" lang="es"/>
              <a:t>16h</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Collapsed:</a:t>
            </a:r>
            <a:endParaRPr/>
          </a:p>
          <a:p>
            <a:pPr indent="0" lvl="0" marL="0" rtl="0" algn="l">
              <a:spcBef>
                <a:spcPts val="0"/>
              </a:spcBef>
              <a:spcAft>
                <a:spcPts val="0"/>
              </a:spcAft>
              <a:buClr>
                <a:schemeClr val="dk1"/>
              </a:buClr>
              <a:buSzPts val="1100"/>
              <a:buFont typeface="Arial"/>
              <a:buNone/>
            </a:pPr>
            <a:r>
              <a:rPr lang="es"/>
              <a:t>Costo: 675.124</a:t>
            </a:r>
            <a:endParaRPr/>
          </a:p>
          <a:p>
            <a:pPr indent="0" lvl="0" marL="0" rtl="0" algn="l">
              <a:spcBef>
                <a:spcPts val="0"/>
              </a:spcBef>
              <a:spcAft>
                <a:spcPts val="0"/>
              </a:spcAft>
              <a:buClr>
                <a:schemeClr val="dk1"/>
              </a:buClr>
              <a:buSzPts val="1100"/>
              <a:buFont typeface="Arial"/>
              <a:buNone/>
            </a:pPr>
            <a:r>
              <a:rPr lang="es"/>
              <a:t>Tiempo: </a:t>
            </a:r>
            <a:r>
              <a:rPr b="1" lang="es"/>
              <a:t>12,5h</a:t>
            </a:r>
            <a:endParaRPr b="1"/>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f3fd699619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f3fd699619_2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HEAT MAP</a:t>
            </a:r>
            <a:endParaRPr/>
          </a:p>
          <a:p>
            <a:pPr indent="0" lvl="0" marL="0" rtl="0" algn="l">
              <a:spcBef>
                <a:spcPts val="0"/>
              </a:spcBef>
              <a:spcAft>
                <a:spcPts val="0"/>
              </a:spcAft>
              <a:buNone/>
            </a:pPr>
            <a:r>
              <a:rPr lang="es"/>
              <a:t>Pasamos de Lista Curada 56 =&gt; 102</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Queríamos</a:t>
            </a:r>
            <a:r>
              <a:rPr lang="es"/>
              <a:t> ahorrar RAM. (pero no)</a:t>
            </a:r>
            <a:endParaRPr/>
          </a:p>
          <a:p>
            <a:pPr indent="0" lvl="0" marL="0" rtl="0" algn="l">
              <a:spcBef>
                <a:spcPts val="0"/>
              </a:spcBef>
              <a:spcAft>
                <a:spcPts val="0"/>
              </a:spcAft>
              <a:buNone/>
            </a:pPr>
            <a:r>
              <a:rPr lang="es"/>
              <a:t>Ambos fallan 446 combinaciones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Se puede observar:</a:t>
            </a:r>
            <a:endParaRPr/>
          </a:p>
          <a:p>
            <a:pPr indent="-298450" lvl="0" marL="457200" rtl="0" algn="l">
              <a:spcBef>
                <a:spcPts val="0"/>
              </a:spcBef>
              <a:spcAft>
                <a:spcPts val="0"/>
              </a:spcAft>
              <a:buSzPts val="1100"/>
              <a:buChar char="●"/>
            </a:pPr>
            <a:r>
              <a:rPr lang="es"/>
              <a:t>DFS tiene peor costo</a:t>
            </a:r>
            <a:endParaRPr/>
          </a:p>
          <a:p>
            <a:pPr indent="-298450" lvl="0" marL="457200" rtl="0" algn="l">
              <a:spcBef>
                <a:spcPts val="0"/>
              </a:spcBef>
              <a:spcAft>
                <a:spcPts val="0"/>
              </a:spcAft>
              <a:buSzPts val="1100"/>
              <a:buChar char="●"/>
            </a:pPr>
            <a:r>
              <a:rPr lang="es"/>
              <a:t>Greedy y A* logran resolver niveles que otros no.</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f3fd699619_2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f3fd699619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f8526071f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f8526071f5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8526071f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f8526071f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f8526071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f8526071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EFB: N + 1 = 1 + b* + (b*)² + (b*)³ + … + (b*)^d</a:t>
            </a:r>
            <a:endParaRPr/>
          </a:p>
          <a:p>
            <a:pPr indent="0" lvl="0" marL="0" rtl="0" algn="l">
              <a:spcBef>
                <a:spcPts val="0"/>
              </a:spcBef>
              <a:spcAft>
                <a:spcPts val="0"/>
              </a:spcAft>
              <a:buNone/>
            </a:pPr>
            <a:r>
              <a:rPr lang="es">
                <a:solidFill>
                  <a:schemeClr val="dk1"/>
                </a:solidFill>
              </a:rPr>
              <a:t>El </a:t>
            </a:r>
            <a:r>
              <a:rPr b="1" lang="es">
                <a:solidFill>
                  <a:schemeClr val="dk1"/>
                </a:solidFill>
              </a:rPr>
              <a:t>factor de ramificación efectivo</a:t>
            </a:r>
            <a:r>
              <a:rPr lang="es">
                <a:solidFill>
                  <a:schemeClr val="dk1"/>
                </a:solidFill>
              </a:rPr>
              <a:t> ($b^*$) te dice cuál sería el número de hijos por nodo si el espacio de búsqueda fuera un árbol uniforme perfectamente estructurado.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Ayuda a ver que tan complejo es un problema, cuan rapido crece el espacio de estasdos a medida que avanzamos en la profundidad del arbol</a:t>
            </a:r>
            <a:endParaRPr>
              <a:solidFill>
                <a:schemeClr val="dk1"/>
              </a:solidFill>
            </a:endParaRPr>
          </a:p>
          <a:p>
            <a:pPr indent="0" lvl="0" marL="0" rtl="0" algn="l">
              <a:spcBef>
                <a:spcPts val="0"/>
              </a:spcBef>
              <a:spcAft>
                <a:spcPts val="0"/>
              </a:spcAft>
              <a:buNone/>
            </a:pPr>
            <a:r>
              <a:rPr lang="es">
                <a:solidFill>
                  <a:schemeClr val="dk1"/>
                </a:solidFill>
              </a:rPr>
              <a:t>Evalua la eficacia de heuristicas</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f8526071f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3f8526071f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t>Los puntos dispersos hacia arriba muestran cómo el espacio de estados explota exponencialmente en mapas grandes o complejos, haciéndolo ineficiente para instancias profundas.</a:t>
            </a:r>
            <a:endParaRPr/>
          </a:p>
          <a:p>
            <a:pPr indent="0" lvl="0" marL="0" rtl="0" algn="l">
              <a:spcBef>
                <a:spcPts val="120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f8526071f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f8526071f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f8526071f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f8526071f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f8526071f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f8526071f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En resumen, un $b^*$ cercano a $1$ en DFS </a:t>
            </a:r>
            <a:r>
              <a:rPr b="1" lang="es">
                <a:solidFill>
                  <a:schemeClr val="dk1"/>
                </a:solidFill>
              </a:rPr>
              <a:t>no significa que sea el algoritmo más eficiente o inteligente</a:t>
            </a:r>
            <a:r>
              <a:rPr lang="es">
                <a:solidFill>
                  <a:schemeClr val="dk1"/>
                </a:solidFill>
              </a:rPr>
              <a:t>, sino que es un artefacto de la fórmula matemática: al dividir un número modesto de nodos explotados ($N$) entre una profundidad de solución masiva ($d$), el factor de ramificación efectivo converge cuantitativamente a $1$.</a:t>
            </a:r>
            <a:br>
              <a:rPr lang="es">
                <a:solidFill>
                  <a:schemeClr val="dk1"/>
                </a:solidFill>
              </a:rPr>
            </a:br>
            <a:br>
              <a:rPr lang="es">
                <a:solidFill>
                  <a:schemeClr val="dk1"/>
                </a:solidFill>
              </a:rPr>
            </a:br>
            <a:r>
              <a:rPr b="1" lang="es">
                <a:solidFill>
                  <a:schemeClr val="dk1"/>
                </a:solidFill>
              </a:rPr>
              <a:t>se pierde en la profundidad</a:t>
            </a:r>
            <a:r>
              <a:rPr lang="es">
                <a:solidFill>
                  <a:schemeClr val="dk1"/>
                </a:solidFill>
              </a:rPr>
              <a:t> (DFS: bajo $b^*$, pero soluciones larguísimas y no óptimas)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f3fd69961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f3fd69961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f3fd699619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3f3fd699619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Hacen casi lo mismo, solo que EBF </a:t>
            </a:r>
            <a:r>
              <a:rPr lang="es"/>
              <a:t>está</a:t>
            </a:r>
            <a:r>
              <a:rPr lang="es"/>
              <a:t> normalizado y elimina el impacto de la profundidad</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expanded/solution sirve para saber si se va a quedar sin RAM, y este metodo se acerca mucho mas para medir la dificultad “humana”</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Hay 9000 factores a tener en cuenta, esto es algo puramente especulativo y faltan banda de variables, por ejemplo</a:t>
            </a:r>
            <a:endParaRPr/>
          </a:p>
          <a:p>
            <a:pPr indent="-298450" lvl="0" marL="457200" rtl="0" algn="l">
              <a:spcBef>
                <a:spcPts val="0"/>
              </a:spcBef>
              <a:spcAft>
                <a:spcPts val="0"/>
              </a:spcAft>
              <a:buSzPts val="1100"/>
              <a:buChar char="-"/>
            </a:pPr>
            <a:r>
              <a:rPr b="1" lang="es"/>
              <a:t>Metrica estilo Ajedrez</a:t>
            </a:r>
            <a:r>
              <a:rPr lang="es"/>
              <a:t>: cuantos movimientos ve en el futuro un humano</a:t>
            </a:r>
            <a:endParaRPr/>
          </a:p>
          <a:p>
            <a:pPr indent="-298450" lvl="0" marL="457200" rtl="0" algn="l">
              <a:spcBef>
                <a:spcPts val="0"/>
              </a:spcBef>
              <a:spcAft>
                <a:spcPts val="0"/>
              </a:spcAft>
              <a:buSzPts val="1100"/>
              <a:buChar char="-"/>
            </a:pPr>
            <a:r>
              <a:rPr b="1" lang="es"/>
              <a:t>Carga cognitiva</a:t>
            </a:r>
            <a:r>
              <a:rPr lang="es"/>
              <a:t>: Cuantos elementos debe retener el usuario en su memoria</a:t>
            </a:r>
            <a:endParaRPr/>
          </a:p>
          <a:p>
            <a:pPr indent="-298450" lvl="0" marL="457200" rtl="0" algn="l">
              <a:spcBef>
                <a:spcPts val="0"/>
              </a:spcBef>
              <a:spcAft>
                <a:spcPts val="0"/>
              </a:spcAft>
              <a:buSzPts val="1100"/>
              <a:buChar char="-"/>
            </a:pPr>
            <a:r>
              <a:rPr b="1" lang="es"/>
              <a:t>Tasa de error/resolución</a:t>
            </a:r>
            <a:r>
              <a:rPr lang="es"/>
              <a:t>: Cuanto tarda un grupo de personas promedio</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f3fd699619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f3fd699619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s">
                <a:solidFill>
                  <a:schemeClr val="dk1"/>
                </a:solidFill>
              </a:rPr>
              <a:t>Alta densidad de cajas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El problema: Gran cantidad de cajas concentradas en espacios muy reducidos.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Consecuencias en el solver: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Cero independencia: Mover una caja afecta de inmediato y de forma drástica al resto.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Explosión combinatoria en la memoria RAM al intentar permutar posiciones locales.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El fallo del Algorítmo Húngaro: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El algoritmo húngaro asume asignaciones lineales de costo mínimo ideales.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Subestima groseramente el costo real</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Aquí fracasa rotundamente porque el camino óptimo para despejar una caja suele requerir desvíos, retrocesos o bloqueos temporales que destruyen por completo cualquier cálculo de distancia estático o b7 (las restricciones geométricas superan la matemática de asignación pura).</a:t>
            </a:r>
            <a:endParaRPr>
              <a:solidFill>
                <a:schemeClr val="dk1"/>
              </a:solidFill>
            </a:endParaRPr>
          </a:p>
          <a:p>
            <a:pPr indent="0" lvl="0" marL="0" rtl="0" algn="l">
              <a:lnSpc>
                <a:spcPct val="115000"/>
              </a:lnSpc>
              <a:spcBef>
                <a:spcPts val="1200"/>
              </a:spcBef>
              <a:spcAft>
                <a:spcPts val="0"/>
              </a:spcAft>
              <a:buNone/>
            </a:pPr>
            <a:r>
              <a:rPr b="1" lang="es">
                <a:solidFill>
                  <a:schemeClr val="dk1"/>
                </a:solidFill>
              </a:rPr>
              <a:t>Bloqueos estructurales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Definición del peligro: Niveles diseñados con "cuellos de botella" o divisiones en zonas (corrales).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El impacto computacional:</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Corral Deadlocks: Si una caja o el propio jugador cruzan una puerta crítica de forma incorrecta, aíslan una sección entera del mapa convirtiéndola en un callejón sin salida matemático.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s">
                <a:solidFill>
                  <a:schemeClr val="dk1"/>
                </a:solidFill>
              </a:rPr>
              <a:t>Efecto</a:t>
            </a:r>
            <a:r>
              <a:rPr i="1" lang="es">
                <a:solidFill>
                  <a:schemeClr val="dk1"/>
                </a:solidFill>
              </a:rPr>
              <a:t>:</a:t>
            </a:r>
            <a:r>
              <a:rPr lang="es">
                <a:solidFill>
                  <a:schemeClr val="dk1"/>
                </a:solidFill>
              </a:rPr>
              <a:t> Los solvers gastan millones de estados explorando sub-árboles enteros que ya son lógicamente insalvables antes de detectar el error.</a:t>
            </a:r>
            <a:endParaRPr>
              <a:solidFill>
                <a:schemeClr val="dk1"/>
              </a:solidFill>
            </a:endParaRPr>
          </a:p>
          <a:p>
            <a:pPr indent="0" lvl="0" marL="0" rtl="0" algn="l">
              <a:lnSpc>
                <a:spcPct val="115000"/>
              </a:lnSpc>
              <a:spcBef>
                <a:spcPts val="1200"/>
              </a:spcBef>
              <a:spcAft>
                <a:spcPts val="0"/>
              </a:spcAft>
              <a:buNone/>
            </a:pPr>
            <a:r>
              <a:rPr b="1" lang="es">
                <a:solidFill>
                  <a:schemeClr val="dk1"/>
                </a:solidFill>
              </a:rPr>
              <a:t>Patrones repetitivos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Generan un factor de ramificación masivo.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El solver pierde una enorme cantidad de memoria explorando permutaciones de movimientos funcionalmente idénticas (ej. mover la caja A a la derecha y la B a la izquierda, o viceversa).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Exige la implementación obligatoria de técnicas avanzadas de poda por simetrías para evitar el colapso del sistema</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B_TITLE">
  <p:cSld name="SB_TITLE">
    <p:bg>
      <p:bgPr>
        <a:solidFill>
          <a:srgbClr val="1B1B2F"/>
        </a:solidFill>
      </p:bgPr>
    </p:bg>
    <p:spTree>
      <p:nvGrpSpPr>
        <p:cNvPr id="6" name="Shape 6"/>
        <p:cNvGrpSpPr/>
        <p:nvPr/>
      </p:nvGrpSpPr>
      <p:grpSpPr>
        <a:xfrm>
          <a:off x="0" y="0"/>
          <a:ext cx="0" cy="0"/>
          <a:chOff x="0" y="0"/>
          <a:chExt cx="0" cy="0"/>
        </a:xfrm>
      </p:grpSpPr>
      <p:sp>
        <p:nvSpPr>
          <p:cNvPr id="7" name="Google Shape;7;p2"/>
          <p:cNvSpPr/>
          <p:nvPr/>
        </p:nvSpPr>
        <p:spPr>
          <a:xfrm>
            <a:off x="0"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 name="Google Shape;8;p2"/>
          <p:cNvSpPr/>
          <p:nvPr/>
        </p:nvSpPr>
        <p:spPr>
          <a:xfrm>
            <a:off x="192024"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 name="Google Shape;9;p2"/>
          <p:cNvSpPr/>
          <p:nvPr/>
        </p:nvSpPr>
        <p:spPr>
          <a:xfrm>
            <a:off x="384048"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 name="Google Shape;10;p2"/>
          <p:cNvSpPr/>
          <p:nvPr/>
        </p:nvSpPr>
        <p:spPr>
          <a:xfrm>
            <a:off x="576072"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 name="Google Shape;11;p2"/>
          <p:cNvSpPr/>
          <p:nvPr/>
        </p:nvSpPr>
        <p:spPr>
          <a:xfrm>
            <a:off x="768096"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 name="Google Shape;12;p2"/>
          <p:cNvSpPr/>
          <p:nvPr/>
        </p:nvSpPr>
        <p:spPr>
          <a:xfrm>
            <a:off x="960120"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 name="Google Shape;13;p2"/>
          <p:cNvSpPr/>
          <p:nvPr/>
        </p:nvSpPr>
        <p:spPr>
          <a:xfrm>
            <a:off x="1152144"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 name="Google Shape;14;p2"/>
          <p:cNvSpPr/>
          <p:nvPr/>
        </p:nvSpPr>
        <p:spPr>
          <a:xfrm>
            <a:off x="1344168"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 name="Google Shape;15;p2"/>
          <p:cNvSpPr/>
          <p:nvPr/>
        </p:nvSpPr>
        <p:spPr>
          <a:xfrm>
            <a:off x="0"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 name="Google Shape;16;p2"/>
          <p:cNvSpPr/>
          <p:nvPr/>
        </p:nvSpPr>
        <p:spPr>
          <a:xfrm>
            <a:off x="192024"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 name="Google Shape;17;p2"/>
          <p:cNvSpPr/>
          <p:nvPr/>
        </p:nvSpPr>
        <p:spPr>
          <a:xfrm>
            <a:off x="384048"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 name="Google Shape;18;p2"/>
          <p:cNvSpPr/>
          <p:nvPr/>
        </p:nvSpPr>
        <p:spPr>
          <a:xfrm>
            <a:off x="576072"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 name="Google Shape;19;p2"/>
          <p:cNvSpPr/>
          <p:nvPr/>
        </p:nvSpPr>
        <p:spPr>
          <a:xfrm>
            <a:off x="768096"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 name="Google Shape;20;p2"/>
          <p:cNvSpPr/>
          <p:nvPr/>
        </p:nvSpPr>
        <p:spPr>
          <a:xfrm>
            <a:off x="960120"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 name="Google Shape;21;p2"/>
          <p:cNvSpPr/>
          <p:nvPr/>
        </p:nvSpPr>
        <p:spPr>
          <a:xfrm>
            <a:off x="1152144"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 name="Google Shape;22;p2"/>
          <p:cNvSpPr/>
          <p:nvPr/>
        </p:nvSpPr>
        <p:spPr>
          <a:xfrm>
            <a:off x="1344168"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 name="Google Shape;23;p2"/>
          <p:cNvSpPr/>
          <p:nvPr/>
        </p:nvSpPr>
        <p:spPr>
          <a:xfrm>
            <a:off x="0"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 name="Google Shape;24;p2"/>
          <p:cNvSpPr/>
          <p:nvPr/>
        </p:nvSpPr>
        <p:spPr>
          <a:xfrm>
            <a:off x="192024"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 name="Google Shape;25;p2"/>
          <p:cNvSpPr/>
          <p:nvPr/>
        </p:nvSpPr>
        <p:spPr>
          <a:xfrm>
            <a:off x="384048"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 name="Google Shape;26;p2"/>
          <p:cNvSpPr/>
          <p:nvPr/>
        </p:nvSpPr>
        <p:spPr>
          <a:xfrm>
            <a:off x="576072"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 name="Google Shape;27;p2"/>
          <p:cNvSpPr/>
          <p:nvPr/>
        </p:nvSpPr>
        <p:spPr>
          <a:xfrm>
            <a:off x="768096"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 name="Google Shape;28;p2"/>
          <p:cNvSpPr/>
          <p:nvPr/>
        </p:nvSpPr>
        <p:spPr>
          <a:xfrm>
            <a:off x="960120"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 name="Google Shape;29;p2"/>
          <p:cNvSpPr/>
          <p:nvPr/>
        </p:nvSpPr>
        <p:spPr>
          <a:xfrm>
            <a:off x="1152144"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 name="Google Shape;30;p2"/>
          <p:cNvSpPr/>
          <p:nvPr/>
        </p:nvSpPr>
        <p:spPr>
          <a:xfrm>
            <a:off x="1344168"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 name="Google Shape;31;p2"/>
          <p:cNvSpPr/>
          <p:nvPr/>
        </p:nvSpPr>
        <p:spPr>
          <a:xfrm>
            <a:off x="0" y="456742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 name="Google Shape;32;p2"/>
          <p:cNvSpPr/>
          <p:nvPr/>
        </p:nvSpPr>
        <p:spPr>
          <a:xfrm>
            <a:off x="192024" y="456742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 name="Google Shape;33;p2"/>
          <p:cNvSpPr/>
          <p:nvPr/>
        </p:nvSpPr>
        <p:spPr>
          <a:xfrm>
            <a:off x="384048" y="456742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 name="Google Shape;34;p2"/>
          <p:cNvSpPr/>
          <p:nvPr/>
        </p:nvSpPr>
        <p:spPr>
          <a:xfrm>
            <a:off x="576072" y="456742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 name="Google Shape;35;p2"/>
          <p:cNvSpPr/>
          <p:nvPr/>
        </p:nvSpPr>
        <p:spPr>
          <a:xfrm>
            <a:off x="768096" y="456742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 name="Google Shape;36;p2"/>
          <p:cNvSpPr/>
          <p:nvPr/>
        </p:nvSpPr>
        <p:spPr>
          <a:xfrm>
            <a:off x="960120" y="456742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 name="Google Shape;37;p2"/>
          <p:cNvSpPr/>
          <p:nvPr/>
        </p:nvSpPr>
        <p:spPr>
          <a:xfrm>
            <a:off x="1152144" y="456742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 name="Google Shape;38;p2"/>
          <p:cNvSpPr/>
          <p:nvPr/>
        </p:nvSpPr>
        <p:spPr>
          <a:xfrm>
            <a:off x="1344168" y="456742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 name="Google Shape;39;p2"/>
          <p:cNvSpPr/>
          <p:nvPr/>
        </p:nvSpPr>
        <p:spPr>
          <a:xfrm>
            <a:off x="0" y="4759452"/>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 name="Google Shape;40;p2"/>
          <p:cNvSpPr/>
          <p:nvPr/>
        </p:nvSpPr>
        <p:spPr>
          <a:xfrm>
            <a:off x="192024" y="4759452"/>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 name="Google Shape;41;p2"/>
          <p:cNvSpPr/>
          <p:nvPr/>
        </p:nvSpPr>
        <p:spPr>
          <a:xfrm>
            <a:off x="384048" y="4759452"/>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 name="Google Shape;42;p2"/>
          <p:cNvSpPr/>
          <p:nvPr/>
        </p:nvSpPr>
        <p:spPr>
          <a:xfrm>
            <a:off x="576072" y="4759452"/>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 name="Google Shape;43;p2"/>
          <p:cNvSpPr/>
          <p:nvPr/>
        </p:nvSpPr>
        <p:spPr>
          <a:xfrm>
            <a:off x="768096" y="4759452"/>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 name="Google Shape;44;p2"/>
          <p:cNvSpPr/>
          <p:nvPr/>
        </p:nvSpPr>
        <p:spPr>
          <a:xfrm>
            <a:off x="960120" y="4759452"/>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 name="Google Shape;45;p2"/>
          <p:cNvSpPr/>
          <p:nvPr/>
        </p:nvSpPr>
        <p:spPr>
          <a:xfrm>
            <a:off x="1152144" y="4759452"/>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 name="Google Shape;46;p2"/>
          <p:cNvSpPr/>
          <p:nvPr/>
        </p:nvSpPr>
        <p:spPr>
          <a:xfrm>
            <a:off x="1344168" y="4759452"/>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 name="Google Shape;47;p2"/>
          <p:cNvSpPr/>
          <p:nvPr/>
        </p:nvSpPr>
        <p:spPr>
          <a:xfrm>
            <a:off x="0"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 name="Google Shape;48;p2"/>
          <p:cNvSpPr/>
          <p:nvPr/>
        </p:nvSpPr>
        <p:spPr>
          <a:xfrm>
            <a:off x="192024"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 name="Google Shape;49;p2"/>
          <p:cNvSpPr/>
          <p:nvPr/>
        </p:nvSpPr>
        <p:spPr>
          <a:xfrm>
            <a:off x="384048"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 name="Google Shape;50;p2"/>
          <p:cNvSpPr/>
          <p:nvPr/>
        </p:nvSpPr>
        <p:spPr>
          <a:xfrm>
            <a:off x="576072"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 name="Google Shape;51;p2"/>
          <p:cNvSpPr/>
          <p:nvPr/>
        </p:nvSpPr>
        <p:spPr>
          <a:xfrm>
            <a:off x="768096"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 name="Google Shape;52;p2"/>
          <p:cNvSpPr/>
          <p:nvPr/>
        </p:nvSpPr>
        <p:spPr>
          <a:xfrm>
            <a:off x="960120"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 name="Google Shape;53;p2"/>
          <p:cNvSpPr/>
          <p:nvPr/>
        </p:nvSpPr>
        <p:spPr>
          <a:xfrm>
            <a:off x="1152144"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 name="Google Shape;54;p2"/>
          <p:cNvSpPr/>
          <p:nvPr/>
        </p:nvSpPr>
        <p:spPr>
          <a:xfrm>
            <a:off x="1344168"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 name="Google Shape;55;p2"/>
          <p:cNvSpPr/>
          <p:nvPr/>
        </p:nvSpPr>
        <p:spPr>
          <a:xfrm>
            <a:off x="240030" y="240030"/>
            <a:ext cx="342900" cy="618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 name="Google Shape;56;p2"/>
          <p:cNvSpPr/>
          <p:nvPr/>
        </p:nvSpPr>
        <p:spPr>
          <a:xfrm>
            <a:off x="178308" y="240030"/>
            <a:ext cx="61800" cy="3429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 name="Google Shape;57;p2"/>
          <p:cNvSpPr/>
          <p:nvPr/>
        </p:nvSpPr>
        <p:spPr>
          <a:xfrm>
            <a:off x="8558784" y="240030"/>
            <a:ext cx="342900" cy="618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2"/>
          <p:cNvSpPr/>
          <p:nvPr/>
        </p:nvSpPr>
        <p:spPr>
          <a:xfrm>
            <a:off x="8901684" y="240030"/>
            <a:ext cx="61800" cy="3429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2"/>
          <p:cNvSpPr/>
          <p:nvPr/>
        </p:nvSpPr>
        <p:spPr>
          <a:xfrm>
            <a:off x="240030" y="4841748"/>
            <a:ext cx="342900" cy="618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 name="Google Shape;60;p2"/>
          <p:cNvSpPr/>
          <p:nvPr/>
        </p:nvSpPr>
        <p:spPr>
          <a:xfrm>
            <a:off x="178308" y="4560570"/>
            <a:ext cx="61800" cy="3429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 name="Google Shape;61;p2"/>
          <p:cNvSpPr/>
          <p:nvPr/>
        </p:nvSpPr>
        <p:spPr>
          <a:xfrm>
            <a:off x="8558784" y="4841748"/>
            <a:ext cx="342900" cy="618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 name="Google Shape;62;p2"/>
          <p:cNvSpPr/>
          <p:nvPr/>
        </p:nvSpPr>
        <p:spPr>
          <a:xfrm>
            <a:off x="8901684" y="4560570"/>
            <a:ext cx="61800" cy="3429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2"/>
          <p:cNvSpPr/>
          <p:nvPr/>
        </p:nvSpPr>
        <p:spPr>
          <a:xfrm>
            <a:off x="3953637" y="514350"/>
            <a:ext cx="1234500" cy="12345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 name="Google Shape;64;p2"/>
          <p:cNvSpPr/>
          <p:nvPr/>
        </p:nvSpPr>
        <p:spPr>
          <a:xfrm>
            <a:off x="4052393" y="613106"/>
            <a:ext cx="1036800" cy="10368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 name="Google Shape;65;p2"/>
          <p:cNvSpPr/>
          <p:nvPr/>
        </p:nvSpPr>
        <p:spPr>
          <a:xfrm rot="2700000">
            <a:off x="4501788" y="588463"/>
            <a:ext cx="138310" cy="1086116"/>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 name="Google Shape;66;p2"/>
          <p:cNvSpPr/>
          <p:nvPr/>
        </p:nvSpPr>
        <p:spPr>
          <a:xfrm rot="-2700000">
            <a:off x="4501653" y="588426"/>
            <a:ext cx="138310" cy="1086116"/>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 name="Google Shape;67;p2"/>
          <p:cNvSpPr/>
          <p:nvPr/>
        </p:nvSpPr>
        <p:spPr>
          <a:xfrm>
            <a:off x="4089425" y="650138"/>
            <a:ext cx="135900" cy="1359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 name="Google Shape;68;p2"/>
          <p:cNvSpPr/>
          <p:nvPr/>
        </p:nvSpPr>
        <p:spPr>
          <a:xfrm>
            <a:off x="4916501" y="650138"/>
            <a:ext cx="135900" cy="1359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 name="Google Shape;69;p2"/>
          <p:cNvSpPr/>
          <p:nvPr/>
        </p:nvSpPr>
        <p:spPr>
          <a:xfrm>
            <a:off x="4089425" y="1477214"/>
            <a:ext cx="135900" cy="1359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2"/>
          <p:cNvSpPr/>
          <p:nvPr/>
        </p:nvSpPr>
        <p:spPr>
          <a:xfrm>
            <a:off x="4916501" y="1477214"/>
            <a:ext cx="135900" cy="1359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 name="Google Shape;71;p2"/>
          <p:cNvSpPr txBox="1"/>
          <p:nvPr>
            <p:ph type="title"/>
          </p:nvPr>
        </p:nvSpPr>
        <p:spPr>
          <a:xfrm>
            <a:off x="685800" y="2434590"/>
            <a:ext cx="7770000" cy="8916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Clr>
                <a:srgbClr val="F4E9D8"/>
              </a:buClr>
              <a:buSzPts val="3300"/>
              <a:buFont typeface="Courier New"/>
              <a:buNone/>
              <a:defRPr b="1" i="0" sz="3300" u="none" cap="none" strike="noStrike">
                <a:solidFill>
                  <a:srgbClr val="F4E9D8"/>
                </a:solidFill>
                <a:latin typeface="Courier New"/>
                <a:ea typeface="Courier New"/>
                <a:cs typeface="Courier New"/>
                <a:sym typeface="Courier New"/>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2" name="Google Shape;72;p2"/>
          <p:cNvSpPr txBox="1"/>
          <p:nvPr>
            <p:ph idx="1" type="body"/>
          </p:nvPr>
        </p:nvSpPr>
        <p:spPr>
          <a:xfrm>
            <a:off x="1028700" y="3326130"/>
            <a:ext cx="7084200" cy="411600"/>
          </a:xfrm>
          <a:prstGeom prst="rect">
            <a:avLst/>
          </a:prstGeom>
          <a:noFill/>
          <a:ln>
            <a:noFill/>
          </a:ln>
        </p:spPr>
        <p:txBody>
          <a:bodyPr anchorCtr="0" anchor="t" bIns="34275" lIns="68575" spcFirstLastPara="1" rIns="68575" wrap="square" tIns="34275">
            <a:noAutofit/>
          </a:bodyPr>
          <a:lstStyle>
            <a:lvl1pPr indent="-228600" lvl="0" marL="457200" marR="0" rtl="0" algn="ctr">
              <a:spcBef>
                <a:spcPts val="200"/>
              </a:spcBef>
              <a:spcAft>
                <a:spcPts val="0"/>
              </a:spcAft>
              <a:buClr>
                <a:srgbClr val="5FB86D"/>
              </a:buClr>
              <a:buSzPts val="1200"/>
              <a:buFont typeface="Arial"/>
              <a:buNone/>
              <a:defRPr b="0" i="0" sz="1200" u="none" cap="none" strike="noStrike">
                <a:solidFill>
                  <a:srgbClr val="5FB86D"/>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B_SECTION">
  <p:cSld name="SB_SECTION">
    <p:bg>
      <p:bgPr>
        <a:solidFill>
          <a:srgbClr val="1B1B2F"/>
        </a:solidFill>
      </p:bgPr>
    </p:bg>
    <p:spTree>
      <p:nvGrpSpPr>
        <p:cNvPr id="73" name="Shape 73"/>
        <p:cNvGrpSpPr/>
        <p:nvPr/>
      </p:nvGrpSpPr>
      <p:grpSpPr>
        <a:xfrm>
          <a:off x="0" y="0"/>
          <a:ext cx="0" cy="0"/>
          <a:chOff x="0" y="0"/>
          <a:chExt cx="0" cy="0"/>
        </a:xfrm>
      </p:grpSpPr>
      <p:sp>
        <p:nvSpPr>
          <p:cNvPr id="74" name="Google Shape;74;p3"/>
          <p:cNvSpPr/>
          <p:nvPr/>
        </p:nvSpPr>
        <p:spPr>
          <a:xfrm>
            <a:off x="240030" y="240030"/>
            <a:ext cx="342900" cy="61800"/>
          </a:xfrm>
          <a:prstGeom prst="rect">
            <a:avLst/>
          </a:prstGeom>
          <a:solidFill>
            <a:srgbClr val="4A4E6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 name="Google Shape;75;p3"/>
          <p:cNvSpPr/>
          <p:nvPr/>
        </p:nvSpPr>
        <p:spPr>
          <a:xfrm>
            <a:off x="178308" y="240030"/>
            <a:ext cx="61800" cy="342900"/>
          </a:xfrm>
          <a:prstGeom prst="rect">
            <a:avLst/>
          </a:prstGeom>
          <a:solidFill>
            <a:srgbClr val="4A4E6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3"/>
          <p:cNvSpPr/>
          <p:nvPr/>
        </p:nvSpPr>
        <p:spPr>
          <a:xfrm>
            <a:off x="8558784" y="240030"/>
            <a:ext cx="342900" cy="61800"/>
          </a:xfrm>
          <a:prstGeom prst="rect">
            <a:avLst/>
          </a:prstGeom>
          <a:solidFill>
            <a:srgbClr val="4A4E6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3"/>
          <p:cNvSpPr/>
          <p:nvPr/>
        </p:nvSpPr>
        <p:spPr>
          <a:xfrm>
            <a:off x="8901684" y="240030"/>
            <a:ext cx="61800" cy="342900"/>
          </a:xfrm>
          <a:prstGeom prst="rect">
            <a:avLst/>
          </a:prstGeom>
          <a:solidFill>
            <a:srgbClr val="4A4E6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3"/>
          <p:cNvSpPr/>
          <p:nvPr/>
        </p:nvSpPr>
        <p:spPr>
          <a:xfrm>
            <a:off x="240030" y="4841748"/>
            <a:ext cx="342900" cy="61800"/>
          </a:xfrm>
          <a:prstGeom prst="rect">
            <a:avLst/>
          </a:prstGeom>
          <a:solidFill>
            <a:srgbClr val="4A4E6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3"/>
          <p:cNvSpPr/>
          <p:nvPr/>
        </p:nvSpPr>
        <p:spPr>
          <a:xfrm>
            <a:off x="178308" y="4560570"/>
            <a:ext cx="61800" cy="342900"/>
          </a:xfrm>
          <a:prstGeom prst="rect">
            <a:avLst/>
          </a:prstGeom>
          <a:solidFill>
            <a:srgbClr val="4A4E6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 name="Google Shape;80;p3"/>
          <p:cNvSpPr/>
          <p:nvPr/>
        </p:nvSpPr>
        <p:spPr>
          <a:xfrm>
            <a:off x="8558784" y="4841748"/>
            <a:ext cx="342900" cy="61800"/>
          </a:xfrm>
          <a:prstGeom prst="rect">
            <a:avLst/>
          </a:prstGeom>
          <a:solidFill>
            <a:srgbClr val="4A4E6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 name="Google Shape;81;p3"/>
          <p:cNvSpPr/>
          <p:nvPr/>
        </p:nvSpPr>
        <p:spPr>
          <a:xfrm>
            <a:off x="8901684" y="4560570"/>
            <a:ext cx="61800" cy="342900"/>
          </a:xfrm>
          <a:prstGeom prst="rect">
            <a:avLst/>
          </a:prstGeom>
          <a:solidFill>
            <a:srgbClr val="4A4E6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3"/>
          <p:cNvSpPr/>
          <p:nvPr/>
        </p:nvSpPr>
        <p:spPr>
          <a:xfrm>
            <a:off x="617220" y="1954530"/>
            <a:ext cx="1097400" cy="10974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3"/>
          <p:cNvSpPr/>
          <p:nvPr/>
        </p:nvSpPr>
        <p:spPr>
          <a:xfrm>
            <a:off x="705002" y="2042312"/>
            <a:ext cx="921600" cy="9216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3"/>
          <p:cNvSpPr/>
          <p:nvPr/>
        </p:nvSpPr>
        <p:spPr>
          <a:xfrm rot="2700000">
            <a:off x="1104385" y="2020414"/>
            <a:ext cx="123037" cy="965625"/>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3"/>
          <p:cNvSpPr/>
          <p:nvPr/>
        </p:nvSpPr>
        <p:spPr>
          <a:xfrm rot="-2700000">
            <a:off x="1104398" y="2020314"/>
            <a:ext cx="123037" cy="965625"/>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 name="Google Shape;86;p3"/>
          <p:cNvSpPr/>
          <p:nvPr/>
        </p:nvSpPr>
        <p:spPr>
          <a:xfrm>
            <a:off x="737921" y="2075231"/>
            <a:ext cx="120600" cy="1206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7" name="Google Shape;87;p3"/>
          <p:cNvSpPr/>
          <p:nvPr/>
        </p:nvSpPr>
        <p:spPr>
          <a:xfrm>
            <a:off x="1473098" y="2075231"/>
            <a:ext cx="120600" cy="1206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3"/>
          <p:cNvSpPr/>
          <p:nvPr/>
        </p:nvSpPr>
        <p:spPr>
          <a:xfrm>
            <a:off x="737921" y="2810408"/>
            <a:ext cx="120600" cy="1206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3"/>
          <p:cNvSpPr/>
          <p:nvPr/>
        </p:nvSpPr>
        <p:spPr>
          <a:xfrm>
            <a:off x="1473098" y="2810408"/>
            <a:ext cx="120600" cy="1206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3"/>
          <p:cNvSpPr txBox="1"/>
          <p:nvPr>
            <p:ph idx="1" type="body"/>
          </p:nvPr>
        </p:nvSpPr>
        <p:spPr>
          <a:xfrm>
            <a:off x="2194560" y="1748790"/>
            <a:ext cx="6261300" cy="3429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200"/>
              </a:spcBef>
              <a:spcAft>
                <a:spcPts val="0"/>
              </a:spcAft>
              <a:buClr>
                <a:srgbClr val="5FB86D"/>
              </a:buClr>
              <a:buSzPts val="1100"/>
              <a:buFont typeface="Arial"/>
              <a:buNone/>
              <a:defRPr b="1" i="0" sz="1100" u="none" cap="none" strike="noStrike">
                <a:solidFill>
                  <a:srgbClr val="5FB86D"/>
                </a:solidFill>
                <a:latin typeface="Courier New"/>
                <a:ea typeface="Courier New"/>
                <a:cs typeface="Courier New"/>
                <a:sym typeface="Courier New"/>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91" name="Google Shape;91;p3"/>
          <p:cNvSpPr txBox="1"/>
          <p:nvPr>
            <p:ph type="title"/>
          </p:nvPr>
        </p:nvSpPr>
        <p:spPr>
          <a:xfrm>
            <a:off x="2194560" y="2091690"/>
            <a:ext cx="6124200" cy="8916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rgbClr val="F4E9D8"/>
              </a:buClr>
              <a:buSzPts val="2600"/>
              <a:buFont typeface="Courier New"/>
              <a:buNone/>
              <a:defRPr b="1" i="0" sz="2600" u="none" cap="none" strike="noStrike">
                <a:solidFill>
                  <a:srgbClr val="F4E9D8"/>
                </a:solidFill>
                <a:latin typeface="Courier New"/>
                <a:ea typeface="Courier New"/>
                <a:cs typeface="Courier New"/>
                <a:sym typeface="Courier New"/>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B_CONTENT">
  <p:cSld name="SB_CONTENT">
    <p:bg>
      <p:bgPr>
        <a:solidFill>
          <a:srgbClr val="F4E9D8"/>
        </a:solidFill>
      </p:bgPr>
    </p:bg>
    <p:spTree>
      <p:nvGrpSpPr>
        <p:cNvPr id="92" name="Shape 92"/>
        <p:cNvGrpSpPr/>
        <p:nvPr/>
      </p:nvGrpSpPr>
      <p:grpSpPr>
        <a:xfrm>
          <a:off x="0" y="0"/>
          <a:ext cx="0" cy="0"/>
          <a:chOff x="0" y="0"/>
          <a:chExt cx="0" cy="0"/>
        </a:xfrm>
      </p:grpSpPr>
      <p:sp>
        <p:nvSpPr>
          <p:cNvPr id="93" name="Google Shape;93;p4"/>
          <p:cNvSpPr/>
          <p:nvPr/>
        </p:nvSpPr>
        <p:spPr>
          <a:xfrm>
            <a:off x="205740" y="205740"/>
            <a:ext cx="288000" cy="4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4"/>
          <p:cNvSpPr/>
          <p:nvPr/>
        </p:nvSpPr>
        <p:spPr>
          <a:xfrm>
            <a:off x="157734" y="205740"/>
            <a:ext cx="48000" cy="28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4"/>
          <p:cNvSpPr/>
          <p:nvPr/>
        </p:nvSpPr>
        <p:spPr>
          <a:xfrm>
            <a:off x="8647938" y="205740"/>
            <a:ext cx="288000" cy="4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4"/>
          <p:cNvSpPr/>
          <p:nvPr/>
        </p:nvSpPr>
        <p:spPr>
          <a:xfrm>
            <a:off x="8935974" y="205740"/>
            <a:ext cx="48000" cy="28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7" name="Google Shape;97;p4"/>
          <p:cNvSpPr/>
          <p:nvPr/>
        </p:nvSpPr>
        <p:spPr>
          <a:xfrm>
            <a:off x="205740" y="4889754"/>
            <a:ext cx="288000" cy="4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4"/>
          <p:cNvSpPr/>
          <p:nvPr/>
        </p:nvSpPr>
        <p:spPr>
          <a:xfrm>
            <a:off x="157734" y="4649724"/>
            <a:ext cx="48000" cy="28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4"/>
          <p:cNvSpPr/>
          <p:nvPr/>
        </p:nvSpPr>
        <p:spPr>
          <a:xfrm>
            <a:off x="8647938" y="4889754"/>
            <a:ext cx="288000" cy="4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4"/>
          <p:cNvSpPr/>
          <p:nvPr/>
        </p:nvSpPr>
        <p:spPr>
          <a:xfrm>
            <a:off x="8935974" y="4649724"/>
            <a:ext cx="48000" cy="28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1" name="Google Shape;101;p4"/>
          <p:cNvSpPr/>
          <p:nvPr/>
        </p:nvSpPr>
        <p:spPr>
          <a:xfrm>
            <a:off x="480060" y="377190"/>
            <a:ext cx="480000" cy="480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4"/>
          <p:cNvSpPr/>
          <p:nvPr/>
        </p:nvSpPr>
        <p:spPr>
          <a:xfrm>
            <a:off x="518465" y="415594"/>
            <a:ext cx="403200" cy="4032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 name="Google Shape;103;p4"/>
          <p:cNvSpPr/>
          <p:nvPr/>
        </p:nvSpPr>
        <p:spPr>
          <a:xfrm rot="2700000">
            <a:off x="693150" y="406018"/>
            <a:ext cx="53882" cy="422567"/>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4"/>
          <p:cNvSpPr/>
          <p:nvPr/>
        </p:nvSpPr>
        <p:spPr>
          <a:xfrm rot="-2700000">
            <a:off x="693231" y="405936"/>
            <a:ext cx="53882" cy="422567"/>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4"/>
          <p:cNvSpPr/>
          <p:nvPr/>
        </p:nvSpPr>
        <p:spPr>
          <a:xfrm>
            <a:off x="532867" y="429997"/>
            <a:ext cx="52800" cy="528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 name="Google Shape;106;p4"/>
          <p:cNvSpPr/>
          <p:nvPr/>
        </p:nvSpPr>
        <p:spPr>
          <a:xfrm>
            <a:off x="854507" y="429997"/>
            <a:ext cx="52800" cy="528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4"/>
          <p:cNvSpPr/>
          <p:nvPr/>
        </p:nvSpPr>
        <p:spPr>
          <a:xfrm>
            <a:off x="532867" y="751637"/>
            <a:ext cx="52800" cy="528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4"/>
          <p:cNvSpPr/>
          <p:nvPr/>
        </p:nvSpPr>
        <p:spPr>
          <a:xfrm>
            <a:off x="854507" y="751637"/>
            <a:ext cx="52800" cy="528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4"/>
          <p:cNvSpPr/>
          <p:nvPr/>
        </p:nvSpPr>
        <p:spPr>
          <a:xfrm>
            <a:off x="8078724" y="4320540"/>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 name="Google Shape;110;p4"/>
          <p:cNvSpPr/>
          <p:nvPr/>
        </p:nvSpPr>
        <p:spPr>
          <a:xfrm>
            <a:off x="8243316" y="4320540"/>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1" name="Google Shape;111;p4"/>
          <p:cNvSpPr/>
          <p:nvPr/>
        </p:nvSpPr>
        <p:spPr>
          <a:xfrm>
            <a:off x="8407908" y="4320540"/>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4"/>
          <p:cNvSpPr/>
          <p:nvPr/>
        </p:nvSpPr>
        <p:spPr>
          <a:xfrm>
            <a:off x="8572500" y="4320540"/>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 name="Google Shape;113;p4"/>
          <p:cNvSpPr/>
          <p:nvPr/>
        </p:nvSpPr>
        <p:spPr>
          <a:xfrm>
            <a:off x="8737092" y="4320540"/>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4"/>
          <p:cNvSpPr/>
          <p:nvPr/>
        </p:nvSpPr>
        <p:spPr>
          <a:xfrm>
            <a:off x="8078724" y="4485132"/>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5" name="Google Shape;115;p4"/>
          <p:cNvSpPr/>
          <p:nvPr/>
        </p:nvSpPr>
        <p:spPr>
          <a:xfrm>
            <a:off x="8243316" y="4485132"/>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4"/>
          <p:cNvSpPr/>
          <p:nvPr/>
        </p:nvSpPr>
        <p:spPr>
          <a:xfrm>
            <a:off x="8407908" y="4485132"/>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 name="Google Shape;117;p4"/>
          <p:cNvSpPr/>
          <p:nvPr/>
        </p:nvSpPr>
        <p:spPr>
          <a:xfrm>
            <a:off x="8572500" y="4485132"/>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4"/>
          <p:cNvSpPr/>
          <p:nvPr/>
        </p:nvSpPr>
        <p:spPr>
          <a:xfrm>
            <a:off x="8737092" y="4485132"/>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4"/>
          <p:cNvSpPr/>
          <p:nvPr/>
        </p:nvSpPr>
        <p:spPr>
          <a:xfrm>
            <a:off x="8078724" y="4649724"/>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4"/>
          <p:cNvSpPr/>
          <p:nvPr/>
        </p:nvSpPr>
        <p:spPr>
          <a:xfrm>
            <a:off x="8243316" y="4649724"/>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1" name="Google Shape;121;p4"/>
          <p:cNvSpPr/>
          <p:nvPr/>
        </p:nvSpPr>
        <p:spPr>
          <a:xfrm>
            <a:off x="8407908" y="4649724"/>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4"/>
          <p:cNvSpPr/>
          <p:nvPr/>
        </p:nvSpPr>
        <p:spPr>
          <a:xfrm>
            <a:off x="8572500" y="4649724"/>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4"/>
          <p:cNvSpPr/>
          <p:nvPr/>
        </p:nvSpPr>
        <p:spPr>
          <a:xfrm>
            <a:off x="8737092" y="4649724"/>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4"/>
          <p:cNvSpPr/>
          <p:nvPr/>
        </p:nvSpPr>
        <p:spPr>
          <a:xfrm>
            <a:off x="8078724" y="4814316"/>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4"/>
          <p:cNvSpPr/>
          <p:nvPr/>
        </p:nvSpPr>
        <p:spPr>
          <a:xfrm>
            <a:off x="8243316" y="4814316"/>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6" name="Google Shape;126;p4"/>
          <p:cNvSpPr/>
          <p:nvPr/>
        </p:nvSpPr>
        <p:spPr>
          <a:xfrm>
            <a:off x="8407908" y="4814316"/>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4"/>
          <p:cNvSpPr/>
          <p:nvPr/>
        </p:nvSpPr>
        <p:spPr>
          <a:xfrm>
            <a:off x="8572500" y="4814316"/>
            <a:ext cx="164700" cy="164700"/>
          </a:xfrm>
          <a:prstGeom prst="rect">
            <a:avLst/>
          </a:prstGeom>
          <a:solidFill>
            <a:srgbClr val="E6D6B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4"/>
          <p:cNvSpPr/>
          <p:nvPr/>
        </p:nvSpPr>
        <p:spPr>
          <a:xfrm>
            <a:off x="8737092" y="4814316"/>
            <a:ext cx="164700" cy="164700"/>
          </a:xfrm>
          <a:prstGeom prst="rect">
            <a:avLst/>
          </a:prstGeom>
          <a:solidFill>
            <a:srgbClr val="F4E9D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9" name="Google Shape;129;p4"/>
          <p:cNvSpPr txBox="1"/>
          <p:nvPr>
            <p:ph type="title"/>
          </p:nvPr>
        </p:nvSpPr>
        <p:spPr>
          <a:xfrm>
            <a:off x="1062990" y="377190"/>
            <a:ext cx="7564500" cy="5487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rgbClr val="231F20"/>
              </a:buClr>
              <a:buSzPts val="2100"/>
              <a:buFont typeface="Courier New"/>
              <a:buNone/>
              <a:defRPr b="1" i="0" sz="2100" u="none" cap="none" strike="noStrike">
                <a:solidFill>
                  <a:srgbClr val="231F20"/>
                </a:solidFill>
                <a:latin typeface="Courier New"/>
                <a:ea typeface="Courier New"/>
                <a:cs typeface="Courier New"/>
                <a:sym typeface="Courier New"/>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30" name="Google Shape;130;p4"/>
          <p:cNvSpPr txBox="1"/>
          <p:nvPr>
            <p:ph idx="1" type="body"/>
          </p:nvPr>
        </p:nvSpPr>
        <p:spPr>
          <a:xfrm>
            <a:off x="685800" y="1200150"/>
            <a:ext cx="7770000" cy="34977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200"/>
              </a:spcBef>
              <a:spcAft>
                <a:spcPts val="0"/>
              </a:spcAft>
              <a:buClr>
                <a:srgbClr val="231F20"/>
              </a:buClr>
              <a:buSzPts val="1200"/>
              <a:buFont typeface="Arial"/>
              <a:buNone/>
              <a:defRPr b="0" i="0" sz="1200" u="none" cap="none" strike="noStrike">
                <a:solidFill>
                  <a:srgbClr val="231F20"/>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B_TWOCOL">
  <p:cSld name="SB_TWOCOL">
    <p:bg>
      <p:bgPr>
        <a:solidFill>
          <a:srgbClr val="F4E9D8"/>
        </a:solidFill>
      </p:bgPr>
    </p:bg>
    <p:spTree>
      <p:nvGrpSpPr>
        <p:cNvPr id="131" name="Shape 131"/>
        <p:cNvGrpSpPr/>
        <p:nvPr/>
      </p:nvGrpSpPr>
      <p:grpSpPr>
        <a:xfrm>
          <a:off x="0" y="0"/>
          <a:ext cx="0" cy="0"/>
          <a:chOff x="0" y="0"/>
          <a:chExt cx="0" cy="0"/>
        </a:xfrm>
      </p:grpSpPr>
      <p:sp>
        <p:nvSpPr>
          <p:cNvPr id="132" name="Google Shape;132;p5"/>
          <p:cNvSpPr/>
          <p:nvPr/>
        </p:nvSpPr>
        <p:spPr>
          <a:xfrm>
            <a:off x="205740" y="205740"/>
            <a:ext cx="288000" cy="4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5"/>
          <p:cNvSpPr/>
          <p:nvPr/>
        </p:nvSpPr>
        <p:spPr>
          <a:xfrm>
            <a:off x="157734" y="205740"/>
            <a:ext cx="48000" cy="28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4" name="Google Shape;134;p5"/>
          <p:cNvSpPr/>
          <p:nvPr/>
        </p:nvSpPr>
        <p:spPr>
          <a:xfrm>
            <a:off x="8647938" y="205740"/>
            <a:ext cx="288000" cy="4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5"/>
          <p:cNvSpPr/>
          <p:nvPr/>
        </p:nvSpPr>
        <p:spPr>
          <a:xfrm>
            <a:off x="8935974" y="205740"/>
            <a:ext cx="48000" cy="28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5"/>
          <p:cNvSpPr/>
          <p:nvPr/>
        </p:nvSpPr>
        <p:spPr>
          <a:xfrm>
            <a:off x="205740" y="4889754"/>
            <a:ext cx="288000" cy="4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 name="Google Shape;137;p5"/>
          <p:cNvSpPr/>
          <p:nvPr/>
        </p:nvSpPr>
        <p:spPr>
          <a:xfrm>
            <a:off x="157734" y="4649724"/>
            <a:ext cx="48000" cy="28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5"/>
          <p:cNvSpPr/>
          <p:nvPr/>
        </p:nvSpPr>
        <p:spPr>
          <a:xfrm>
            <a:off x="8647938" y="4889754"/>
            <a:ext cx="288000" cy="4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5"/>
          <p:cNvSpPr/>
          <p:nvPr/>
        </p:nvSpPr>
        <p:spPr>
          <a:xfrm>
            <a:off x="8935974" y="4649724"/>
            <a:ext cx="48000" cy="288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5"/>
          <p:cNvSpPr txBox="1"/>
          <p:nvPr>
            <p:ph type="title"/>
          </p:nvPr>
        </p:nvSpPr>
        <p:spPr>
          <a:xfrm>
            <a:off x="685800" y="377190"/>
            <a:ext cx="7770000" cy="5487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rgbClr val="231F20"/>
              </a:buClr>
              <a:buSzPts val="2100"/>
              <a:buFont typeface="Courier New"/>
              <a:buNone/>
              <a:defRPr b="1" i="0" sz="2100" u="none" cap="none" strike="noStrike">
                <a:solidFill>
                  <a:srgbClr val="231F20"/>
                </a:solidFill>
                <a:latin typeface="Courier New"/>
                <a:ea typeface="Courier New"/>
                <a:cs typeface="Courier New"/>
                <a:sym typeface="Courier New"/>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41" name="Google Shape;141;p5"/>
          <p:cNvSpPr/>
          <p:nvPr/>
        </p:nvSpPr>
        <p:spPr>
          <a:xfrm>
            <a:off x="1097280" y="1611630"/>
            <a:ext cx="1165800" cy="11658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2" name="Google Shape;142;p5"/>
          <p:cNvSpPr/>
          <p:nvPr/>
        </p:nvSpPr>
        <p:spPr>
          <a:xfrm>
            <a:off x="1190549" y="1704899"/>
            <a:ext cx="979200" cy="9792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3" name="Google Shape;143;p5"/>
          <p:cNvSpPr/>
          <p:nvPr/>
        </p:nvSpPr>
        <p:spPr>
          <a:xfrm rot="2700000">
            <a:off x="1614938" y="1681629"/>
            <a:ext cx="130673" cy="1025871"/>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5"/>
          <p:cNvSpPr/>
          <p:nvPr/>
        </p:nvSpPr>
        <p:spPr>
          <a:xfrm rot="-2700000">
            <a:off x="1614877" y="1681560"/>
            <a:ext cx="130673" cy="1025871"/>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5" name="Google Shape;145;p5"/>
          <p:cNvSpPr/>
          <p:nvPr/>
        </p:nvSpPr>
        <p:spPr>
          <a:xfrm>
            <a:off x="1225525" y="1739875"/>
            <a:ext cx="128100" cy="1281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5"/>
          <p:cNvSpPr/>
          <p:nvPr/>
        </p:nvSpPr>
        <p:spPr>
          <a:xfrm>
            <a:off x="2006651" y="1739875"/>
            <a:ext cx="128100" cy="1281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7" name="Google Shape;147;p5"/>
          <p:cNvSpPr/>
          <p:nvPr/>
        </p:nvSpPr>
        <p:spPr>
          <a:xfrm>
            <a:off x="1225525" y="2521001"/>
            <a:ext cx="128100" cy="1281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5"/>
          <p:cNvSpPr/>
          <p:nvPr/>
        </p:nvSpPr>
        <p:spPr>
          <a:xfrm>
            <a:off x="2006651" y="2521001"/>
            <a:ext cx="128100" cy="1281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5"/>
          <p:cNvSpPr/>
          <p:nvPr/>
        </p:nvSpPr>
        <p:spPr>
          <a:xfrm>
            <a:off x="1773283" y="3326130"/>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5"/>
          <p:cNvSpPr/>
          <p:nvPr/>
        </p:nvSpPr>
        <p:spPr>
          <a:xfrm>
            <a:off x="1719398" y="3380014"/>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5"/>
          <p:cNvSpPr/>
          <p:nvPr/>
        </p:nvSpPr>
        <p:spPr>
          <a:xfrm>
            <a:off x="1773283" y="3380014"/>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5"/>
          <p:cNvSpPr/>
          <p:nvPr/>
        </p:nvSpPr>
        <p:spPr>
          <a:xfrm>
            <a:off x="1827167" y="3380014"/>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5"/>
          <p:cNvSpPr/>
          <p:nvPr/>
        </p:nvSpPr>
        <p:spPr>
          <a:xfrm>
            <a:off x="1665515" y="3433898"/>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5"/>
          <p:cNvSpPr/>
          <p:nvPr/>
        </p:nvSpPr>
        <p:spPr>
          <a:xfrm>
            <a:off x="1719398" y="3433898"/>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5"/>
          <p:cNvSpPr/>
          <p:nvPr/>
        </p:nvSpPr>
        <p:spPr>
          <a:xfrm>
            <a:off x="1773283" y="3433898"/>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5"/>
          <p:cNvSpPr/>
          <p:nvPr/>
        </p:nvSpPr>
        <p:spPr>
          <a:xfrm>
            <a:off x="1827167" y="3433898"/>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 name="Google Shape;157;p5"/>
          <p:cNvSpPr/>
          <p:nvPr/>
        </p:nvSpPr>
        <p:spPr>
          <a:xfrm>
            <a:off x="1881052" y="3433898"/>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5"/>
          <p:cNvSpPr/>
          <p:nvPr/>
        </p:nvSpPr>
        <p:spPr>
          <a:xfrm>
            <a:off x="1611630" y="3487783"/>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 name="Google Shape;159;p5"/>
          <p:cNvSpPr/>
          <p:nvPr/>
        </p:nvSpPr>
        <p:spPr>
          <a:xfrm>
            <a:off x="1665515" y="3487783"/>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5"/>
          <p:cNvSpPr/>
          <p:nvPr/>
        </p:nvSpPr>
        <p:spPr>
          <a:xfrm>
            <a:off x="1719398" y="3487783"/>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5"/>
          <p:cNvSpPr/>
          <p:nvPr/>
        </p:nvSpPr>
        <p:spPr>
          <a:xfrm>
            <a:off x="1773283" y="3487783"/>
            <a:ext cx="54000" cy="54000"/>
          </a:xfrm>
          <a:prstGeom prst="rect">
            <a:avLst/>
          </a:prstGeom>
          <a:solidFill>
            <a:srgbClr val="3C8A4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2" name="Google Shape;162;p5"/>
          <p:cNvSpPr/>
          <p:nvPr/>
        </p:nvSpPr>
        <p:spPr>
          <a:xfrm>
            <a:off x="1827167" y="3487783"/>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5"/>
          <p:cNvSpPr/>
          <p:nvPr/>
        </p:nvSpPr>
        <p:spPr>
          <a:xfrm>
            <a:off x="1881052" y="3487783"/>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5"/>
          <p:cNvSpPr/>
          <p:nvPr/>
        </p:nvSpPr>
        <p:spPr>
          <a:xfrm>
            <a:off x="1934936" y="3487783"/>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 name="Google Shape;165;p5"/>
          <p:cNvSpPr/>
          <p:nvPr/>
        </p:nvSpPr>
        <p:spPr>
          <a:xfrm>
            <a:off x="1665515" y="3541667"/>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 name="Google Shape;166;p5"/>
          <p:cNvSpPr/>
          <p:nvPr/>
        </p:nvSpPr>
        <p:spPr>
          <a:xfrm>
            <a:off x="1719398" y="3541667"/>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5"/>
          <p:cNvSpPr/>
          <p:nvPr/>
        </p:nvSpPr>
        <p:spPr>
          <a:xfrm>
            <a:off x="1773283" y="3541667"/>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5"/>
          <p:cNvSpPr/>
          <p:nvPr/>
        </p:nvSpPr>
        <p:spPr>
          <a:xfrm>
            <a:off x="1827167" y="3541667"/>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9" name="Google Shape;169;p5"/>
          <p:cNvSpPr/>
          <p:nvPr/>
        </p:nvSpPr>
        <p:spPr>
          <a:xfrm>
            <a:off x="1881052" y="3541667"/>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5"/>
          <p:cNvSpPr/>
          <p:nvPr/>
        </p:nvSpPr>
        <p:spPr>
          <a:xfrm>
            <a:off x="1719398" y="3595552"/>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5"/>
          <p:cNvSpPr/>
          <p:nvPr/>
        </p:nvSpPr>
        <p:spPr>
          <a:xfrm>
            <a:off x="1773283" y="3595552"/>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 name="Google Shape;172;p5"/>
          <p:cNvSpPr/>
          <p:nvPr/>
        </p:nvSpPr>
        <p:spPr>
          <a:xfrm>
            <a:off x="1827167" y="3595552"/>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p5"/>
          <p:cNvSpPr/>
          <p:nvPr/>
        </p:nvSpPr>
        <p:spPr>
          <a:xfrm>
            <a:off x="1773283" y="3649436"/>
            <a:ext cx="54000" cy="540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5"/>
          <p:cNvSpPr txBox="1"/>
          <p:nvPr>
            <p:ph idx="1" type="body"/>
          </p:nvPr>
        </p:nvSpPr>
        <p:spPr>
          <a:xfrm>
            <a:off x="4457700" y="1200150"/>
            <a:ext cx="3998100" cy="34977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200"/>
              </a:spcBef>
              <a:spcAft>
                <a:spcPts val="0"/>
              </a:spcAft>
              <a:buClr>
                <a:srgbClr val="231F20"/>
              </a:buClr>
              <a:buSzPts val="1200"/>
              <a:buFont typeface="Arial"/>
              <a:buNone/>
              <a:defRPr b="0" i="0" sz="1200" u="none" cap="none" strike="noStrike">
                <a:solidFill>
                  <a:srgbClr val="231F20"/>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B_STAT">
  <p:cSld name="SB_STAT">
    <p:bg>
      <p:bgPr>
        <a:solidFill>
          <a:srgbClr val="1B1B2F"/>
        </a:solidFill>
      </p:bgPr>
    </p:bg>
    <p:spTree>
      <p:nvGrpSpPr>
        <p:cNvPr id="175" name="Shape 175"/>
        <p:cNvGrpSpPr/>
        <p:nvPr/>
      </p:nvGrpSpPr>
      <p:grpSpPr>
        <a:xfrm>
          <a:off x="0" y="0"/>
          <a:ext cx="0" cy="0"/>
          <a:chOff x="0" y="0"/>
          <a:chExt cx="0" cy="0"/>
        </a:xfrm>
      </p:grpSpPr>
      <p:sp>
        <p:nvSpPr>
          <p:cNvPr id="176" name="Google Shape;176;p6"/>
          <p:cNvSpPr/>
          <p:nvPr/>
        </p:nvSpPr>
        <p:spPr>
          <a:xfrm>
            <a:off x="240030" y="240030"/>
            <a:ext cx="342900" cy="618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6"/>
          <p:cNvSpPr/>
          <p:nvPr/>
        </p:nvSpPr>
        <p:spPr>
          <a:xfrm>
            <a:off x="178308" y="240030"/>
            <a:ext cx="61800" cy="3429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p6"/>
          <p:cNvSpPr/>
          <p:nvPr/>
        </p:nvSpPr>
        <p:spPr>
          <a:xfrm>
            <a:off x="8558784" y="240030"/>
            <a:ext cx="342900" cy="618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6"/>
          <p:cNvSpPr/>
          <p:nvPr/>
        </p:nvSpPr>
        <p:spPr>
          <a:xfrm>
            <a:off x="8901684" y="240030"/>
            <a:ext cx="61800" cy="3429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0" name="Google Shape;180;p6"/>
          <p:cNvSpPr/>
          <p:nvPr/>
        </p:nvSpPr>
        <p:spPr>
          <a:xfrm>
            <a:off x="240030" y="4841748"/>
            <a:ext cx="342900" cy="618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 name="Google Shape;181;p6"/>
          <p:cNvSpPr/>
          <p:nvPr/>
        </p:nvSpPr>
        <p:spPr>
          <a:xfrm>
            <a:off x="178308" y="4560570"/>
            <a:ext cx="61800" cy="3429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6"/>
          <p:cNvSpPr/>
          <p:nvPr/>
        </p:nvSpPr>
        <p:spPr>
          <a:xfrm>
            <a:off x="8558784" y="4841748"/>
            <a:ext cx="342900" cy="618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6"/>
          <p:cNvSpPr/>
          <p:nvPr/>
        </p:nvSpPr>
        <p:spPr>
          <a:xfrm>
            <a:off x="8901684" y="4560570"/>
            <a:ext cx="61800" cy="342900"/>
          </a:xfrm>
          <a:prstGeom prst="rect">
            <a:avLst/>
          </a:prstGeom>
          <a:solidFill>
            <a:srgbClr val="5FB86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 name="Google Shape;184;p6"/>
          <p:cNvSpPr/>
          <p:nvPr/>
        </p:nvSpPr>
        <p:spPr>
          <a:xfrm>
            <a:off x="7495794" y="435483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5" name="Google Shape;185;p6"/>
          <p:cNvSpPr/>
          <p:nvPr/>
        </p:nvSpPr>
        <p:spPr>
          <a:xfrm>
            <a:off x="7687818" y="435483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 name="Google Shape;186;p6"/>
          <p:cNvSpPr/>
          <p:nvPr/>
        </p:nvSpPr>
        <p:spPr>
          <a:xfrm>
            <a:off x="7879842" y="435483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6"/>
          <p:cNvSpPr/>
          <p:nvPr/>
        </p:nvSpPr>
        <p:spPr>
          <a:xfrm>
            <a:off x="8071866" y="435483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6"/>
          <p:cNvSpPr/>
          <p:nvPr/>
        </p:nvSpPr>
        <p:spPr>
          <a:xfrm>
            <a:off x="8263890" y="435483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 name="Google Shape;189;p6"/>
          <p:cNvSpPr/>
          <p:nvPr/>
        </p:nvSpPr>
        <p:spPr>
          <a:xfrm>
            <a:off x="8455914" y="435483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6"/>
          <p:cNvSpPr/>
          <p:nvPr/>
        </p:nvSpPr>
        <p:spPr>
          <a:xfrm>
            <a:off x="8647938" y="435483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6"/>
          <p:cNvSpPr/>
          <p:nvPr/>
        </p:nvSpPr>
        <p:spPr>
          <a:xfrm>
            <a:off x="8839962" y="435483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6"/>
          <p:cNvSpPr/>
          <p:nvPr/>
        </p:nvSpPr>
        <p:spPr>
          <a:xfrm>
            <a:off x="7495794" y="454685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 name="Google Shape;193;p6"/>
          <p:cNvSpPr/>
          <p:nvPr/>
        </p:nvSpPr>
        <p:spPr>
          <a:xfrm>
            <a:off x="7687818" y="454685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 name="Google Shape;194;p6"/>
          <p:cNvSpPr/>
          <p:nvPr/>
        </p:nvSpPr>
        <p:spPr>
          <a:xfrm>
            <a:off x="7879842" y="454685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5" name="Google Shape;195;p6"/>
          <p:cNvSpPr/>
          <p:nvPr/>
        </p:nvSpPr>
        <p:spPr>
          <a:xfrm>
            <a:off x="8071866" y="454685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6"/>
          <p:cNvSpPr/>
          <p:nvPr/>
        </p:nvSpPr>
        <p:spPr>
          <a:xfrm>
            <a:off x="8263890" y="454685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6"/>
          <p:cNvSpPr/>
          <p:nvPr/>
        </p:nvSpPr>
        <p:spPr>
          <a:xfrm>
            <a:off x="8455914" y="454685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6"/>
          <p:cNvSpPr/>
          <p:nvPr/>
        </p:nvSpPr>
        <p:spPr>
          <a:xfrm>
            <a:off x="8647938" y="454685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p6"/>
          <p:cNvSpPr/>
          <p:nvPr/>
        </p:nvSpPr>
        <p:spPr>
          <a:xfrm>
            <a:off x="8839962" y="454685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0" name="Google Shape;200;p6"/>
          <p:cNvSpPr/>
          <p:nvPr/>
        </p:nvSpPr>
        <p:spPr>
          <a:xfrm>
            <a:off x="7495794" y="473887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1" name="Google Shape;201;p6"/>
          <p:cNvSpPr/>
          <p:nvPr/>
        </p:nvSpPr>
        <p:spPr>
          <a:xfrm>
            <a:off x="7687818" y="473887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6"/>
          <p:cNvSpPr/>
          <p:nvPr/>
        </p:nvSpPr>
        <p:spPr>
          <a:xfrm>
            <a:off x="7879842" y="473887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3" name="Google Shape;203;p6"/>
          <p:cNvSpPr/>
          <p:nvPr/>
        </p:nvSpPr>
        <p:spPr>
          <a:xfrm>
            <a:off x="8071866" y="473887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6"/>
          <p:cNvSpPr/>
          <p:nvPr/>
        </p:nvSpPr>
        <p:spPr>
          <a:xfrm>
            <a:off x="8263890" y="473887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6"/>
          <p:cNvSpPr/>
          <p:nvPr/>
        </p:nvSpPr>
        <p:spPr>
          <a:xfrm>
            <a:off x="8455914" y="473887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6" name="Google Shape;206;p6"/>
          <p:cNvSpPr/>
          <p:nvPr/>
        </p:nvSpPr>
        <p:spPr>
          <a:xfrm>
            <a:off x="8647938" y="473887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6"/>
          <p:cNvSpPr/>
          <p:nvPr/>
        </p:nvSpPr>
        <p:spPr>
          <a:xfrm>
            <a:off x="8839962" y="473887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6"/>
          <p:cNvSpPr txBox="1"/>
          <p:nvPr>
            <p:ph type="title"/>
          </p:nvPr>
        </p:nvSpPr>
        <p:spPr>
          <a:xfrm>
            <a:off x="685800" y="1371600"/>
            <a:ext cx="7770000" cy="15087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Clr>
                <a:srgbClr val="E3A063"/>
              </a:buClr>
              <a:buSzPts val="7200"/>
              <a:buFont typeface="Courier New"/>
              <a:buNone/>
              <a:defRPr b="1" i="0" sz="7200" u="none" cap="none" strike="noStrike">
                <a:solidFill>
                  <a:srgbClr val="E3A063"/>
                </a:solidFill>
                <a:latin typeface="Courier New"/>
                <a:ea typeface="Courier New"/>
                <a:cs typeface="Courier New"/>
                <a:sym typeface="Courier New"/>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09" name="Google Shape;209;p6"/>
          <p:cNvSpPr txBox="1"/>
          <p:nvPr>
            <p:ph idx="1" type="body"/>
          </p:nvPr>
        </p:nvSpPr>
        <p:spPr>
          <a:xfrm>
            <a:off x="1028700" y="2983230"/>
            <a:ext cx="7084200" cy="480000"/>
          </a:xfrm>
          <a:prstGeom prst="rect">
            <a:avLst/>
          </a:prstGeom>
          <a:noFill/>
          <a:ln>
            <a:noFill/>
          </a:ln>
        </p:spPr>
        <p:txBody>
          <a:bodyPr anchorCtr="0" anchor="t" bIns="34275" lIns="68575" spcFirstLastPara="1" rIns="68575" wrap="square" tIns="34275">
            <a:noAutofit/>
          </a:bodyPr>
          <a:lstStyle>
            <a:lvl1pPr indent="-228600" lvl="0" marL="457200" marR="0" rtl="0" algn="ctr">
              <a:spcBef>
                <a:spcPts val="300"/>
              </a:spcBef>
              <a:spcAft>
                <a:spcPts val="0"/>
              </a:spcAft>
              <a:buClr>
                <a:srgbClr val="F4E9D8"/>
              </a:buClr>
              <a:buSzPts val="1400"/>
              <a:buFont typeface="Arial"/>
              <a:buNone/>
              <a:defRPr b="0" i="0" sz="1400" u="none" cap="none" strike="noStrike">
                <a:solidFill>
                  <a:srgbClr val="F4E9D8"/>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B_CLOSING">
  <p:cSld name="SB_CLOSING">
    <p:bg>
      <p:bgPr>
        <a:solidFill>
          <a:srgbClr val="1B1B2F"/>
        </a:solidFill>
      </p:bgPr>
    </p:bg>
    <p:spTree>
      <p:nvGrpSpPr>
        <p:cNvPr id="210" name="Shape 210"/>
        <p:cNvGrpSpPr/>
        <p:nvPr/>
      </p:nvGrpSpPr>
      <p:grpSpPr>
        <a:xfrm>
          <a:off x="0" y="0"/>
          <a:ext cx="0" cy="0"/>
          <a:chOff x="0" y="0"/>
          <a:chExt cx="0" cy="0"/>
        </a:xfrm>
      </p:grpSpPr>
      <p:sp>
        <p:nvSpPr>
          <p:cNvPr id="211" name="Google Shape;211;p7"/>
          <p:cNvSpPr/>
          <p:nvPr/>
        </p:nvSpPr>
        <p:spPr>
          <a:xfrm>
            <a:off x="0"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7"/>
          <p:cNvSpPr/>
          <p:nvPr/>
        </p:nvSpPr>
        <p:spPr>
          <a:xfrm>
            <a:off x="192024"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7"/>
          <p:cNvSpPr/>
          <p:nvPr/>
        </p:nvSpPr>
        <p:spPr>
          <a:xfrm>
            <a:off x="384048"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7"/>
          <p:cNvSpPr/>
          <p:nvPr/>
        </p:nvSpPr>
        <p:spPr>
          <a:xfrm>
            <a:off x="576072"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7"/>
          <p:cNvSpPr/>
          <p:nvPr/>
        </p:nvSpPr>
        <p:spPr>
          <a:xfrm>
            <a:off x="768096"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7"/>
          <p:cNvSpPr/>
          <p:nvPr/>
        </p:nvSpPr>
        <p:spPr>
          <a:xfrm>
            <a:off x="960120"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7"/>
          <p:cNvSpPr/>
          <p:nvPr/>
        </p:nvSpPr>
        <p:spPr>
          <a:xfrm>
            <a:off x="1152144"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7"/>
          <p:cNvSpPr/>
          <p:nvPr/>
        </p:nvSpPr>
        <p:spPr>
          <a:xfrm>
            <a:off x="1344168"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9" name="Google Shape;219;p7"/>
          <p:cNvSpPr/>
          <p:nvPr/>
        </p:nvSpPr>
        <p:spPr>
          <a:xfrm>
            <a:off x="1536192"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7"/>
          <p:cNvSpPr/>
          <p:nvPr/>
        </p:nvSpPr>
        <p:spPr>
          <a:xfrm>
            <a:off x="1728216"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1" name="Google Shape;221;p7"/>
          <p:cNvSpPr/>
          <p:nvPr/>
        </p:nvSpPr>
        <p:spPr>
          <a:xfrm>
            <a:off x="1920240"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2" name="Google Shape;222;p7"/>
          <p:cNvSpPr/>
          <p:nvPr/>
        </p:nvSpPr>
        <p:spPr>
          <a:xfrm>
            <a:off x="2112264"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 name="Google Shape;223;p7"/>
          <p:cNvSpPr/>
          <p:nvPr/>
        </p:nvSpPr>
        <p:spPr>
          <a:xfrm>
            <a:off x="2304288"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4" name="Google Shape;224;p7"/>
          <p:cNvSpPr/>
          <p:nvPr/>
        </p:nvSpPr>
        <p:spPr>
          <a:xfrm>
            <a:off x="2496312"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5" name="Google Shape;225;p7"/>
          <p:cNvSpPr/>
          <p:nvPr/>
        </p:nvSpPr>
        <p:spPr>
          <a:xfrm>
            <a:off x="2688336"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6" name="Google Shape;226;p7"/>
          <p:cNvSpPr/>
          <p:nvPr/>
        </p:nvSpPr>
        <p:spPr>
          <a:xfrm>
            <a:off x="2880360"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7" name="Google Shape;227;p7"/>
          <p:cNvSpPr/>
          <p:nvPr/>
        </p:nvSpPr>
        <p:spPr>
          <a:xfrm>
            <a:off x="3072384"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8" name="Google Shape;228;p7"/>
          <p:cNvSpPr/>
          <p:nvPr/>
        </p:nvSpPr>
        <p:spPr>
          <a:xfrm>
            <a:off x="3264408"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9" name="Google Shape;229;p7"/>
          <p:cNvSpPr/>
          <p:nvPr/>
        </p:nvSpPr>
        <p:spPr>
          <a:xfrm>
            <a:off x="3456432"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7"/>
          <p:cNvSpPr/>
          <p:nvPr/>
        </p:nvSpPr>
        <p:spPr>
          <a:xfrm>
            <a:off x="3648456"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1" name="Google Shape;231;p7"/>
          <p:cNvSpPr/>
          <p:nvPr/>
        </p:nvSpPr>
        <p:spPr>
          <a:xfrm>
            <a:off x="3840480"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7"/>
          <p:cNvSpPr/>
          <p:nvPr/>
        </p:nvSpPr>
        <p:spPr>
          <a:xfrm>
            <a:off x="4032504"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3" name="Google Shape;233;p7"/>
          <p:cNvSpPr/>
          <p:nvPr/>
        </p:nvSpPr>
        <p:spPr>
          <a:xfrm>
            <a:off x="4224528"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7"/>
          <p:cNvSpPr/>
          <p:nvPr/>
        </p:nvSpPr>
        <p:spPr>
          <a:xfrm>
            <a:off x="4416552"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7"/>
          <p:cNvSpPr/>
          <p:nvPr/>
        </p:nvSpPr>
        <p:spPr>
          <a:xfrm>
            <a:off x="4608576"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7"/>
          <p:cNvSpPr/>
          <p:nvPr/>
        </p:nvSpPr>
        <p:spPr>
          <a:xfrm>
            <a:off x="4800600"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7"/>
          <p:cNvSpPr/>
          <p:nvPr/>
        </p:nvSpPr>
        <p:spPr>
          <a:xfrm>
            <a:off x="4992624"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8" name="Google Shape;238;p7"/>
          <p:cNvSpPr/>
          <p:nvPr/>
        </p:nvSpPr>
        <p:spPr>
          <a:xfrm>
            <a:off x="5184648"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7"/>
          <p:cNvSpPr/>
          <p:nvPr/>
        </p:nvSpPr>
        <p:spPr>
          <a:xfrm>
            <a:off x="5376672"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7"/>
          <p:cNvSpPr/>
          <p:nvPr/>
        </p:nvSpPr>
        <p:spPr>
          <a:xfrm>
            <a:off x="5568696"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1" name="Google Shape;241;p7"/>
          <p:cNvSpPr/>
          <p:nvPr/>
        </p:nvSpPr>
        <p:spPr>
          <a:xfrm>
            <a:off x="5760720"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2" name="Google Shape;242;p7"/>
          <p:cNvSpPr/>
          <p:nvPr/>
        </p:nvSpPr>
        <p:spPr>
          <a:xfrm>
            <a:off x="5952744"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3" name="Google Shape;243;p7"/>
          <p:cNvSpPr/>
          <p:nvPr/>
        </p:nvSpPr>
        <p:spPr>
          <a:xfrm>
            <a:off x="6144768"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7"/>
          <p:cNvSpPr/>
          <p:nvPr/>
        </p:nvSpPr>
        <p:spPr>
          <a:xfrm>
            <a:off x="6336792"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5" name="Google Shape;245;p7"/>
          <p:cNvSpPr/>
          <p:nvPr/>
        </p:nvSpPr>
        <p:spPr>
          <a:xfrm>
            <a:off x="6528816"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6" name="Google Shape;246;p7"/>
          <p:cNvSpPr/>
          <p:nvPr/>
        </p:nvSpPr>
        <p:spPr>
          <a:xfrm>
            <a:off x="6720840"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7"/>
          <p:cNvSpPr/>
          <p:nvPr/>
        </p:nvSpPr>
        <p:spPr>
          <a:xfrm>
            <a:off x="6912864"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7"/>
          <p:cNvSpPr/>
          <p:nvPr/>
        </p:nvSpPr>
        <p:spPr>
          <a:xfrm>
            <a:off x="7104888"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9" name="Google Shape;249;p7"/>
          <p:cNvSpPr/>
          <p:nvPr/>
        </p:nvSpPr>
        <p:spPr>
          <a:xfrm>
            <a:off x="7296912"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0" name="Google Shape;250;p7"/>
          <p:cNvSpPr/>
          <p:nvPr/>
        </p:nvSpPr>
        <p:spPr>
          <a:xfrm>
            <a:off x="7488936"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7"/>
          <p:cNvSpPr/>
          <p:nvPr/>
        </p:nvSpPr>
        <p:spPr>
          <a:xfrm>
            <a:off x="7680960"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2" name="Google Shape;252;p7"/>
          <p:cNvSpPr/>
          <p:nvPr/>
        </p:nvSpPr>
        <p:spPr>
          <a:xfrm>
            <a:off x="7872984"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3" name="Google Shape;253;p7"/>
          <p:cNvSpPr/>
          <p:nvPr/>
        </p:nvSpPr>
        <p:spPr>
          <a:xfrm>
            <a:off x="8065008"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7"/>
          <p:cNvSpPr/>
          <p:nvPr/>
        </p:nvSpPr>
        <p:spPr>
          <a:xfrm>
            <a:off x="8257032"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7"/>
          <p:cNvSpPr/>
          <p:nvPr/>
        </p:nvSpPr>
        <p:spPr>
          <a:xfrm>
            <a:off x="8449056"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7"/>
          <p:cNvSpPr/>
          <p:nvPr/>
        </p:nvSpPr>
        <p:spPr>
          <a:xfrm>
            <a:off x="8641080"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7"/>
          <p:cNvSpPr/>
          <p:nvPr/>
        </p:nvSpPr>
        <p:spPr>
          <a:xfrm>
            <a:off x="8833104" y="0"/>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7"/>
          <p:cNvSpPr/>
          <p:nvPr/>
        </p:nvSpPr>
        <p:spPr>
          <a:xfrm>
            <a:off x="9025128" y="0"/>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9" name="Google Shape;259;p7"/>
          <p:cNvSpPr/>
          <p:nvPr/>
        </p:nvSpPr>
        <p:spPr>
          <a:xfrm>
            <a:off x="0"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7"/>
          <p:cNvSpPr/>
          <p:nvPr/>
        </p:nvSpPr>
        <p:spPr>
          <a:xfrm>
            <a:off x="192024"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1" name="Google Shape;261;p7"/>
          <p:cNvSpPr/>
          <p:nvPr/>
        </p:nvSpPr>
        <p:spPr>
          <a:xfrm>
            <a:off x="384048"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7"/>
          <p:cNvSpPr/>
          <p:nvPr/>
        </p:nvSpPr>
        <p:spPr>
          <a:xfrm>
            <a:off x="576072"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7"/>
          <p:cNvSpPr/>
          <p:nvPr/>
        </p:nvSpPr>
        <p:spPr>
          <a:xfrm>
            <a:off x="768096"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4" name="Google Shape;264;p7"/>
          <p:cNvSpPr/>
          <p:nvPr/>
        </p:nvSpPr>
        <p:spPr>
          <a:xfrm>
            <a:off x="960120"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7"/>
          <p:cNvSpPr/>
          <p:nvPr/>
        </p:nvSpPr>
        <p:spPr>
          <a:xfrm>
            <a:off x="1152144"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6" name="Google Shape;266;p7"/>
          <p:cNvSpPr/>
          <p:nvPr/>
        </p:nvSpPr>
        <p:spPr>
          <a:xfrm>
            <a:off x="1344168"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7" name="Google Shape;267;p7"/>
          <p:cNvSpPr/>
          <p:nvPr/>
        </p:nvSpPr>
        <p:spPr>
          <a:xfrm>
            <a:off x="1536192"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7"/>
          <p:cNvSpPr/>
          <p:nvPr/>
        </p:nvSpPr>
        <p:spPr>
          <a:xfrm>
            <a:off x="1728216"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9" name="Google Shape;269;p7"/>
          <p:cNvSpPr/>
          <p:nvPr/>
        </p:nvSpPr>
        <p:spPr>
          <a:xfrm>
            <a:off x="1920240"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0" name="Google Shape;270;p7"/>
          <p:cNvSpPr/>
          <p:nvPr/>
        </p:nvSpPr>
        <p:spPr>
          <a:xfrm>
            <a:off x="2112264"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1" name="Google Shape;271;p7"/>
          <p:cNvSpPr/>
          <p:nvPr/>
        </p:nvSpPr>
        <p:spPr>
          <a:xfrm>
            <a:off x="2304288"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2" name="Google Shape;272;p7"/>
          <p:cNvSpPr/>
          <p:nvPr/>
        </p:nvSpPr>
        <p:spPr>
          <a:xfrm>
            <a:off x="2496312"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7"/>
          <p:cNvSpPr/>
          <p:nvPr/>
        </p:nvSpPr>
        <p:spPr>
          <a:xfrm>
            <a:off x="2688336"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4" name="Google Shape;274;p7"/>
          <p:cNvSpPr/>
          <p:nvPr/>
        </p:nvSpPr>
        <p:spPr>
          <a:xfrm>
            <a:off x="2880360"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5" name="Google Shape;275;p7"/>
          <p:cNvSpPr/>
          <p:nvPr/>
        </p:nvSpPr>
        <p:spPr>
          <a:xfrm>
            <a:off x="3072384"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6" name="Google Shape;276;p7"/>
          <p:cNvSpPr/>
          <p:nvPr/>
        </p:nvSpPr>
        <p:spPr>
          <a:xfrm>
            <a:off x="3264408"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 name="Google Shape;277;p7"/>
          <p:cNvSpPr/>
          <p:nvPr/>
        </p:nvSpPr>
        <p:spPr>
          <a:xfrm>
            <a:off x="3456432"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8" name="Google Shape;278;p7"/>
          <p:cNvSpPr/>
          <p:nvPr/>
        </p:nvSpPr>
        <p:spPr>
          <a:xfrm>
            <a:off x="3648456"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7"/>
          <p:cNvSpPr/>
          <p:nvPr/>
        </p:nvSpPr>
        <p:spPr>
          <a:xfrm>
            <a:off x="3840480"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7"/>
          <p:cNvSpPr/>
          <p:nvPr/>
        </p:nvSpPr>
        <p:spPr>
          <a:xfrm>
            <a:off x="4032504"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7"/>
          <p:cNvSpPr/>
          <p:nvPr/>
        </p:nvSpPr>
        <p:spPr>
          <a:xfrm>
            <a:off x="4224528"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7"/>
          <p:cNvSpPr/>
          <p:nvPr/>
        </p:nvSpPr>
        <p:spPr>
          <a:xfrm>
            <a:off x="4416552"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3" name="Google Shape;283;p7"/>
          <p:cNvSpPr/>
          <p:nvPr/>
        </p:nvSpPr>
        <p:spPr>
          <a:xfrm>
            <a:off x="4608576"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7"/>
          <p:cNvSpPr/>
          <p:nvPr/>
        </p:nvSpPr>
        <p:spPr>
          <a:xfrm>
            <a:off x="4800600"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5" name="Google Shape;285;p7"/>
          <p:cNvSpPr/>
          <p:nvPr/>
        </p:nvSpPr>
        <p:spPr>
          <a:xfrm>
            <a:off x="4992624"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6" name="Google Shape;286;p7"/>
          <p:cNvSpPr/>
          <p:nvPr/>
        </p:nvSpPr>
        <p:spPr>
          <a:xfrm>
            <a:off x="5184648"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7" name="Google Shape;287;p7"/>
          <p:cNvSpPr/>
          <p:nvPr/>
        </p:nvSpPr>
        <p:spPr>
          <a:xfrm>
            <a:off x="5376672"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8" name="Google Shape;288;p7"/>
          <p:cNvSpPr/>
          <p:nvPr/>
        </p:nvSpPr>
        <p:spPr>
          <a:xfrm>
            <a:off x="5568696"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9" name="Google Shape;289;p7"/>
          <p:cNvSpPr/>
          <p:nvPr/>
        </p:nvSpPr>
        <p:spPr>
          <a:xfrm>
            <a:off x="5760720"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0" name="Google Shape;290;p7"/>
          <p:cNvSpPr/>
          <p:nvPr/>
        </p:nvSpPr>
        <p:spPr>
          <a:xfrm>
            <a:off x="5952744"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1" name="Google Shape;291;p7"/>
          <p:cNvSpPr/>
          <p:nvPr/>
        </p:nvSpPr>
        <p:spPr>
          <a:xfrm>
            <a:off x="6144768"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2" name="Google Shape;292;p7"/>
          <p:cNvSpPr/>
          <p:nvPr/>
        </p:nvSpPr>
        <p:spPr>
          <a:xfrm>
            <a:off x="6336792"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7"/>
          <p:cNvSpPr/>
          <p:nvPr/>
        </p:nvSpPr>
        <p:spPr>
          <a:xfrm>
            <a:off x="6528816"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7"/>
          <p:cNvSpPr/>
          <p:nvPr/>
        </p:nvSpPr>
        <p:spPr>
          <a:xfrm>
            <a:off x="6720840"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5" name="Google Shape;295;p7"/>
          <p:cNvSpPr/>
          <p:nvPr/>
        </p:nvSpPr>
        <p:spPr>
          <a:xfrm>
            <a:off x="6912864"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6" name="Google Shape;296;p7"/>
          <p:cNvSpPr/>
          <p:nvPr/>
        </p:nvSpPr>
        <p:spPr>
          <a:xfrm>
            <a:off x="7104888"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7" name="Google Shape;297;p7"/>
          <p:cNvSpPr/>
          <p:nvPr/>
        </p:nvSpPr>
        <p:spPr>
          <a:xfrm>
            <a:off x="7296912"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8" name="Google Shape;298;p7"/>
          <p:cNvSpPr/>
          <p:nvPr/>
        </p:nvSpPr>
        <p:spPr>
          <a:xfrm>
            <a:off x="7488936"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9" name="Google Shape;299;p7"/>
          <p:cNvSpPr/>
          <p:nvPr/>
        </p:nvSpPr>
        <p:spPr>
          <a:xfrm>
            <a:off x="7680960"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0" name="Google Shape;300;p7"/>
          <p:cNvSpPr/>
          <p:nvPr/>
        </p:nvSpPr>
        <p:spPr>
          <a:xfrm>
            <a:off x="7872984"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1" name="Google Shape;301;p7"/>
          <p:cNvSpPr/>
          <p:nvPr/>
        </p:nvSpPr>
        <p:spPr>
          <a:xfrm>
            <a:off x="8065008"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2" name="Google Shape;302;p7"/>
          <p:cNvSpPr/>
          <p:nvPr/>
        </p:nvSpPr>
        <p:spPr>
          <a:xfrm>
            <a:off x="8257032"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3" name="Google Shape;303;p7"/>
          <p:cNvSpPr/>
          <p:nvPr/>
        </p:nvSpPr>
        <p:spPr>
          <a:xfrm>
            <a:off x="8449056"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4" name="Google Shape;304;p7"/>
          <p:cNvSpPr/>
          <p:nvPr/>
        </p:nvSpPr>
        <p:spPr>
          <a:xfrm>
            <a:off x="8641080"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5" name="Google Shape;305;p7"/>
          <p:cNvSpPr/>
          <p:nvPr/>
        </p:nvSpPr>
        <p:spPr>
          <a:xfrm>
            <a:off x="8833104" y="192024"/>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6" name="Google Shape;306;p7"/>
          <p:cNvSpPr/>
          <p:nvPr/>
        </p:nvSpPr>
        <p:spPr>
          <a:xfrm>
            <a:off x="9025128" y="192024"/>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7"/>
          <p:cNvSpPr/>
          <p:nvPr/>
        </p:nvSpPr>
        <p:spPr>
          <a:xfrm>
            <a:off x="0"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8" name="Google Shape;308;p7"/>
          <p:cNvSpPr/>
          <p:nvPr/>
        </p:nvSpPr>
        <p:spPr>
          <a:xfrm>
            <a:off x="192024"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9" name="Google Shape;309;p7"/>
          <p:cNvSpPr/>
          <p:nvPr/>
        </p:nvSpPr>
        <p:spPr>
          <a:xfrm>
            <a:off x="384048"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0" name="Google Shape;310;p7"/>
          <p:cNvSpPr/>
          <p:nvPr/>
        </p:nvSpPr>
        <p:spPr>
          <a:xfrm>
            <a:off x="576072"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1" name="Google Shape;311;p7"/>
          <p:cNvSpPr/>
          <p:nvPr/>
        </p:nvSpPr>
        <p:spPr>
          <a:xfrm>
            <a:off x="768096"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2" name="Google Shape;312;p7"/>
          <p:cNvSpPr/>
          <p:nvPr/>
        </p:nvSpPr>
        <p:spPr>
          <a:xfrm>
            <a:off x="960120"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3" name="Google Shape;313;p7"/>
          <p:cNvSpPr/>
          <p:nvPr/>
        </p:nvSpPr>
        <p:spPr>
          <a:xfrm>
            <a:off x="1152144"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4" name="Google Shape;314;p7"/>
          <p:cNvSpPr/>
          <p:nvPr/>
        </p:nvSpPr>
        <p:spPr>
          <a:xfrm>
            <a:off x="1344168"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5" name="Google Shape;315;p7"/>
          <p:cNvSpPr/>
          <p:nvPr/>
        </p:nvSpPr>
        <p:spPr>
          <a:xfrm>
            <a:off x="1536192"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6" name="Google Shape;316;p7"/>
          <p:cNvSpPr/>
          <p:nvPr/>
        </p:nvSpPr>
        <p:spPr>
          <a:xfrm>
            <a:off x="1728216"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7" name="Google Shape;317;p7"/>
          <p:cNvSpPr/>
          <p:nvPr/>
        </p:nvSpPr>
        <p:spPr>
          <a:xfrm>
            <a:off x="1920240"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8" name="Google Shape;318;p7"/>
          <p:cNvSpPr/>
          <p:nvPr/>
        </p:nvSpPr>
        <p:spPr>
          <a:xfrm>
            <a:off x="2112264"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9" name="Google Shape;319;p7"/>
          <p:cNvSpPr/>
          <p:nvPr/>
        </p:nvSpPr>
        <p:spPr>
          <a:xfrm>
            <a:off x="2304288"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0" name="Google Shape;320;p7"/>
          <p:cNvSpPr/>
          <p:nvPr/>
        </p:nvSpPr>
        <p:spPr>
          <a:xfrm>
            <a:off x="2496312"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1" name="Google Shape;321;p7"/>
          <p:cNvSpPr/>
          <p:nvPr/>
        </p:nvSpPr>
        <p:spPr>
          <a:xfrm>
            <a:off x="2688336"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2" name="Google Shape;322;p7"/>
          <p:cNvSpPr/>
          <p:nvPr/>
        </p:nvSpPr>
        <p:spPr>
          <a:xfrm>
            <a:off x="2880360"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3" name="Google Shape;323;p7"/>
          <p:cNvSpPr/>
          <p:nvPr/>
        </p:nvSpPr>
        <p:spPr>
          <a:xfrm>
            <a:off x="3072384"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4" name="Google Shape;324;p7"/>
          <p:cNvSpPr/>
          <p:nvPr/>
        </p:nvSpPr>
        <p:spPr>
          <a:xfrm>
            <a:off x="3264408"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5" name="Google Shape;325;p7"/>
          <p:cNvSpPr/>
          <p:nvPr/>
        </p:nvSpPr>
        <p:spPr>
          <a:xfrm>
            <a:off x="3456432"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6" name="Google Shape;326;p7"/>
          <p:cNvSpPr/>
          <p:nvPr/>
        </p:nvSpPr>
        <p:spPr>
          <a:xfrm>
            <a:off x="3648456"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7" name="Google Shape;327;p7"/>
          <p:cNvSpPr/>
          <p:nvPr/>
        </p:nvSpPr>
        <p:spPr>
          <a:xfrm>
            <a:off x="3840480"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8" name="Google Shape;328;p7"/>
          <p:cNvSpPr/>
          <p:nvPr/>
        </p:nvSpPr>
        <p:spPr>
          <a:xfrm>
            <a:off x="4032504"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9" name="Google Shape;329;p7"/>
          <p:cNvSpPr/>
          <p:nvPr/>
        </p:nvSpPr>
        <p:spPr>
          <a:xfrm>
            <a:off x="4224528"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0" name="Google Shape;330;p7"/>
          <p:cNvSpPr/>
          <p:nvPr/>
        </p:nvSpPr>
        <p:spPr>
          <a:xfrm>
            <a:off x="4416552"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1" name="Google Shape;331;p7"/>
          <p:cNvSpPr/>
          <p:nvPr/>
        </p:nvSpPr>
        <p:spPr>
          <a:xfrm>
            <a:off x="4608576"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2" name="Google Shape;332;p7"/>
          <p:cNvSpPr/>
          <p:nvPr/>
        </p:nvSpPr>
        <p:spPr>
          <a:xfrm>
            <a:off x="4800600"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3" name="Google Shape;333;p7"/>
          <p:cNvSpPr/>
          <p:nvPr/>
        </p:nvSpPr>
        <p:spPr>
          <a:xfrm>
            <a:off x="4992624"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4" name="Google Shape;334;p7"/>
          <p:cNvSpPr/>
          <p:nvPr/>
        </p:nvSpPr>
        <p:spPr>
          <a:xfrm>
            <a:off x="5184648"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5" name="Google Shape;335;p7"/>
          <p:cNvSpPr/>
          <p:nvPr/>
        </p:nvSpPr>
        <p:spPr>
          <a:xfrm>
            <a:off x="5376672"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6" name="Google Shape;336;p7"/>
          <p:cNvSpPr/>
          <p:nvPr/>
        </p:nvSpPr>
        <p:spPr>
          <a:xfrm>
            <a:off x="5568696"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7" name="Google Shape;337;p7"/>
          <p:cNvSpPr/>
          <p:nvPr/>
        </p:nvSpPr>
        <p:spPr>
          <a:xfrm>
            <a:off x="5760720"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8" name="Google Shape;338;p7"/>
          <p:cNvSpPr/>
          <p:nvPr/>
        </p:nvSpPr>
        <p:spPr>
          <a:xfrm>
            <a:off x="5952744"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9" name="Google Shape;339;p7"/>
          <p:cNvSpPr/>
          <p:nvPr/>
        </p:nvSpPr>
        <p:spPr>
          <a:xfrm>
            <a:off x="6144768"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0" name="Google Shape;340;p7"/>
          <p:cNvSpPr/>
          <p:nvPr/>
        </p:nvSpPr>
        <p:spPr>
          <a:xfrm>
            <a:off x="6336792"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1" name="Google Shape;341;p7"/>
          <p:cNvSpPr/>
          <p:nvPr/>
        </p:nvSpPr>
        <p:spPr>
          <a:xfrm>
            <a:off x="6528816"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2" name="Google Shape;342;p7"/>
          <p:cNvSpPr/>
          <p:nvPr/>
        </p:nvSpPr>
        <p:spPr>
          <a:xfrm>
            <a:off x="6720840"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3" name="Google Shape;343;p7"/>
          <p:cNvSpPr/>
          <p:nvPr/>
        </p:nvSpPr>
        <p:spPr>
          <a:xfrm>
            <a:off x="6912864"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4" name="Google Shape;344;p7"/>
          <p:cNvSpPr/>
          <p:nvPr/>
        </p:nvSpPr>
        <p:spPr>
          <a:xfrm>
            <a:off x="7104888"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5" name="Google Shape;345;p7"/>
          <p:cNvSpPr/>
          <p:nvPr/>
        </p:nvSpPr>
        <p:spPr>
          <a:xfrm>
            <a:off x="7296912"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6" name="Google Shape;346;p7"/>
          <p:cNvSpPr/>
          <p:nvPr/>
        </p:nvSpPr>
        <p:spPr>
          <a:xfrm>
            <a:off x="7488936"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7" name="Google Shape;347;p7"/>
          <p:cNvSpPr/>
          <p:nvPr/>
        </p:nvSpPr>
        <p:spPr>
          <a:xfrm>
            <a:off x="7680960"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8" name="Google Shape;348;p7"/>
          <p:cNvSpPr/>
          <p:nvPr/>
        </p:nvSpPr>
        <p:spPr>
          <a:xfrm>
            <a:off x="7872984"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9" name="Google Shape;349;p7"/>
          <p:cNvSpPr/>
          <p:nvPr/>
        </p:nvSpPr>
        <p:spPr>
          <a:xfrm>
            <a:off x="8065008"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0" name="Google Shape;350;p7"/>
          <p:cNvSpPr/>
          <p:nvPr/>
        </p:nvSpPr>
        <p:spPr>
          <a:xfrm>
            <a:off x="8257032"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1" name="Google Shape;351;p7"/>
          <p:cNvSpPr/>
          <p:nvPr/>
        </p:nvSpPr>
        <p:spPr>
          <a:xfrm>
            <a:off x="8449056"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2" name="Google Shape;352;p7"/>
          <p:cNvSpPr/>
          <p:nvPr/>
        </p:nvSpPr>
        <p:spPr>
          <a:xfrm>
            <a:off x="8641080"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3" name="Google Shape;353;p7"/>
          <p:cNvSpPr/>
          <p:nvPr/>
        </p:nvSpPr>
        <p:spPr>
          <a:xfrm>
            <a:off x="8833104" y="384048"/>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4" name="Google Shape;354;p7"/>
          <p:cNvSpPr/>
          <p:nvPr/>
        </p:nvSpPr>
        <p:spPr>
          <a:xfrm>
            <a:off x="9025128" y="384048"/>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5" name="Google Shape;355;p7"/>
          <p:cNvSpPr/>
          <p:nvPr/>
        </p:nvSpPr>
        <p:spPr>
          <a:xfrm>
            <a:off x="0"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6" name="Google Shape;356;p7"/>
          <p:cNvSpPr/>
          <p:nvPr/>
        </p:nvSpPr>
        <p:spPr>
          <a:xfrm>
            <a:off x="192024"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7" name="Google Shape;357;p7"/>
          <p:cNvSpPr/>
          <p:nvPr/>
        </p:nvSpPr>
        <p:spPr>
          <a:xfrm>
            <a:off x="384048"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8" name="Google Shape;358;p7"/>
          <p:cNvSpPr/>
          <p:nvPr/>
        </p:nvSpPr>
        <p:spPr>
          <a:xfrm>
            <a:off x="576072"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9" name="Google Shape;359;p7"/>
          <p:cNvSpPr/>
          <p:nvPr/>
        </p:nvSpPr>
        <p:spPr>
          <a:xfrm>
            <a:off x="768096"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0" name="Google Shape;360;p7"/>
          <p:cNvSpPr/>
          <p:nvPr/>
        </p:nvSpPr>
        <p:spPr>
          <a:xfrm>
            <a:off x="960120"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1" name="Google Shape;361;p7"/>
          <p:cNvSpPr/>
          <p:nvPr/>
        </p:nvSpPr>
        <p:spPr>
          <a:xfrm>
            <a:off x="1152144"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2" name="Google Shape;362;p7"/>
          <p:cNvSpPr/>
          <p:nvPr/>
        </p:nvSpPr>
        <p:spPr>
          <a:xfrm>
            <a:off x="1344168"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3" name="Google Shape;363;p7"/>
          <p:cNvSpPr/>
          <p:nvPr/>
        </p:nvSpPr>
        <p:spPr>
          <a:xfrm>
            <a:off x="1536192"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4" name="Google Shape;364;p7"/>
          <p:cNvSpPr/>
          <p:nvPr/>
        </p:nvSpPr>
        <p:spPr>
          <a:xfrm>
            <a:off x="1728216"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5" name="Google Shape;365;p7"/>
          <p:cNvSpPr/>
          <p:nvPr/>
        </p:nvSpPr>
        <p:spPr>
          <a:xfrm>
            <a:off x="1920240"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6" name="Google Shape;366;p7"/>
          <p:cNvSpPr/>
          <p:nvPr/>
        </p:nvSpPr>
        <p:spPr>
          <a:xfrm>
            <a:off x="2112264"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7" name="Google Shape;367;p7"/>
          <p:cNvSpPr/>
          <p:nvPr/>
        </p:nvSpPr>
        <p:spPr>
          <a:xfrm>
            <a:off x="2304288"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8" name="Google Shape;368;p7"/>
          <p:cNvSpPr/>
          <p:nvPr/>
        </p:nvSpPr>
        <p:spPr>
          <a:xfrm>
            <a:off x="2496312"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9" name="Google Shape;369;p7"/>
          <p:cNvSpPr/>
          <p:nvPr/>
        </p:nvSpPr>
        <p:spPr>
          <a:xfrm>
            <a:off x="2688336"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0" name="Google Shape;370;p7"/>
          <p:cNvSpPr/>
          <p:nvPr/>
        </p:nvSpPr>
        <p:spPr>
          <a:xfrm>
            <a:off x="2880360"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1" name="Google Shape;371;p7"/>
          <p:cNvSpPr/>
          <p:nvPr/>
        </p:nvSpPr>
        <p:spPr>
          <a:xfrm>
            <a:off x="3072384"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2" name="Google Shape;372;p7"/>
          <p:cNvSpPr/>
          <p:nvPr/>
        </p:nvSpPr>
        <p:spPr>
          <a:xfrm>
            <a:off x="3264408"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3" name="Google Shape;373;p7"/>
          <p:cNvSpPr/>
          <p:nvPr/>
        </p:nvSpPr>
        <p:spPr>
          <a:xfrm>
            <a:off x="3456432"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4" name="Google Shape;374;p7"/>
          <p:cNvSpPr/>
          <p:nvPr/>
        </p:nvSpPr>
        <p:spPr>
          <a:xfrm>
            <a:off x="3648456"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5" name="Google Shape;375;p7"/>
          <p:cNvSpPr/>
          <p:nvPr/>
        </p:nvSpPr>
        <p:spPr>
          <a:xfrm>
            <a:off x="3840480"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6" name="Google Shape;376;p7"/>
          <p:cNvSpPr/>
          <p:nvPr/>
        </p:nvSpPr>
        <p:spPr>
          <a:xfrm>
            <a:off x="4032504"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7" name="Google Shape;377;p7"/>
          <p:cNvSpPr/>
          <p:nvPr/>
        </p:nvSpPr>
        <p:spPr>
          <a:xfrm>
            <a:off x="4224528"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8" name="Google Shape;378;p7"/>
          <p:cNvSpPr/>
          <p:nvPr/>
        </p:nvSpPr>
        <p:spPr>
          <a:xfrm>
            <a:off x="4416552"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9" name="Google Shape;379;p7"/>
          <p:cNvSpPr/>
          <p:nvPr/>
        </p:nvSpPr>
        <p:spPr>
          <a:xfrm>
            <a:off x="4608576"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0" name="Google Shape;380;p7"/>
          <p:cNvSpPr/>
          <p:nvPr/>
        </p:nvSpPr>
        <p:spPr>
          <a:xfrm>
            <a:off x="4800600"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1" name="Google Shape;381;p7"/>
          <p:cNvSpPr/>
          <p:nvPr/>
        </p:nvSpPr>
        <p:spPr>
          <a:xfrm>
            <a:off x="4992624"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2" name="Google Shape;382;p7"/>
          <p:cNvSpPr/>
          <p:nvPr/>
        </p:nvSpPr>
        <p:spPr>
          <a:xfrm>
            <a:off x="5184648"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3" name="Google Shape;383;p7"/>
          <p:cNvSpPr/>
          <p:nvPr/>
        </p:nvSpPr>
        <p:spPr>
          <a:xfrm>
            <a:off x="5376672"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4" name="Google Shape;384;p7"/>
          <p:cNvSpPr/>
          <p:nvPr/>
        </p:nvSpPr>
        <p:spPr>
          <a:xfrm>
            <a:off x="5568696"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5" name="Google Shape;385;p7"/>
          <p:cNvSpPr/>
          <p:nvPr/>
        </p:nvSpPr>
        <p:spPr>
          <a:xfrm>
            <a:off x="5760720"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6" name="Google Shape;386;p7"/>
          <p:cNvSpPr/>
          <p:nvPr/>
        </p:nvSpPr>
        <p:spPr>
          <a:xfrm>
            <a:off x="5952744"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7" name="Google Shape;387;p7"/>
          <p:cNvSpPr/>
          <p:nvPr/>
        </p:nvSpPr>
        <p:spPr>
          <a:xfrm>
            <a:off x="6144768"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8" name="Google Shape;388;p7"/>
          <p:cNvSpPr/>
          <p:nvPr/>
        </p:nvSpPr>
        <p:spPr>
          <a:xfrm>
            <a:off x="6336792"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9" name="Google Shape;389;p7"/>
          <p:cNvSpPr/>
          <p:nvPr/>
        </p:nvSpPr>
        <p:spPr>
          <a:xfrm>
            <a:off x="6528816"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0" name="Google Shape;390;p7"/>
          <p:cNvSpPr/>
          <p:nvPr/>
        </p:nvSpPr>
        <p:spPr>
          <a:xfrm>
            <a:off x="6720840"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1" name="Google Shape;391;p7"/>
          <p:cNvSpPr/>
          <p:nvPr/>
        </p:nvSpPr>
        <p:spPr>
          <a:xfrm>
            <a:off x="6912864"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2" name="Google Shape;392;p7"/>
          <p:cNvSpPr/>
          <p:nvPr/>
        </p:nvSpPr>
        <p:spPr>
          <a:xfrm>
            <a:off x="7104888"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3" name="Google Shape;393;p7"/>
          <p:cNvSpPr/>
          <p:nvPr/>
        </p:nvSpPr>
        <p:spPr>
          <a:xfrm>
            <a:off x="7296912"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4" name="Google Shape;394;p7"/>
          <p:cNvSpPr/>
          <p:nvPr/>
        </p:nvSpPr>
        <p:spPr>
          <a:xfrm>
            <a:off x="7488936"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5" name="Google Shape;395;p7"/>
          <p:cNvSpPr/>
          <p:nvPr/>
        </p:nvSpPr>
        <p:spPr>
          <a:xfrm>
            <a:off x="7680960"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6" name="Google Shape;396;p7"/>
          <p:cNvSpPr/>
          <p:nvPr/>
        </p:nvSpPr>
        <p:spPr>
          <a:xfrm>
            <a:off x="7872984"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7" name="Google Shape;397;p7"/>
          <p:cNvSpPr/>
          <p:nvPr/>
        </p:nvSpPr>
        <p:spPr>
          <a:xfrm>
            <a:off x="8065008"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8" name="Google Shape;398;p7"/>
          <p:cNvSpPr/>
          <p:nvPr/>
        </p:nvSpPr>
        <p:spPr>
          <a:xfrm>
            <a:off x="8257032"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9" name="Google Shape;399;p7"/>
          <p:cNvSpPr/>
          <p:nvPr/>
        </p:nvSpPr>
        <p:spPr>
          <a:xfrm>
            <a:off x="8449056"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0" name="Google Shape;400;p7"/>
          <p:cNvSpPr/>
          <p:nvPr/>
        </p:nvSpPr>
        <p:spPr>
          <a:xfrm>
            <a:off x="8641080"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1" name="Google Shape;401;p7"/>
          <p:cNvSpPr/>
          <p:nvPr/>
        </p:nvSpPr>
        <p:spPr>
          <a:xfrm>
            <a:off x="8833104" y="4951476"/>
            <a:ext cx="192000" cy="192000"/>
          </a:xfrm>
          <a:prstGeom prst="rect">
            <a:avLst/>
          </a:prstGeom>
          <a:solidFill>
            <a:srgbClr val="14142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2" name="Google Shape;402;p7"/>
          <p:cNvSpPr/>
          <p:nvPr/>
        </p:nvSpPr>
        <p:spPr>
          <a:xfrm>
            <a:off x="9025128" y="4951476"/>
            <a:ext cx="192000" cy="192000"/>
          </a:xfrm>
          <a:prstGeom prst="rect">
            <a:avLst/>
          </a:prstGeom>
          <a:solidFill>
            <a:srgbClr val="1B1B2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3" name="Google Shape;403;p7"/>
          <p:cNvSpPr/>
          <p:nvPr/>
        </p:nvSpPr>
        <p:spPr>
          <a:xfrm>
            <a:off x="240030" y="240030"/>
            <a:ext cx="342900" cy="618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4" name="Google Shape;404;p7"/>
          <p:cNvSpPr/>
          <p:nvPr/>
        </p:nvSpPr>
        <p:spPr>
          <a:xfrm>
            <a:off x="178308" y="240030"/>
            <a:ext cx="61800" cy="3429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5" name="Google Shape;405;p7"/>
          <p:cNvSpPr/>
          <p:nvPr/>
        </p:nvSpPr>
        <p:spPr>
          <a:xfrm>
            <a:off x="8558784" y="240030"/>
            <a:ext cx="342900" cy="618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6" name="Google Shape;406;p7"/>
          <p:cNvSpPr/>
          <p:nvPr/>
        </p:nvSpPr>
        <p:spPr>
          <a:xfrm>
            <a:off x="8901684" y="240030"/>
            <a:ext cx="61800" cy="3429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7" name="Google Shape;407;p7"/>
          <p:cNvSpPr/>
          <p:nvPr/>
        </p:nvSpPr>
        <p:spPr>
          <a:xfrm>
            <a:off x="240030" y="4841748"/>
            <a:ext cx="342900" cy="618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8" name="Google Shape;408;p7"/>
          <p:cNvSpPr/>
          <p:nvPr/>
        </p:nvSpPr>
        <p:spPr>
          <a:xfrm>
            <a:off x="178308" y="4560570"/>
            <a:ext cx="61800" cy="3429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9" name="Google Shape;409;p7"/>
          <p:cNvSpPr/>
          <p:nvPr/>
        </p:nvSpPr>
        <p:spPr>
          <a:xfrm>
            <a:off x="8558784" y="4841748"/>
            <a:ext cx="342900" cy="618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0" name="Google Shape;410;p7"/>
          <p:cNvSpPr/>
          <p:nvPr/>
        </p:nvSpPr>
        <p:spPr>
          <a:xfrm>
            <a:off x="8901684" y="4560570"/>
            <a:ext cx="61800" cy="3429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1" name="Google Shape;411;p7"/>
          <p:cNvSpPr/>
          <p:nvPr/>
        </p:nvSpPr>
        <p:spPr>
          <a:xfrm>
            <a:off x="4090797" y="1474470"/>
            <a:ext cx="960000" cy="96000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2" name="Google Shape;412;p7"/>
          <p:cNvSpPr/>
          <p:nvPr/>
        </p:nvSpPr>
        <p:spPr>
          <a:xfrm>
            <a:off x="4167607" y="1551280"/>
            <a:ext cx="806400" cy="806400"/>
          </a:xfrm>
          <a:prstGeom prst="rect">
            <a:avLst/>
          </a:prstGeom>
          <a:solidFill>
            <a:srgbClr val="C9793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3" name="Google Shape;413;p7"/>
          <p:cNvSpPr/>
          <p:nvPr/>
        </p:nvSpPr>
        <p:spPr>
          <a:xfrm rot="2700000">
            <a:off x="4517188" y="1532037"/>
            <a:ext cx="107339" cy="84471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4" name="Google Shape;414;p7"/>
          <p:cNvSpPr/>
          <p:nvPr/>
        </p:nvSpPr>
        <p:spPr>
          <a:xfrm rot="-2700000">
            <a:off x="4517049" y="1532175"/>
            <a:ext cx="107339" cy="844710"/>
          </a:xfrm>
          <a:prstGeom prst="rect">
            <a:avLst/>
          </a:prstGeom>
          <a:solidFill>
            <a:srgbClr val="8C53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5" name="Google Shape;415;p7"/>
          <p:cNvSpPr/>
          <p:nvPr/>
        </p:nvSpPr>
        <p:spPr>
          <a:xfrm>
            <a:off x="4196411" y="1580084"/>
            <a:ext cx="105600" cy="1056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6" name="Google Shape;416;p7"/>
          <p:cNvSpPr/>
          <p:nvPr/>
        </p:nvSpPr>
        <p:spPr>
          <a:xfrm>
            <a:off x="4839691" y="1580084"/>
            <a:ext cx="105600" cy="1056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7" name="Google Shape;417;p7"/>
          <p:cNvSpPr/>
          <p:nvPr/>
        </p:nvSpPr>
        <p:spPr>
          <a:xfrm>
            <a:off x="4196411" y="2223364"/>
            <a:ext cx="105600" cy="1056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8" name="Google Shape;418;p7"/>
          <p:cNvSpPr/>
          <p:nvPr/>
        </p:nvSpPr>
        <p:spPr>
          <a:xfrm>
            <a:off x="4839691" y="2223364"/>
            <a:ext cx="105600" cy="105600"/>
          </a:xfrm>
          <a:prstGeom prst="rect">
            <a:avLst/>
          </a:prstGeom>
          <a:solidFill>
            <a:srgbClr val="E3A0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9" name="Google Shape;419;p7"/>
          <p:cNvSpPr txBox="1"/>
          <p:nvPr>
            <p:ph type="title"/>
          </p:nvPr>
        </p:nvSpPr>
        <p:spPr>
          <a:xfrm>
            <a:off x="685800" y="2743200"/>
            <a:ext cx="7770000" cy="6858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Clr>
                <a:srgbClr val="F4E9D8"/>
              </a:buClr>
              <a:buSzPts val="2900"/>
              <a:buFont typeface="Courier New"/>
              <a:buNone/>
              <a:defRPr b="1" i="0" sz="2900" u="none" cap="none" strike="noStrike">
                <a:solidFill>
                  <a:srgbClr val="F4E9D8"/>
                </a:solidFill>
                <a:latin typeface="Courier New"/>
                <a:ea typeface="Courier New"/>
                <a:cs typeface="Courier New"/>
                <a:sym typeface="Courier New"/>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420" name="Google Shape;420;p7"/>
          <p:cNvSpPr txBox="1"/>
          <p:nvPr>
            <p:ph idx="1" type="body"/>
          </p:nvPr>
        </p:nvSpPr>
        <p:spPr>
          <a:xfrm>
            <a:off x="1028700" y="3429000"/>
            <a:ext cx="7084200" cy="411600"/>
          </a:xfrm>
          <a:prstGeom prst="rect">
            <a:avLst/>
          </a:prstGeom>
          <a:noFill/>
          <a:ln>
            <a:noFill/>
          </a:ln>
        </p:spPr>
        <p:txBody>
          <a:bodyPr anchorCtr="0" anchor="t" bIns="34275" lIns="68575" spcFirstLastPara="1" rIns="68575" wrap="square" tIns="34275">
            <a:noAutofit/>
          </a:bodyPr>
          <a:lstStyle>
            <a:lvl1pPr indent="-228600" lvl="0" marL="457200" marR="0" rtl="0" algn="ctr">
              <a:spcBef>
                <a:spcPts val="200"/>
              </a:spcBef>
              <a:spcAft>
                <a:spcPts val="0"/>
              </a:spcAft>
              <a:buClr>
                <a:srgbClr val="5FB86D"/>
              </a:buClr>
              <a:buSzPts val="1100"/>
              <a:buFont typeface="Arial"/>
              <a:buNone/>
              <a:defRPr b="0" i="0" sz="1100" u="none" cap="none" strike="noStrike">
                <a:solidFill>
                  <a:srgbClr val="5FB86D"/>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1" name="Shape 42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2" name="Shape 422"/>
        <p:cNvGrpSpPr/>
        <p:nvPr/>
      </p:nvGrpSpPr>
      <p:grpSpPr>
        <a:xfrm>
          <a:off x="0" y="0"/>
          <a:ext cx="0" cy="0"/>
          <a:chOff x="0" y="0"/>
          <a:chExt cx="0" cy="0"/>
        </a:xfrm>
      </p:grpSpPr>
      <p:sp>
        <p:nvSpPr>
          <p:cNvPr id="423" name="Google Shape;423;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424" name="Google Shape;424;p9"/>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25" name="Google Shape;42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23.png"/><Relationship Id="rId7" Type="http://schemas.openxmlformats.org/officeDocument/2006/relationships/hyperlink" Target="http://sokobano.de/wiki/index.php?title=How_to_detect_deadlock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6.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okobano.de" TargetMode="External"/><Relationship Id="rId4" Type="http://schemas.openxmlformats.org/officeDocument/2006/relationships/hyperlink" Target="http://sokobano.de/wiki/index.php?title=Sok_format#Board_Text_Lines" TargetMode="External"/><Relationship Id="rId5" Type="http://schemas.openxmlformats.org/officeDocument/2006/relationships/hyperlink" Target="http://sokobano.de/results/table.php?set=microban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36.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35.gif"/><Relationship Id="rId6" Type="http://schemas.openxmlformats.org/officeDocument/2006/relationships/image" Target="../media/image38.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34.png"/><Relationship Id="rId5" Type="http://schemas.openxmlformats.org/officeDocument/2006/relationships/image" Target="../media/image27.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21.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1.png"/><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39.png"/><Relationship Id="rId6"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0"/>
          <p:cNvSpPr txBox="1"/>
          <p:nvPr>
            <p:ph type="title"/>
          </p:nvPr>
        </p:nvSpPr>
        <p:spPr>
          <a:xfrm>
            <a:off x="685800" y="2434590"/>
            <a:ext cx="7770000" cy="8916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s"/>
              <a:t>SIA TP1</a:t>
            </a:r>
            <a:endParaRPr/>
          </a:p>
        </p:txBody>
      </p:sp>
      <p:sp>
        <p:nvSpPr>
          <p:cNvPr id="431" name="Google Shape;431;p10"/>
          <p:cNvSpPr txBox="1"/>
          <p:nvPr>
            <p:ph idx="1" type="body"/>
          </p:nvPr>
        </p:nvSpPr>
        <p:spPr>
          <a:xfrm>
            <a:off x="1028700" y="3326130"/>
            <a:ext cx="7084200" cy="411600"/>
          </a:xfrm>
          <a:prstGeom prst="rect">
            <a:avLst/>
          </a:prstGeom>
        </p:spPr>
        <p:txBody>
          <a:bodyPr anchorCtr="0" anchor="t" bIns="34275" lIns="68575" spcFirstLastPara="1" rIns="68575" wrap="square" tIns="34275">
            <a:noAutofit/>
          </a:bodyPr>
          <a:lstStyle/>
          <a:p>
            <a:pPr indent="0" lvl="0" marL="0" rtl="0" algn="ctr">
              <a:spcBef>
                <a:spcPts val="200"/>
              </a:spcBef>
              <a:spcAft>
                <a:spcPts val="0"/>
              </a:spcAft>
              <a:buNone/>
            </a:pPr>
            <a:r>
              <a:rPr lang="es">
                <a:latin typeface="Pixelify Sans"/>
                <a:ea typeface="Pixelify Sans"/>
                <a:cs typeface="Pixelify Sans"/>
                <a:sym typeface="Pixelify Sans"/>
              </a:rPr>
              <a:t>Nicolás Rivas </a:t>
            </a:r>
            <a:r>
              <a:rPr lang="es">
                <a:solidFill>
                  <a:srgbClr val="F4E9D8"/>
                </a:solidFill>
                <a:latin typeface="Pixelify Sans"/>
                <a:ea typeface="Pixelify Sans"/>
                <a:cs typeface="Pixelify Sans"/>
                <a:sym typeface="Pixelify Sans"/>
              </a:rPr>
              <a:t>-</a:t>
            </a:r>
            <a:r>
              <a:rPr lang="es">
                <a:latin typeface="Pixelify Sans"/>
                <a:ea typeface="Pixelify Sans"/>
                <a:cs typeface="Pixelify Sans"/>
                <a:sym typeface="Pixelify Sans"/>
              </a:rPr>
              <a:t> Lautaro Bonseñor </a:t>
            </a:r>
            <a:r>
              <a:rPr lang="es">
                <a:solidFill>
                  <a:srgbClr val="F4E9D8"/>
                </a:solidFill>
                <a:latin typeface="Pixelify Sans"/>
                <a:ea typeface="Pixelify Sans"/>
                <a:cs typeface="Pixelify Sans"/>
                <a:sym typeface="Pixelify Sans"/>
              </a:rPr>
              <a:t>-</a:t>
            </a:r>
            <a:r>
              <a:rPr lang="es">
                <a:latin typeface="Pixelify Sans"/>
                <a:ea typeface="Pixelify Sans"/>
                <a:cs typeface="Pixelify Sans"/>
                <a:sym typeface="Pixelify Sans"/>
              </a:rPr>
              <a:t> Juan Ignacio Causse</a:t>
            </a:r>
            <a:endParaRPr>
              <a:latin typeface="Pixelify Sans"/>
              <a:ea typeface="Pixelify Sans"/>
              <a:cs typeface="Pixelify Sans"/>
              <a:sym typeface="Pixelify Sans"/>
            </a:endParaRPr>
          </a:p>
          <a:p>
            <a:pPr indent="0" lvl="0" marL="0" rtl="0" algn="ctr">
              <a:spcBef>
                <a:spcPts val="200"/>
              </a:spcBef>
              <a:spcAft>
                <a:spcPts val="0"/>
              </a:spcAft>
              <a:buNone/>
            </a:pPr>
            <a:r>
              <a:rPr lang="es">
                <a:latin typeface="Pixelify Sans"/>
                <a:ea typeface="Pixelify Sans"/>
                <a:cs typeface="Pixelify Sans"/>
                <a:sym typeface="Pixelify Sans"/>
              </a:rPr>
              <a:t>Javier Emmanuel Liu </a:t>
            </a:r>
            <a:r>
              <a:rPr lang="es">
                <a:solidFill>
                  <a:srgbClr val="E6D6BC"/>
                </a:solidFill>
                <a:latin typeface="Pixelify Sans"/>
                <a:ea typeface="Pixelify Sans"/>
                <a:cs typeface="Pixelify Sans"/>
                <a:sym typeface="Pixelify Sans"/>
              </a:rPr>
              <a:t>- </a:t>
            </a:r>
            <a:r>
              <a:rPr lang="es">
                <a:solidFill>
                  <a:srgbClr val="5FB86D"/>
                </a:solidFill>
                <a:latin typeface="Pixelify Sans"/>
                <a:ea typeface="Pixelify Sans"/>
                <a:cs typeface="Pixelify Sans"/>
                <a:sym typeface="Pixelify Sans"/>
              </a:rPr>
              <a:t>Augusto Andrés Lanari</a:t>
            </a:r>
            <a:endParaRPr>
              <a:solidFill>
                <a:srgbClr val="5FB86D"/>
              </a:solidFill>
              <a:latin typeface="Pixelify Sans"/>
              <a:ea typeface="Pixelify Sans"/>
              <a:cs typeface="Pixelify Sans"/>
              <a:sym typeface="Pixelify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11"/>
          <p:cNvSpPr txBox="1"/>
          <p:nvPr>
            <p:ph type="title"/>
          </p:nvPr>
        </p:nvSpPr>
        <p:spPr>
          <a:xfrm>
            <a:off x="2194560" y="2091690"/>
            <a:ext cx="6124200" cy="891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8-Puzzle</a:t>
            </a:r>
            <a:endParaRPr/>
          </a:p>
        </p:txBody>
      </p:sp>
      <p:sp>
        <p:nvSpPr>
          <p:cNvPr id="437" name="Google Shape;437;p11"/>
          <p:cNvSpPr txBox="1"/>
          <p:nvPr>
            <p:ph idx="1" type="body"/>
          </p:nvPr>
        </p:nvSpPr>
        <p:spPr>
          <a:xfrm>
            <a:off x="2194560" y="1748790"/>
            <a:ext cx="6261300" cy="3429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t>Parte 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12"/>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Estructura de Estado - </a:t>
            </a:r>
            <a:r>
              <a:rPr lang="es"/>
              <a:t>Tupla de 9 enteros</a:t>
            </a:r>
            <a:endParaRPr/>
          </a:p>
        </p:txBody>
      </p:sp>
      <p:sp>
        <p:nvSpPr>
          <p:cNvPr id="443" name="Google Shape;443;p12"/>
          <p:cNvSpPr txBox="1"/>
          <p:nvPr>
            <p:ph idx="1" type="body"/>
          </p:nvPr>
        </p:nvSpPr>
        <p:spPr>
          <a:xfrm>
            <a:off x="325225" y="1575750"/>
            <a:ext cx="6121500" cy="19920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Clr>
                <a:schemeClr val="dk1"/>
              </a:buClr>
              <a:buSzPts val="1100"/>
              <a:buFont typeface="Arial"/>
              <a:buNone/>
            </a:pPr>
            <a:r>
              <a:rPr lang="es" sz="1700">
                <a:solidFill>
                  <a:schemeClr val="dk1"/>
                </a:solidFill>
                <a:latin typeface="Pixelify Sans"/>
                <a:ea typeface="Pixelify Sans"/>
                <a:cs typeface="Pixelify Sans"/>
                <a:sym typeface="Pixelify Sans"/>
              </a:rPr>
              <a:t>Ventajas por sobre una matriz 3×3:</a:t>
            </a:r>
            <a:endParaRPr sz="1700">
              <a:solidFill>
                <a:schemeClr val="dk1"/>
              </a:solidFill>
              <a:latin typeface="Pixelify Sans"/>
              <a:ea typeface="Pixelify Sans"/>
              <a:cs typeface="Pixelify Sans"/>
              <a:sym typeface="Pixelify Sans"/>
            </a:endParaRPr>
          </a:p>
          <a:p>
            <a:pPr indent="-342900" lvl="0" marL="457200" rtl="0" algn="l">
              <a:spcBef>
                <a:spcPts val="200"/>
              </a:spcBef>
              <a:spcAft>
                <a:spcPts val="0"/>
              </a:spcAft>
              <a:buSzPts val="1800"/>
              <a:buFont typeface="Consolas"/>
              <a:buChar char="❏"/>
            </a:pPr>
            <a:r>
              <a:rPr lang="es" sz="1800">
                <a:solidFill>
                  <a:schemeClr val="dk1"/>
                </a:solidFill>
                <a:latin typeface="Consolas"/>
                <a:ea typeface="Consolas"/>
                <a:cs typeface="Consolas"/>
                <a:sym typeface="Consolas"/>
              </a:rPr>
              <a:t>E</a:t>
            </a:r>
            <a:r>
              <a:rPr lang="es" sz="1800">
                <a:solidFill>
                  <a:schemeClr val="dk1"/>
                </a:solidFill>
                <a:latin typeface="Consolas"/>
                <a:ea typeface="Consolas"/>
                <a:cs typeface="Consolas"/>
                <a:sym typeface="Consolas"/>
              </a:rPr>
              <a:t>s inmutable</a:t>
            </a:r>
            <a:endParaRPr sz="1800">
              <a:solidFill>
                <a:schemeClr val="dk1"/>
              </a:solidFill>
              <a:latin typeface="Consolas"/>
              <a:ea typeface="Consolas"/>
              <a:cs typeface="Consolas"/>
              <a:sym typeface="Consolas"/>
            </a:endParaRPr>
          </a:p>
          <a:p>
            <a:pPr indent="-342900" lvl="0" marL="457200" rtl="0" algn="l">
              <a:spcBef>
                <a:spcPts val="0"/>
              </a:spcBef>
              <a:spcAft>
                <a:spcPts val="0"/>
              </a:spcAft>
              <a:buSzPts val="1800"/>
              <a:buFont typeface="Consolas"/>
              <a:buChar char="❏"/>
            </a:pPr>
            <a:r>
              <a:rPr lang="es" sz="1800">
                <a:solidFill>
                  <a:schemeClr val="dk1"/>
                </a:solidFill>
                <a:latin typeface="Consolas"/>
                <a:ea typeface="Consolas"/>
                <a:cs typeface="Consolas"/>
                <a:sym typeface="Consolas"/>
              </a:rPr>
              <a:t>Se puede usar como clave de un </a:t>
            </a:r>
            <a:r>
              <a:rPr lang="es" sz="1800">
                <a:solidFill>
                  <a:srgbClr val="188038"/>
                </a:solidFill>
                <a:latin typeface="Consolas"/>
                <a:ea typeface="Consolas"/>
                <a:cs typeface="Consolas"/>
                <a:sym typeface="Consolas"/>
              </a:rPr>
              <a:t>set</a:t>
            </a:r>
            <a:r>
              <a:rPr lang="es" sz="1800">
                <a:solidFill>
                  <a:schemeClr val="dk1"/>
                </a:solidFill>
                <a:latin typeface="Consolas"/>
                <a:ea typeface="Consolas"/>
                <a:cs typeface="Consolas"/>
                <a:sym typeface="Consolas"/>
              </a:rPr>
              <a:t> o </a:t>
            </a:r>
            <a:r>
              <a:rPr lang="es" sz="1800">
                <a:solidFill>
                  <a:srgbClr val="188038"/>
                </a:solidFill>
                <a:latin typeface="Consolas"/>
                <a:ea typeface="Consolas"/>
                <a:cs typeface="Consolas"/>
                <a:sym typeface="Consolas"/>
              </a:rPr>
              <a:t>hashmap</a:t>
            </a:r>
            <a:endParaRPr sz="1800">
              <a:solidFill>
                <a:schemeClr val="dk1"/>
              </a:solidFill>
              <a:latin typeface="Consolas"/>
              <a:ea typeface="Consolas"/>
              <a:cs typeface="Consolas"/>
              <a:sym typeface="Consolas"/>
            </a:endParaRPr>
          </a:p>
          <a:p>
            <a:pPr indent="-342900" lvl="0" marL="457200" rtl="0" algn="l">
              <a:spcBef>
                <a:spcPts val="0"/>
              </a:spcBef>
              <a:spcAft>
                <a:spcPts val="0"/>
              </a:spcAft>
              <a:buClr>
                <a:schemeClr val="dk1"/>
              </a:buClr>
              <a:buSzPts val="1800"/>
              <a:buFont typeface="Consolas"/>
              <a:buChar char="❏"/>
            </a:pPr>
            <a:r>
              <a:rPr lang="es" sz="1800">
                <a:solidFill>
                  <a:schemeClr val="dk1"/>
                </a:solidFill>
                <a:latin typeface="Consolas"/>
                <a:ea typeface="Consolas"/>
                <a:cs typeface="Consolas"/>
                <a:sym typeface="Consolas"/>
              </a:rPr>
              <a:t>Permite detectar estados repetidos eficientemente</a:t>
            </a:r>
            <a:endParaRPr sz="1800">
              <a:solidFill>
                <a:schemeClr val="dk1"/>
              </a:solidFill>
              <a:latin typeface="Consolas"/>
              <a:ea typeface="Consolas"/>
              <a:cs typeface="Consolas"/>
              <a:sym typeface="Consolas"/>
            </a:endParaRPr>
          </a:p>
          <a:p>
            <a:pPr indent="0" lvl="0" marL="0" rtl="0" algn="l">
              <a:spcBef>
                <a:spcPts val="200"/>
              </a:spcBef>
              <a:spcAft>
                <a:spcPts val="0"/>
              </a:spcAft>
              <a:buClr>
                <a:schemeClr val="dk1"/>
              </a:buClr>
              <a:buSzPts val="1100"/>
              <a:buFont typeface="Arial"/>
              <a:buNone/>
            </a:pPr>
            <a:r>
              <a:t/>
            </a:r>
            <a:endParaRPr sz="1100">
              <a:solidFill>
                <a:schemeClr val="dk1"/>
              </a:solidFill>
            </a:endParaRPr>
          </a:p>
          <a:p>
            <a:pPr indent="0" lvl="0" marL="0" rtl="0" algn="l">
              <a:spcBef>
                <a:spcPts val="200"/>
              </a:spcBef>
              <a:spcAft>
                <a:spcPts val="0"/>
              </a:spcAft>
              <a:buNone/>
            </a:pPr>
            <a:r>
              <a:t/>
            </a:r>
            <a:endParaRPr/>
          </a:p>
        </p:txBody>
      </p:sp>
      <p:pic>
        <p:nvPicPr>
          <p:cNvPr id="444" name="Google Shape;444;p12"/>
          <p:cNvPicPr preferRelativeResize="0"/>
          <p:nvPr/>
        </p:nvPicPr>
        <p:blipFill rotWithShape="1">
          <a:blip r:embed="rId3">
            <a:alphaModFix/>
          </a:blip>
          <a:srcRect b="3990" l="5065" r="4001" t="4284"/>
          <a:stretch/>
        </p:blipFill>
        <p:spPr>
          <a:xfrm>
            <a:off x="6165575" y="1614225"/>
            <a:ext cx="1947900" cy="19347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13"/>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Heurísticas Admisibles</a:t>
            </a:r>
            <a:endParaRPr/>
          </a:p>
        </p:txBody>
      </p:sp>
      <p:sp>
        <p:nvSpPr>
          <p:cNvPr id="450" name="Google Shape;450;p13"/>
          <p:cNvSpPr txBox="1"/>
          <p:nvPr>
            <p:ph idx="1" type="body"/>
          </p:nvPr>
        </p:nvSpPr>
        <p:spPr>
          <a:xfrm>
            <a:off x="4457700" y="2205000"/>
            <a:ext cx="3998100" cy="7335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s" sz="1400">
                <a:solidFill>
                  <a:schemeClr val="dk1"/>
                </a:solidFill>
                <a:latin typeface="Pixelify Sans"/>
                <a:ea typeface="Pixelify Sans"/>
                <a:cs typeface="Pixelify Sans"/>
                <a:sym typeface="Pixelify Sans"/>
              </a:rPr>
              <a:t>Heurística 1</a:t>
            </a:r>
            <a:r>
              <a:rPr lang="es" sz="1400">
                <a:solidFill>
                  <a:schemeClr val="dk1"/>
                </a:solidFill>
                <a:latin typeface="Pixelify Sans"/>
                <a:ea typeface="Pixelify Sans"/>
                <a:cs typeface="Pixelify Sans"/>
                <a:sym typeface="Pixelify Sans"/>
              </a:rPr>
              <a:t> - Distancia Manhattan</a:t>
            </a:r>
            <a:endParaRPr sz="1400">
              <a:solidFill>
                <a:schemeClr val="dk1"/>
              </a:solidFill>
              <a:latin typeface="Pixelify Sans"/>
              <a:ea typeface="Pixelify Sans"/>
              <a:cs typeface="Pixelify Sans"/>
              <a:sym typeface="Pixelify Sans"/>
            </a:endParaRPr>
          </a:p>
          <a:p>
            <a:pPr indent="0" lvl="0" marL="0" rtl="0" algn="l">
              <a:spcBef>
                <a:spcPts val="0"/>
              </a:spcBef>
              <a:spcAft>
                <a:spcPts val="0"/>
              </a:spcAft>
              <a:buNone/>
            </a:pPr>
            <a:r>
              <a:t/>
            </a:r>
            <a:endParaRPr sz="1400">
              <a:solidFill>
                <a:schemeClr val="dk1"/>
              </a:solidFill>
              <a:latin typeface="Pixelify Sans"/>
              <a:ea typeface="Pixelify Sans"/>
              <a:cs typeface="Pixelify Sans"/>
              <a:sym typeface="Pixelify Sans"/>
            </a:endParaRPr>
          </a:p>
          <a:p>
            <a:pPr indent="0" lvl="0" marL="0" rtl="0" algn="l">
              <a:spcBef>
                <a:spcPts val="0"/>
              </a:spcBef>
              <a:spcAft>
                <a:spcPts val="0"/>
              </a:spcAft>
              <a:buNone/>
            </a:pPr>
            <a:r>
              <a:rPr b="1" lang="es" sz="1400">
                <a:solidFill>
                  <a:schemeClr val="dk1"/>
                </a:solidFill>
                <a:latin typeface="Pixelify Sans"/>
                <a:ea typeface="Pixelify Sans"/>
                <a:cs typeface="Pixelify Sans"/>
                <a:sym typeface="Pixelify Sans"/>
              </a:rPr>
              <a:t>Heurística 2 </a:t>
            </a:r>
            <a:r>
              <a:rPr lang="es" sz="1400">
                <a:solidFill>
                  <a:schemeClr val="dk1"/>
                </a:solidFill>
                <a:latin typeface="Pixelify Sans"/>
                <a:ea typeface="Pixelify Sans"/>
                <a:cs typeface="Pixelify Sans"/>
                <a:sym typeface="Pixelify Sans"/>
              </a:rPr>
              <a:t>- Fichas “fuera de lugar”</a:t>
            </a:r>
            <a:endParaRPr>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4"/>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Método de Búsqueda: A* con Distancia Manhattan</a:t>
            </a:r>
            <a:endParaRPr/>
          </a:p>
        </p:txBody>
      </p:sp>
      <p:sp>
        <p:nvSpPr>
          <p:cNvPr id="456" name="Google Shape;456;p14"/>
          <p:cNvSpPr txBox="1"/>
          <p:nvPr>
            <p:ph idx="1" type="body"/>
          </p:nvPr>
        </p:nvSpPr>
        <p:spPr>
          <a:xfrm>
            <a:off x="4457700" y="1200150"/>
            <a:ext cx="3998100" cy="3497700"/>
          </a:xfrm>
          <a:prstGeom prst="rect">
            <a:avLst/>
          </a:prstGeom>
        </p:spPr>
        <p:txBody>
          <a:bodyPr anchorCtr="0" anchor="ctr" bIns="34275" lIns="68575" spcFirstLastPara="1" rIns="68575" wrap="square" tIns="34275">
            <a:noAutofit/>
          </a:bodyPr>
          <a:lstStyle/>
          <a:p>
            <a:pPr indent="-317500" lvl="0" marL="457200" rtl="0" algn="l">
              <a:spcBef>
                <a:spcPts val="200"/>
              </a:spcBef>
              <a:spcAft>
                <a:spcPts val="0"/>
              </a:spcAft>
              <a:buSzPts val="1400"/>
              <a:buChar char="❏"/>
            </a:pPr>
            <a:r>
              <a:rPr b="1" lang="es" sz="1400">
                <a:latin typeface="Pixelify Sans"/>
                <a:ea typeface="Pixelify Sans"/>
                <a:cs typeface="Pixelify Sans"/>
                <a:sym typeface="Pixelify Sans"/>
              </a:rPr>
              <a:t>DFS</a:t>
            </a:r>
            <a:r>
              <a:rPr lang="es" sz="1400">
                <a:latin typeface="Consolas"/>
                <a:ea typeface="Consolas"/>
                <a:cs typeface="Consolas"/>
                <a:sym typeface="Consolas"/>
              </a:rPr>
              <a:t> no garantiza optimalidad</a:t>
            </a:r>
            <a:endParaRPr sz="1400">
              <a:latin typeface="Consolas"/>
              <a:ea typeface="Consolas"/>
              <a:cs typeface="Consolas"/>
              <a:sym typeface="Consolas"/>
            </a:endParaRPr>
          </a:p>
          <a:p>
            <a:pPr indent="-317500" lvl="0" marL="457200" rtl="0" algn="l">
              <a:spcBef>
                <a:spcPts val="0"/>
              </a:spcBef>
              <a:spcAft>
                <a:spcPts val="0"/>
              </a:spcAft>
              <a:buSzPts val="1400"/>
              <a:buChar char="❏"/>
            </a:pPr>
            <a:r>
              <a:rPr b="1" lang="es" sz="1400">
                <a:latin typeface="Pixelify Sans"/>
                <a:ea typeface="Pixelify Sans"/>
                <a:cs typeface="Pixelify Sans"/>
                <a:sym typeface="Pixelify Sans"/>
              </a:rPr>
              <a:t>IDDFS</a:t>
            </a:r>
            <a:r>
              <a:rPr b="1" lang="es" sz="1400">
                <a:latin typeface="Consolas"/>
                <a:ea typeface="Consolas"/>
                <a:cs typeface="Consolas"/>
                <a:sym typeface="Consolas"/>
              </a:rPr>
              <a:t> </a:t>
            </a:r>
            <a:r>
              <a:rPr lang="es" sz="1400">
                <a:latin typeface="Consolas"/>
                <a:ea typeface="Consolas"/>
                <a:cs typeface="Consolas"/>
                <a:sym typeface="Consolas"/>
              </a:rPr>
              <a:t>consume menos memoria, pero no aprovecha nuestras </a:t>
            </a:r>
            <a:r>
              <a:rPr lang="es" sz="1400">
                <a:latin typeface="Consolas"/>
                <a:ea typeface="Consolas"/>
                <a:cs typeface="Consolas"/>
                <a:sym typeface="Consolas"/>
              </a:rPr>
              <a:t>heurísticas</a:t>
            </a:r>
            <a:endParaRPr sz="1400">
              <a:latin typeface="Consolas"/>
              <a:ea typeface="Consolas"/>
              <a:cs typeface="Consolas"/>
              <a:sym typeface="Consolas"/>
            </a:endParaRPr>
          </a:p>
          <a:p>
            <a:pPr indent="-317500" lvl="0" marL="457200" rtl="0" algn="l">
              <a:spcBef>
                <a:spcPts val="0"/>
              </a:spcBef>
              <a:spcAft>
                <a:spcPts val="0"/>
              </a:spcAft>
              <a:buSzPts val="1400"/>
              <a:buChar char="❏"/>
            </a:pPr>
            <a:r>
              <a:rPr b="1" lang="es" sz="1400">
                <a:latin typeface="Pixelify Sans"/>
                <a:ea typeface="Pixelify Sans"/>
                <a:cs typeface="Pixelify Sans"/>
                <a:sym typeface="Pixelify Sans"/>
              </a:rPr>
              <a:t>BFS</a:t>
            </a:r>
            <a:r>
              <a:rPr b="1" lang="es" sz="1400">
                <a:latin typeface="Consolas"/>
                <a:ea typeface="Consolas"/>
                <a:cs typeface="Consolas"/>
                <a:sym typeface="Consolas"/>
              </a:rPr>
              <a:t> </a:t>
            </a:r>
            <a:r>
              <a:rPr lang="es" sz="1400">
                <a:latin typeface="Consolas"/>
                <a:ea typeface="Consolas"/>
                <a:cs typeface="Consolas"/>
                <a:sym typeface="Consolas"/>
              </a:rPr>
              <a:t>es una posibilidad, pero no utiliza</a:t>
            </a:r>
            <a:r>
              <a:rPr lang="es" sz="1400">
                <a:latin typeface="Consolas"/>
                <a:ea typeface="Consolas"/>
                <a:cs typeface="Consolas"/>
                <a:sym typeface="Consolas"/>
              </a:rPr>
              <a:t> </a:t>
            </a:r>
            <a:r>
              <a:rPr lang="es" sz="1400">
                <a:latin typeface="Consolas"/>
                <a:ea typeface="Consolas"/>
                <a:cs typeface="Consolas"/>
                <a:sym typeface="Consolas"/>
              </a:rPr>
              <a:t>información</a:t>
            </a:r>
            <a:endParaRPr sz="1400">
              <a:latin typeface="Consolas"/>
              <a:ea typeface="Consolas"/>
              <a:cs typeface="Consolas"/>
              <a:sym typeface="Consolas"/>
            </a:endParaRPr>
          </a:p>
          <a:p>
            <a:pPr indent="0" lvl="0" marL="457200" rtl="0" algn="l">
              <a:spcBef>
                <a:spcPts val="200"/>
              </a:spcBef>
              <a:spcAft>
                <a:spcPts val="0"/>
              </a:spcAft>
              <a:buNone/>
            </a:pPr>
            <a:r>
              <a:rPr lang="es" sz="1400">
                <a:latin typeface="Consolas"/>
                <a:ea typeface="Consolas"/>
                <a:cs typeface="Consolas"/>
                <a:sym typeface="Consolas"/>
              </a:rPr>
              <a:t> </a:t>
            </a:r>
            <a:endParaRPr sz="1400">
              <a:latin typeface="Consolas"/>
              <a:ea typeface="Consolas"/>
              <a:cs typeface="Consolas"/>
              <a:sym typeface="Consolas"/>
            </a:endParaRPr>
          </a:p>
          <a:p>
            <a:pPr indent="-317500" lvl="0" marL="457200" rtl="0" algn="l">
              <a:spcBef>
                <a:spcPts val="200"/>
              </a:spcBef>
              <a:spcAft>
                <a:spcPts val="0"/>
              </a:spcAft>
              <a:buSzPts val="1400"/>
              <a:buChar char="❏"/>
            </a:pPr>
            <a:r>
              <a:rPr b="1" lang="es" sz="1400">
                <a:latin typeface="Pixelify Sans"/>
                <a:ea typeface="Pixelify Sans"/>
                <a:cs typeface="Pixelify Sans"/>
                <a:sym typeface="Pixelify Sans"/>
              </a:rPr>
              <a:t>A*</a:t>
            </a:r>
            <a:r>
              <a:rPr b="1" lang="es" sz="1400">
                <a:latin typeface="Consolas"/>
                <a:ea typeface="Consolas"/>
                <a:cs typeface="Consolas"/>
                <a:sym typeface="Consolas"/>
              </a:rPr>
              <a:t> </a:t>
            </a:r>
            <a:r>
              <a:rPr lang="es" sz="1400">
                <a:latin typeface="Consolas"/>
                <a:ea typeface="Consolas"/>
                <a:cs typeface="Consolas"/>
                <a:sym typeface="Consolas"/>
              </a:rPr>
              <a:t>garantiza que la solución sea </a:t>
            </a:r>
            <a:r>
              <a:rPr lang="es" sz="1400">
                <a:latin typeface="Consolas"/>
                <a:ea typeface="Consolas"/>
                <a:cs typeface="Consolas"/>
                <a:sym typeface="Consolas"/>
              </a:rPr>
              <a:t>óptima con una heurística admisible</a:t>
            </a:r>
            <a:endParaRPr sz="1400">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15"/>
          <p:cNvSpPr txBox="1"/>
          <p:nvPr>
            <p:ph type="title"/>
          </p:nvPr>
        </p:nvSpPr>
        <p:spPr>
          <a:xfrm>
            <a:off x="2194560" y="2091690"/>
            <a:ext cx="6124200" cy="891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Sokoban</a:t>
            </a:r>
            <a:endParaRPr/>
          </a:p>
        </p:txBody>
      </p:sp>
      <p:sp>
        <p:nvSpPr>
          <p:cNvPr id="462" name="Google Shape;462;p15"/>
          <p:cNvSpPr txBox="1"/>
          <p:nvPr>
            <p:ph idx="1" type="body"/>
          </p:nvPr>
        </p:nvSpPr>
        <p:spPr>
          <a:xfrm>
            <a:off x="2194560" y="1748790"/>
            <a:ext cx="6261300" cy="3429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t>Parte 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6"/>
          <p:cNvSpPr txBox="1"/>
          <p:nvPr>
            <p:ph type="title"/>
          </p:nvPr>
        </p:nvSpPr>
        <p:spPr>
          <a:xfrm>
            <a:off x="2194560" y="2091690"/>
            <a:ext cx="6124200" cy="891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Estructura de Estados</a:t>
            </a:r>
            <a:endParaRPr/>
          </a:p>
        </p:txBody>
      </p:sp>
      <p:sp>
        <p:nvSpPr>
          <p:cNvPr id="468" name="Google Shape;468;p16"/>
          <p:cNvSpPr txBox="1"/>
          <p:nvPr>
            <p:ph idx="1" type="body"/>
          </p:nvPr>
        </p:nvSpPr>
        <p:spPr>
          <a:xfrm>
            <a:off x="2194560" y="1748790"/>
            <a:ext cx="6261300" cy="3429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t>Movimiento del Jugador vs Movimiento de Cajas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7"/>
          <p:cNvSpPr txBox="1"/>
          <p:nvPr>
            <p:ph idx="1" type="body"/>
          </p:nvPr>
        </p:nvSpPr>
        <p:spPr>
          <a:xfrm>
            <a:off x="491850" y="925900"/>
            <a:ext cx="8160300" cy="40992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latin typeface="Consolas"/>
                <a:ea typeface="Consolas"/>
                <a:cs typeface="Consolas"/>
                <a:sym typeface="Consolas"/>
              </a:rPr>
              <a:t>La estructura que se le da a los estados resulta muy importante debido a que de ella dependen:</a:t>
            </a:r>
            <a:endParaRPr>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La capacidad de embeber los mismos en estructuras de datos estándar de Python.</a:t>
            </a:r>
            <a:endParaRPr>
              <a:latin typeface="Consolas"/>
              <a:ea typeface="Consolas"/>
              <a:cs typeface="Consolas"/>
              <a:sym typeface="Consolas"/>
            </a:endParaRPr>
          </a:p>
          <a:p>
            <a:pPr indent="-304800" lvl="0" marL="457200" rtl="0" algn="l">
              <a:spcBef>
                <a:spcPts val="0"/>
              </a:spcBef>
              <a:spcAft>
                <a:spcPts val="0"/>
              </a:spcAft>
              <a:buSzPts val="1200"/>
              <a:buFont typeface="Consolas"/>
              <a:buChar char="❏"/>
            </a:pPr>
            <a:r>
              <a:rPr lang="es">
                <a:latin typeface="Consolas"/>
                <a:ea typeface="Consolas"/>
                <a:cs typeface="Consolas"/>
                <a:sym typeface="Consolas"/>
              </a:rPr>
              <a:t>La conveniencia de su uso a la hora de generar una API estándar sobre la que implementar todos los algoritmos de búsqueda.</a:t>
            </a:r>
            <a:endParaRPr>
              <a:latin typeface="Consolas"/>
              <a:ea typeface="Consolas"/>
              <a:cs typeface="Consolas"/>
              <a:sym typeface="Consolas"/>
            </a:endParaRPr>
          </a:p>
          <a:p>
            <a:pPr indent="-304800" lvl="0" marL="457200" rtl="0" algn="l">
              <a:spcBef>
                <a:spcPts val="0"/>
              </a:spcBef>
              <a:spcAft>
                <a:spcPts val="0"/>
              </a:spcAft>
              <a:buSzPts val="1200"/>
              <a:buFont typeface="Consolas"/>
              <a:buChar char="❏"/>
            </a:pPr>
            <a:r>
              <a:rPr lang="es">
                <a:latin typeface="Consolas"/>
                <a:ea typeface="Consolas"/>
                <a:cs typeface="Consolas"/>
                <a:sym typeface="Consolas"/>
              </a:rPr>
              <a:t>La robustez y eficiencia generales de la implementación.</a:t>
            </a:r>
            <a:endParaRPr>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a:p>
            <a:pPr indent="0" lvl="0" marL="0" rtl="0" algn="l">
              <a:spcBef>
                <a:spcPts val="200"/>
              </a:spcBef>
              <a:spcAft>
                <a:spcPts val="0"/>
              </a:spcAft>
              <a:buNone/>
            </a:pPr>
            <a:r>
              <a:rPr lang="es">
                <a:latin typeface="Consolas"/>
                <a:ea typeface="Consolas"/>
                <a:cs typeface="Consolas"/>
                <a:sym typeface="Consolas"/>
              </a:rPr>
              <a:t>Teniendo esto en consideración, se tomaron las siguientes decisiones:</a:t>
            </a:r>
            <a:endParaRPr>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a:p>
            <a:pPr indent="-304800" lvl="0" marL="457200" rtl="0" algn="l">
              <a:spcBef>
                <a:spcPts val="200"/>
              </a:spcBef>
              <a:spcAft>
                <a:spcPts val="0"/>
              </a:spcAft>
              <a:buSzPts val="1200"/>
              <a:buChar char="❏"/>
            </a:pPr>
            <a:r>
              <a:rPr lang="es">
                <a:latin typeface="Consolas"/>
                <a:ea typeface="Consolas"/>
                <a:cs typeface="Consolas"/>
                <a:sym typeface="Consolas"/>
              </a:rPr>
              <a:t>Los </a:t>
            </a:r>
            <a:r>
              <a:rPr b="1" lang="es">
                <a:latin typeface="Consolas"/>
                <a:ea typeface="Consolas"/>
                <a:cs typeface="Consolas"/>
                <a:sym typeface="Consolas"/>
              </a:rPr>
              <a:t>estados</a:t>
            </a:r>
            <a:r>
              <a:rPr lang="es">
                <a:latin typeface="Consolas"/>
                <a:ea typeface="Consolas"/>
                <a:cs typeface="Consolas"/>
                <a:sym typeface="Consolas"/>
              </a:rPr>
              <a:t> deben ser </a:t>
            </a:r>
            <a:r>
              <a:rPr b="1" lang="es">
                <a:latin typeface="Consolas"/>
                <a:ea typeface="Consolas"/>
                <a:cs typeface="Consolas"/>
                <a:sym typeface="Consolas"/>
              </a:rPr>
              <a:t>inmutables</a:t>
            </a:r>
            <a:r>
              <a:rPr lang="es">
                <a:latin typeface="Consolas"/>
                <a:ea typeface="Consolas"/>
                <a:cs typeface="Consolas"/>
                <a:sym typeface="Consolas"/>
              </a:rPr>
              <a:t> </a:t>
            </a:r>
            <a:r>
              <a:rPr b="1" lang="es">
                <a:latin typeface="Consolas"/>
                <a:ea typeface="Consolas"/>
                <a:cs typeface="Consolas"/>
                <a:sym typeface="Consolas"/>
              </a:rPr>
              <a:t>por naturaleza</a:t>
            </a:r>
            <a:r>
              <a:rPr lang="es">
                <a:latin typeface="Consolas"/>
                <a:ea typeface="Consolas"/>
                <a:cs typeface="Consolas"/>
                <a:sym typeface="Consolas"/>
              </a:rPr>
              <a:t>, pues:</a:t>
            </a:r>
            <a:endParaRPr>
              <a:latin typeface="Consolas"/>
              <a:ea typeface="Consolas"/>
              <a:cs typeface="Consolas"/>
              <a:sym typeface="Consolas"/>
            </a:endParaRPr>
          </a:p>
          <a:p>
            <a:pPr indent="-304800" lvl="1" marL="914400" rtl="0" algn="l">
              <a:spcBef>
                <a:spcPts val="0"/>
              </a:spcBef>
              <a:spcAft>
                <a:spcPts val="0"/>
              </a:spcAft>
              <a:buSzPts val="1200"/>
              <a:buChar char="❏"/>
            </a:pPr>
            <a:r>
              <a:rPr lang="es" sz="1200">
                <a:latin typeface="Consolas"/>
                <a:ea typeface="Consolas"/>
                <a:cs typeface="Consolas"/>
                <a:sym typeface="Consolas"/>
              </a:rPr>
              <a:t>Proveen mayor rapidez,</a:t>
            </a:r>
            <a:endParaRPr sz="1200">
              <a:latin typeface="Consolas"/>
              <a:ea typeface="Consolas"/>
              <a:cs typeface="Consolas"/>
              <a:sym typeface="Consolas"/>
            </a:endParaRPr>
          </a:p>
          <a:p>
            <a:pPr indent="-304800" lvl="1" marL="914400" rtl="0" algn="l">
              <a:spcBef>
                <a:spcPts val="0"/>
              </a:spcBef>
              <a:spcAft>
                <a:spcPts val="0"/>
              </a:spcAft>
              <a:buSzPts val="1200"/>
              <a:buChar char="❏"/>
            </a:pPr>
            <a:r>
              <a:rPr lang="es" sz="1200">
                <a:latin typeface="Consolas"/>
                <a:ea typeface="Consolas"/>
                <a:cs typeface="Consolas"/>
                <a:sym typeface="Consolas"/>
              </a:rPr>
              <a:t>Menor posibilidad de errores, y</a:t>
            </a:r>
            <a:endParaRPr sz="1200">
              <a:latin typeface="Consolas"/>
              <a:ea typeface="Consolas"/>
              <a:cs typeface="Consolas"/>
              <a:sym typeface="Consolas"/>
            </a:endParaRPr>
          </a:p>
          <a:p>
            <a:pPr indent="-304800" lvl="1" marL="914400" rtl="0" algn="l">
              <a:spcBef>
                <a:spcPts val="0"/>
              </a:spcBef>
              <a:spcAft>
                <a:spcPts val="0"/>
              </a:spcAft>
              <a:buSzPts val="1200"/>
              <a:buChar char="❏"/>
            </a:pPr>
            <a:r>
              <a:rPr lang="es" sz="1200">
                <a:latin typeface="Consolas"/>
                <a:ea typeface="Consolas"/>
                <a:cs typeface="Consolas"/>
                <a:sym typeface="Consolas"/>
              </a:rPr>
              <a:t>Capacidad de </a:t>
            </a:r>
            <a:r>
              <a:rPr b="1" lang="es" sz="1200">
                <a:latin typeface="Consolas"/>
                <a:ea typeface="Consolas"/>
                <a:cs typeface="Consolas"/>
                <a:sym typeface="Consolas"/>
              </a:rPr>
              <a:t>hashear</a:t>
            </a:r>
            <a:r>
              <a:rPr lang="es" sz="1200">
                <a:latin typeface="Consolas"/>
                <a:ea typeface="Consolas"/>
                <a:cs typeface="Consolas"/>
                <a:sym typeface="Consolas"/>
              </a:rPr>
              <a:t> los propios estados para poder usarse en </a:t>
            </a:r>
            <a:r>
              <a:rPr i="1" lang="es" sz="1200">
                <a:latin typeface="Consolas"/>
                <a:ea typeface="Consolas"/>
                <a:cs typeface="Consolas"/>
                <a:sym typeface="Consolas"/>
              </a:rPr>
              <a:t>diccionarios</a:t>
            </a:r>
            <a:r>
              <a:rPr lang="es" sz="1200">
                <a:latin typeface="Consolas"/>
                <a:ea typeface="Consolas"/>
                <a:cs typeface="Consolas"/>
                <a:sym typeface="Consolas"/>
              </a:rPr>
              <a:t> o </a:t>
            </a:r>
            <a:r>
              <a:rPr i="1" lang="es" sz="1200">
                <a:latin typeface="Consolas"/>
                <a:ea typeface="Consolas"/>
                <a:cs typeface="Consolas"/>
                <a:sym typeface="Consolas"/>
              </a:rPr>
              <a:t>sets</a:t>
            </a:r>
            <a:r>
              <a:rPr lang="es" sz="1200">
                <a:latin typeface="Consolas"/>
                <a:ea typeface="Consolas"/>
                <a:cs typeface="Consolas"/>
                <a:sym typeface="Consolas"/>
              </a:rPr>
              <a:t>.</a:t>
            </a:r>
            <a:endParaRPr>
              <a:latin typeface="Consolas"/>
              <a:ea typeface="Consolas"/>
              <a:cs typeface="Consolas"/>
              <a:sym typeface="Consolas"/>
            </a:endParaRPr>
          </a:p>
          <a:p>
            <a:pPr indent="0" lvl="0" marL="0" rtl="0" algn="l">
              <a:spcBef>
                <a:spcPts val="200"/>
              </a:spcBef>
              <a:spcAft>
                <a:spcPts val="0"/>
              </a:spcAft>
              <a:buNone/>
            </a:pPr>
            <a:r>
              <a:t/>
            </a:r>
            <a:endParaRPr sz="400">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Debe haber un </a:t>
            </a:r>
            <a:r>
              <a:rPr b="1" lang="es">
                <a:latin typeface="Consolas"/>
                <a:ea typeface="Consolas"/>
                <a:cs typeface="Consolas"/>
                <a:sym typeface="Consolas"/>
              </a:rPr>
              <a:t>buen diseño de clases</a:t>
            </a:r>
            <a:r>
              <a:rPr lang="es">
                <a:latin typeface="Consolas"/>
                <a:ea typeface="Consolas"/>
                <a:cs typeface="Consolas"/>
                <a:sym typeface="Consolas"/>
              </a:rPr>
              <a:t>, ya que la modularización ordena el código y permite el </a:t>
            </a:r>
            <a:r>
              <a:rPr b="1" lang="es">
                <a:latin typeface="Consolas"/>
                <a:ea typeface="Consolas"/>
                <a:cs typeface="Consolas"/>
                <a:sym typeface="Consolas"/>
              </a:rPr>
              <a:t>buen uso de la orientación a objetos</a:t>
            </a:r>
            <a:r>
              <a:rPr lang="es">
                <a:latin typeface="Consolas"/>
                <a:ea typeface="Consolas"/>
                <a:cs typeface="Consolas"/>
                <a:sym typeface="Consolas"/>
              </a:rPr>
              <a:t>.</a:t>
            </a:r>
            <a:endParaRPr>
              <a:latin typeface="Consolas"/>
              <a:ea typeface="Consolas"/>
              <a:cs typeface="Consolas"/>
              <a:sym typeface="Consolas"/>
            </a:endParaRPr>
          </a:p>
          <a:p>
            <a:pPr indent="0" lvl="0" marL="0" rtl="0" algn="l">
              <a:spcBef>
                <a:spcPts val="200"/>
              </a:spcBef>
              <a:spcAft>
                <a:spcPts val="0"/>
              </a:spcAft>
              <a:buNone/>
            </a:pPr>
            <a:r>
              <a:t/>
            </a:r>
            <a:endParaRPr sz="400">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Debido a que c</a:t>
            </a:r>
            <a:r>
              <a:rPr b="1" lang="es">
                <a:latin typeface="Consolas"/>
                <a:ea typeface="Consolas"/>
                <a:cs typeface="Consolas"/>
                <a:sym typeface="Consolas"/>
              </a:rPr>
              <a:t>ada estado difiere de sus hijos en un movimiento</a:t>
            </a:r>
            <a:r>
              <a:rPr lang="es">
                <a:latin typeface="Consolas"/>
                <a:ea typeface="Consolas"/>
                <a:cs typeface="Consolas"/>
                <a:sym typeface="Consolas"/>
              </a:rPr>
              <a:t>, se le dio a los propios </a:t>
            </a:r>
            <a:r>
              <a:rPr b="1" lang="es">
                <a:latin typeface="Consolas"/>
                <a:ea typeface="Consolas"/>
                <a:cs typeface="Consolas"/>
                <a:sym typeface="Consolas"/>
              </a:rPr>
              <a:t>estados</a:t>
            </a:r>
            <a:r>
              <a:rPr lang="es">
                <a:latin typeface="Consolas"/>
                <a:ea typeface="Consolas"/>
                <a:cs typeface="Consolas"/>
                <a:sym typeface="Consolas"/>
              </a:rPr>
              <a:t> la </a:t>
            </a:r>
            <a:r>
              <a:rPr b="1" lang="es">
                <a:latin typeface="Consolas"/>
                <a:ea typeface="Consolas"/>
                <a:cs typeface="Consolas"/>
                <a:sym typeface="Consolas"/>
              </a:rPr>
              <a:t>posibilidad de generar a sus sucesores</a:t>
            </a:r>
            <a:r>
              <a:rPr lang="es">
                <a:latin typeface="Consolas"/>
                <a:ea typeface="Consolas"/>
                <a:cs typeface="Consolas"/>
                <a:sym typeface="Consolas"/>
              </a:rPr>
              <a:t>, es decir, los tableros proveen un método que permite generar sus tableros derivados y obtener un iterador de los mismos.</a:t>
            </a:r>
            <a:endParaRPr>
              <a:latin typeface="Consolas"/>
              <a:ea typeface="Consolas"/>
              <a:cs typeface="Consolas"/>
              <a:sym typeface="Consolas"/>
            </a:endParaRPr>
          </a:p>
          <a:p>
            <a:pPr indent="0" lvl="0" marL="0" rtl="0" algn="l">
              <a:spcBef>
                <a:spcPts val="200"/>
              </a:spcBef>
              <a:spcAft>
                <a:spcPts val="0"/>
              </a:spcAft>
              <a:buNone/>
            </a:pPr>
            <a:r>
              <a:t/>
            </a:r>
            <a:endParaRPr sz="400">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Debe hacerse un </a:t>
            </a:r>
            <a:r>
              <a:rPr b="1" lang="es">
                <a:latin typeface="Consolas"/>
                <a:ea typeface="Consolas"/>
                <a:cs typeface="Consolas"/>
                <a:sym typeface="Consolas"/>
              </a:rPr>
              <a:t>profundo uso de typing</a:t>
            </a:r>
            <a:r>
              <a:rPr lang="es">
                <a:latin typeface="Consolas"/>
                <a:ea typeface="Consolas"/>
                <a:cs typeface="Consolas"/>
                <a:sym typeface="Consolas"/>
              </a:rPr>
              <a:t>.</a:t>
            </a:r>
            <a:endParaRPr>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p:txBody>
      </p:sp>
      <p:sp>
        <p:nvSpPr>
          <p:cNvPr id="474" name="Google Shape;474;p17"/>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Estructura de Estados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8"/>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Definición Original</a:t>
            </a:r>
            <a:endParaRPr/>
          </a:p>
        </p:txBody>
      </p:sp>
      <p:pic>
        <p:nvPicPr>
          <p:cNvPr id="480" name="Google Shape;480;p18"/>
          <p:cNvPicPr preferRelativeResize="0"/>
          <p:nvPr/>
        </p:nvPicPr>
        <p:blipFill>
          <a:blip r:embed="rId3">
            <a:alphaModFix/>
          </a:blip>
          <a:stretch>
            <a:fillRect/>
          </a:stretch>
        </p:blipFill>
        <p:spPr>
          <a:xfrm>
            <a:off x="1489203" y="1191214"/>
            <a:ext cx="2248225" cy="2761067"/>
          </a:xfrm>
          <a:prstGeom prst="rect">
            <a:avLst/>
          </a:prstGeom>
          <a:noFill/>
          <a:ln>
            <a:noFill/>
          </a:ln>
        </p:spPr>
      </p:pic>
      <p:sp>
        <p:nvSpPr>
          <p:cNvPr id="481" name="Google Shape;481;p18"/>
          <p:cNvSpPr/>
          <p:nvPr/>
        </p:nvSpPr>
        <p:spPr>
          <a:xfrm rot="-5400000">
            <a:off x="3142040" y="2478415"/>
            <a:ext cx="116400" cy="101100"/>
          </a:xfrm>
          <a:prstGeom prst="upArrow">
            <a:avLst>
              <a:gd fmla="val 50000" name="adj1"/>
              <a:gd fmla="val 50000" name="adj2"/>
            </a:avLst>
          </a:prstGeom>
          <a:solidFill>
            <a:schemeClr val="lt2"/>
          </a:solidFill>
          <a:ln cap="flat" cmpd="sng" w="11275">
            <a:solidFill>
              <a:schemeClr val="dk2"/>
            </a:solidFill>
            <a:prstDash val="solid"/>
            <a:round/>
            <a:headEnd len="sm" w="sm" type="none"/>
            <a:tailEnd len="sm" w="sm" type="none"/>
          </a:ln>
        </p:spPr>
        <p:txBody>
          <a:bodyPr anchorCtr="0" anchor="ctr" bIns="108200" lIns="108200" spcFirstLastPara="1" rIns="108200" wrap="square" tIns="108200">
            <a:noAutofit/>
          </a:bodyPr>
          <a:lstStyle/>
          <a:p>
            <a:pPr indent="0" lvl="0" marL="0" rtl="0" algn="ctr">
              <a:spcBef>
                <a:spcPts val="0"/>
              </a:spcBef>
              <a:spcAft>
                <a:spcPts val="0"/>
              </a:spcAft>
              <a:buNone/>
            </a:pPr>
            <a:r>
              <a:t/>
            </a:r>
            <a:endParaRPr sz="1657"/>
          </a:p>
        </p:txBody>
      </p:sp>
      <p:sp>
        <p:nvSpPr>
          <p:cNvPr id="482" name="Google Shape;482;p18"/>
          <p:cNvSpPr/>
          <p:nvPr/>
        </p:nvSpPr>
        <p:spPr>
          <a:xfrm rot="10800000">
            <a:off x="3305068" y="2651057"/>
            <a:ext cx="116400" cy="101100"/>
          </a:xfrm>
          <a:prstGeom prst="upArrow">
            <a:avLst>
              <a:gd fmla="val 50000" name="adj1"/>
              <a:gd fmla="val 50000" name="adj2"/>
            </a:avLst>
          </a:prstGeom>
          <a:solidFill>
            <a:schemeClr val="lt2"/>
          </a:solidFill>
          <a:ln cap="flat" cmpd="sng" w="11275">
            <a:solidFill>
              <a:schemeClr val="dk2"/>
            </a:solidFill>
            <a:prstDash val="solid"/>
            <a:round/>
            <a:headEnd len="sm" w="sm" type="none"/>
            <a:tailEnd len="sm" w="sm" type="none"/>
          </a:ln>
        </p:spPr>
        <p:txBody>
          <a:bodyPr anchorCtr="0" anchor="ctr" bIns="108200" lIns="108200" spcFirstLastPara="1" rIns="108200" wrap="square" tIns="108200">
            <a:noAutofit/>
          </a:bodyPr>
          <a:lstStyle/>
          <a:p>
            <a:pPr indent="0" lvl="0" marL="0" rtl="0" algn="ctr">
              <a:spcBef>
                <a:spcPts val="0"/>
              </a:spcBef>
              <a:spcAft>
                <a:spcPts val="0"/>
              </a:spcAft>
              <a:buNone/>
            </a:pPr>
            <a:r>
              <a:t/>
            </a:r>
            <a:endParaRPr sz="1657"/>
          </a:p>
        </p:txBody>
      </p:sp>
      <p:sp>
        <p:nvSpPr>
          <p:cNvPr id="483" name="Google Shape;483;p18"/>
          <p:cNvSpPr/>
          <p:nvPr/>
        </p:nvSpPr>
        <p:spPr>
          <a:xfrm>
            <a:off x="3305005" y="2323876"/>
            <a:ext cx="116400" cy="101100"/>
          </a:xfrm>
          <a:prstGeom prst="upArrow">
            <a:avLst>
              <a:gd fmla="val 50000" name="adj1"/>
              <a:gd fmla="val 50000" name="adj2"/>
            </a:avLst>
          </a:prstGeom>
          <a:solidFill>
            <a:schemeClr val="lt2"/>
          </a:solidFill>
          <a:ln cap="flat" cmpd="sng" w="11275">
            <a:solidFill>
              <a:schemeClr val="dk2"/>
            </a:solidFill>
            <a:prstDash val="solid"/>
            <a:round/>
            <a:headEnd len="sm" w="sm" type="none"/>
            <a:tailEnd len="sm" w="sm" type="none"/>
          </a:ln>
        </p:spPr>
        <p:txBody>
          <a:bodyPr anchorCtr="0" anchor="ctr" bIns="108200" lIns="108200" spcFirstLastPara="1" rIns="108200" wrap="square" tIns="108200">
            <a:noAutofit/>
          </a:bodyPr>
          <a:lstStyle/>
          <a:p>
            <a:pPr indent="0" lvl="0" marL="0" rtl="0" algn="ctr">
              <a:spcBef>
                <a:spcPts val="0"/>
              </a:spcBef>
              <a:spcAft>
                <a:spcPts val="0"/>
              </a:spcAft>
              <a:buNone/>
            </a:pPr>
            <a:r>
              <a:t/>
            </a:r>
            <a:endParaRPr sz="1657"/>
          </a:p>
        </p:txBody>
      </p:sp>
      <p:sp>
        <p:nvSpPr>
          <p:cNvPr id="484" name="Google Shape;484;p18"/>
          <p:cNvSpPr txBox="1"/>
          <p:nvPr>
            <p:ph idx="1" type="body"/>
          </p:nvPr>
        </p:nvSpPr>
        <p:spPr>
          <a:xfrm>
            <a:off x="5160100" y="1065850"/>
            <a:ext cx="2969100" cy="3271500"/>
          </a:xfrm>
          <a:prstGeom prst="rect">
            <a:avLst/>
          </a:prstGeom>
        </p:spPr>
        <p:txBody>
          <a:bodyPr anchorCtr="0" anchor="ctr" bIns="34275" lIns="68575" spcFirstLastPara="1" rIns="68575" wrap="square" tIns="34275">
            <a:noAutofit/>
          </a:bodyPr>
          <a:lstStyle/>
          <a:p>
            <a:pPr indent="0" lvl="0" marL="0" rtl="0" algn="l">
              <a:spcBef>
                <a:spcPts val="200"/>
              </a:spcBef>
              <a:spcAft>
                <a:spcPts val="0"/>
              </a:spcAft>
              <a:buNone/>
            </a:pPr>
            <a:r>
              <a:rPr b="1" lang="es">
                <a:latin typeface="Pixelify Sans"/>
                <a:ea typeface="Pixelify Sans"/>
                <a:cs typeface="Pixelify Sans"/>
                <a:sym typeface="Pixelify Sans"/>
              </a:rPr>
              <a:t>Por movimiento del jugador</a:t>
            </a:r>
            <a:endParaRPr b="1">
              <a:latin typeface="Pixelify Sans"/>
              <a:ea typeface="Pixelify Sans"/>
              <a:cs typeface="Pixelify Sans"/>
              <a:sym typeface="Pixelify Sans"/>
            </a:endParaRPr>
          </a:p>
          <a:p>
            <a:pPr indent="0" lvl="0" marL="0" rtl="0" algn="l">
              <a:spcBef>
                <a:spcPts val="200"/>
              </a:spcBef>
              <a:spcAft>
                <a:spcPts val="0"/>
              </a:spcAft>
              <a:buNone/>
            </a:pPr>
            <a:r>
              <a:t/>
            </a:r>
            <a:endParaRPr>
              <a:latin typeface="Consolas"/>
              <a:ea typeface="Consolas"/>
              <a:cs typeface="Consolas"/>
              <a:sym typeface="Consolas"/>
            </a:endParaRPr>
          </a:p>
          <a:p>
            <a:pPr indent="0" lvl="0" marL="0" rtl="0" algn="l">
              <a:spcBef>
                <a:spcPts val="200"/>
              </a:spcBef>
              <a:spcAft>
                <a:spcPts val="0"/>
              </a:spcAft>
              <a:buNone/>
            </a:pPr>
            <a:r>
              <a:rPr lang="es">
                <a:latin typeface="Consolas"/>
                <a:ea typeface="Consolas"/>
                <a:cs typeface="Consolas"/>
                <a:sym typeface="Consolas"/>
              </a:rPr>
              <a:t>Estado </a:t>
            </a:r>
            <a:r>
              <a:rPr b="1" lang="es">
                <a:latin typeface="Consolas"/>
                <a:ea typeface="Consolas"/>
                <a:cs typeface="Consolas"/>
                <a:sym typeface="Consolas"/>
              </a:rPr>
              <a:t>estático</a:t>
            </a:r>
            <a:r>
              <a:rPr lang="es">
                <a:latin typeface="Consolas"/>
                <a:ea typeface="Consolas"/>
                <a:cs typeface="Consolas"/>
                <a:sym typeface="Consolas"/>
              </a:rPr>
              <a:t>:</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Muros</a:t>
            </a:r>
            <a:endParaRPr>
              <a:latin typeface="Consolas"/>
              <a:ea typeface="Consolas"/>
              <a:cs typeface="Consolas"/>
              <a:sym typeface="Consolas"/>
            </a:endParaRPr>
          </a:p>
          <a:p>
            <a:pPr indent="-304800" lvl="0" marL="457200" rtl="0" algn="l">
              <a:spcBef>
                <a:spcPts val="0"/>
              </a:spcBef>
              <a:spcAft>
                <a:spcPts val="0"/>
              </a:spcAft>
              <a:buSzPts val="1200"/>
              <a:buFont typeface="Consolas"/>
              <a:buChar char="❏"/>
            </a:pPr>
            <a:r>
              <a:rPr lang="es">
                <a:latin typeface="Consolas"/>
                <a:ea typeface="Consolas"/>
                <a:cs typeface="Consolas"/>
                <a:sym typeface="Consolas"/>
              </a:rPr>
              <a:t>Ubicación de los objetivos</a:t>
            </a:r>
            <a:endParaRPr>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a:p>
            <a:pPr indent="0" lvl="0" marL="0" rtl="0" algn="l">
              <a:spcBef>
                <a:spcPts val="200"/>
              </a:spcBef>
              <a:spcAft>
                <a:spcPts val="0"/>
              </a:spcAft>
              <a:buNone/>
            </a:pPr>
            <a:r>
              <a:rPr lang="es">
                <a:latin typeface="Consolas"/>
                <a:ea typeface="Consolas"/>
                <a:cs typeface="Consolas"/>
                <a:sym typeface="Consolas"/>
              </a:rPr>
              <a:t>Estado </a:t>
            </a:r>
            <a:r>
              <a:rPr b="1" lang="es">
                <a:latin typeface="Consolas"/>
                <a:ea typeface="Consolas"/>
                <a:cs typeface="Consolas"/>
                <a:sym typeface="Consolas"/>
              </a:rPr>
              <a:t>dinámico</a:t>
            </a:r>
            <a:r>
              <a:rPr lang="es">
                <a:latin typeface="Consolas"/>
                <a:ea typeface="Consolas"/>
                <a:cs typeface="Consolas"/>
                <a:sym typeface="Consolas"/>
              </a:rPr>
              <a:t>:</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Posición del jugador</a:t>
            </a:r>
            <a:endParaRPr>
              <a:latin typeface="Consolas"/>
              <a:ea typeface="Consolas"/>
              <a:cs typeface="Consolas"/>
              <a:sym typeface="Consolas"/>
            </a:endParaRPr>
          </a:p>
          <a:p>
            <a:pPr indent="-304800" lvl="0" marL="457200" rtl="0" algn="l">
              <a:spcBef>
                <a:spcPts val="0"/>
              </a:spcBef>
              <a:spcAft>
                <a:spcPts val="0"/>
              </a:spcAft>
              <a:buSzPts val="1200"/>
              <a:buFont typeface="Consolas"/>
              <a:buChar char="❏"/>
            </a:pPr>
            <a:r>
              <a:rPr lang="es">
                <a:latin typeface="Consolas"/>
                <a:ea typeface="Consolas"/>
                <a:cs typeface="Consolas"/>
                <a:sym typeface="Consolas"/>
              </a:rPr>
              <a:t>Posición de las cajas</a:t>
            </a:r>
            <a:endParaRPr>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9"/>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solidFill>
                  <a:schemeClr val="dk1"/>
                </a:solidFill>
              </a:rPr>
              <a:t>Coordinate y Direction</a:t>
            </a:r>
            <a:endParaRPr sz="3000"/>
          </a:p>
        </p:txBody>
      </p:sp>
      <p:pic>
        <p:nvPicPr>
          <p:cNvPr id="490" name="Google Shape;490;p19"/>
          <p:cNvPicPr preferRelativeResize="0"/>
          <p:nvPr/>
        </p:nvPicPr>
        <p:blipFill>
          <a:blip r:embed="rId3">
            <a:alphaModFix/>
          </a:blip>
          <a:stretch>
            <a:fillRect/>
          </a:stretch>
        </p:blipFill>
        <p:spPr>
          <a:xfrm>
            <a:off x="685800" y="2165250"/>
            <a:ext cx="5385850" cy="2568650"/>
          </a:xfrm>
          <a:prstGeom prst="rect">
            <a:avLst/>
          </a:prstGeom>
          <a:noFill/>
          <a:ln>
            <a:noFill/>
          </a:ln>
        </p:spPr>
      </p:pic>
      <p:pic>
        <p:nvPicPr>
          <p:cNvPr id="491" name="Google Shape;491;p19"/>
          <p:cNvPicPr preferRelativeResize="0"/>
          <p:nvPr/>
        </p:nvPicPr>
        <p:blipFill>
          <a:blip r:embed="rId4">
            <a:alphaModFix/>
          </a:blip>
          <a:stretch>
            <a:fillRect/>
          </a:stretch>
        </p:blipFill>
        <p:spPr>
          <a:xfrm>
            <a:off x="6875774" y="2967025"/>
            <a:ext cx="1580031" cy="965100"/>
          </a:xfrm>
          <a:prstGeom prst="rect">
            <a:avLst/>
          </a:prstGeom>
          <a:noFill/>
          <a:ln>
            <a:noFill/>
          </a:ln>
        </p:spPr>
      </p:pic>
      <p:sp>
        <p:nvSpPr>
          <p:cNvPr id="492" name="Google Shape;492;p19"/>
          <p:cNvSpPr txBox="1"/>
          <p:nvPr>
            <p:ph idx="1" type="body"/>
          </p:nvPr>
        </p:nvSpPr>
        <p:spPr>
          <a:xfrm>
            <a:off x="685800" y="1200150"/>
            <a:ext cx="7770000" cy="965100"/>
          </a:xfrm>
          <a:prstGeom prst="rect">
            <a:avLst/>
          </a:prstGeom>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lang="es">
                <a:latin typeface="Consolas"/>
                <a:ea typeface="Consolas"/>
                <a:cs typeface="Consolas"/>
                <a:sym typeface="Consolas"/>
              </a:rPr>
              <a:t>Clases </a:t>
            </a:r>
            <a:r>
              <a:rPr lang="es">
                <a:solidFill>
                  <a:schemeClr val="dk1"/>
                </a:solidFill>
                <a:latin typeface="Pixelify Sans"/>
                <a:ea typeface="Pixelify Sans"/>
                <a:cs typeface="Pixelify Sans"/>
                <a:sym typeface="Pixelify Sans"/>
              </a:rPr>
              <a:t>Coordinate</a:t>
            </a:r>
            <a:r>
              <a:rPr lang="es"/>
              <a:t> y </a:t>
            </a:r>
            <a:r>
              <a:rPr lang="es">
                <a:solidFill>
                  <a:schemeClr val="dk1"/>
                </a:solidFill>
                <a:latin typeface="Pixelify Sans"/>
                <a:ea typeface="Pixelify Sans"/>
                <a:cs typeface="Pixelify Sans"/>
                <a:sym typeface="Pixelify Sans"/>
              </a:rPr>
              <a:t>Direction</a:t>
            </a:r>
            <a:r>
              <a:rPr lang="es"/>
              <a:t> </a:t>
            </a:r>
            <a:r>
              <a:rPr lang="es">
                <a:latin typeface="Consolas"/>
                <a:ea typeface="Consolas"/>
                <a:cs typeface="Consolas"/>
                <a:sym typeface="Consolas"/>
              </a:rPr>
              <a:t>expresan la posici</a:t>
            </a:r>
            <a:r>
              <a:rPr lang="es">
                <a:latin typeface="Consolas"/>
                <a:ea typeface="Consolas"/>
                <a:cs typeface="Consolas"/>
                <a:sym typeface="Consolas"/>
              </a:rPr>
              <a:t>ón actual de los objetos y las direcciones de movimiento, respectivamente. Permiten aritmética entre ellos, haciendo más expresiva la API de </a:t>
            </a:r>
            <a:r>
              <a:rPr lang="es"/>
              <a:t>estados.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0"/>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solidFill>
                  <a:schemeClr val="dk1"/>
                </a:solidFill>
              </a:rPr>
              <a:t>ImmutableMatrix</a:t>
            </a:r>
            <a:endParaRPr/>
          </a:p>
        </p:txBody>
      </p:sp>
      <p:sp>
        <p:nvSpPr>
          <p:cNvPr id="498" name="Google Shape;498;p20"/>
          <p:cNvSpPr txBox="1"/>
          <p:nvPr>
            <p:ph idx="1" type="body"/>
          </p:nvPr>
        </p:nvSpPr>
        <p:spPr>
          <a:xfrm>
            <a:off x="687000" y="925900"/>
            <a:ext cx="7770000" cy="6696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latin typeface="Consolas"/>
                <a:ea typeface="Consolas"/>
                <a:cs typeface="Consolas"/>
                <a:sym typeface="Consolas"/>
              </a:rPr>
              <a:t>C</a:t>
            </a:r>
            <a:r>
              <a:rPr lang="es">
                <a:latin typeface="Consolas"/>
                <a:ea typeface="Consolas"/>
                <a:cs typeface="Consolas"/>
                <a:sym typeface="Consolas"/>
              </a:rPr>
              <a:t>ada tablero toma como base una </a:t>
            </a:r>
            <a:r>
              <a:rPr b="1" lang="es">
                <a:latin typeface="Consolas"/>
                <a:ea typeface="Consolas"/>
                <a:cs typeface="Consolas"/>
                <a:sym typeface="Consolas"/>
              </a:rPr>
              <a:t>matriz conformada por tuplas</a:t>
            </a:r>
            <a:r>
              <a:rPr lang="es">
                <a:latin typeface="Consolas"/>
                <a:ea typeface="Consolas"/>
                <a:cs typeface="Consolas"/>
                <a:sym typeface="Consolas"/>
              </a:rPr>
              <a:t> (debido a que las listas son </a:t>
            </a:r>
            <a:r>
              <a:rPr lang="es">
                <a:solidFill>
                  <a:schemeClr val="dk1"/>
                </a:solidFill>
                <a:latin typeface="Pixelify Sans"/>
                <a:ea typeface="Pixelify Sans"/>
                <a:cs typeface="Pixelify Sans"/>
                <a:sym typeface="Pixelify Sans"/>
              </a:rPr>
              <a:t>Unhashable Types</a:t>
            </a:r>
            <a:r>
              <a:rPr lang="es">
                <a:latin typeface="Consolas"/>
                <a:ea typeface="Consolas"/>
                <a:cs typeface="Consolas"/>
                <a:sym typeface="Consolas"/>
              </a:rPr>
              <a:t>), cuya dimensión se determina de forma dinámica a la hora de cargar el nivel a resolver.</a:t>
            </a:r>
            <a:endParaRPr/>
          </a:p>
        </p:txBody>
      </p:sp>
      <p:pic>
        <p:nvPicPr>
          <p:cNvPr id="499" name="Google Shape;499;p20"/>
          <p:cNvPicPr preferRelativeResize="0"/>
          <p:nvPr/>
        </p:nvPicPr>
        <p:blipFill>
          <a:blip r:embed="rId3">
            <a:alphaModFix/>
          </a:blip>
          <a:stretch>
            <a:fillRect/>
          </a:stretch>
        </p:blipFill>
        <p:spPr>
          <a:xfrm>
            <a:off x="1880800" y="1677600"/>
            <a:ext cx="5382425" cy="3346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21"/>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Board</a:t>
            </a:r>
            <a:endParaRPr/>
          </a:p>
        </p:txBody>
      </p:sp>
      <p:sp>
        <p:nvSpPr>
          <p:cNvPr id="505" name="Google Shape;505;p21"/>
          <p:cNvSpPr txBox="1"/>
          <p:nvPr>
            <p:ph idx="1" type="body"/>
          </p:nvPr>
        </p:nvSpPr>
        <p:spPr>
          <a:xfrm>
            <a:off x="687000" y="925900"/>
            <a:ext cx="7770000" cy="456000"/>
          </a:xfrm>
          <a:prstGeom prst="rect">
            <a:avLst/>
          </a:prstGeom>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lang="es"/>
              <a:t>Se utiliz</a:t>
            </a:r>
            <a:r>
              <a:rPr lang="es"/>
              <a:t>ó una clase abstracta (paquete </a:t>
            </a:r>
            <a:r>
              <a:rPr lang="es">
                <a:solidFill>
                  <a:schemeClr val="dk1"/>
                </a:solidFill>
                <a:latin typeface="Pixelify Sans"/>
                <a:ea typeface="Pixelify Sans"/>
                <a:cs typeface="Pixelify Sans"/>
                <a:sym typeface="Pixelify Sans"/>
              </a:rPr>
              <a:t>ABC</a:t>
            </a:r>
            <a:r>
              <a:rPr lang="es"/>
              <a:t>) para representar un tablero genérico, que establece cuáles son los métodos de interés para las implementaciones de los algoritmos.</a:t>
            </a:r>
            <a:endParaRPr/>
          </a:p>
        </p:txBody>
      </p:sp>
      <p:pic>
        <p:nvPicPr>
          <p:cNvPr id="506" name="Google Shape;506;p21"/>
          <p:cNvPicPr preferRelativeResize="0"/>
          <p:nvPr/>
        </p:nvPicPr>
        <p:blipFill>
          <a:blip r:embed="rId3">
            <a:alphaModFix/>
          </a:blip>
          <a:stretch>
            <a:fillRect/>
          </a:stretch>
        </p:blipFill>
        <p:spPr>
          <a:xfrm>
            <a:off x="1117025" y="1546650"/>
            <a:ext cx="6909950" cy="3301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2"/>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SokobanBoard</a:t>
            </a:r>
            <a:endParaRPr/>
          </a:p>
        </p:txBody>
      </p:sp>
      <p:sp>
        <p:nvSpPr>
          <p:cNvPr id="512" name="Google Shape;512;p22"/>
          <p:cNvSpPr txBox="1"/>
          <p:nvPr>
            <p:ph idx="1" type="body"/>
          </p:nvPr>
        </p:nvSpPr>
        <p:spPr>
          <a:xfrm>
            <a:off x="687000" y="985000"/>
            <a:ext cx="7770000" cy="315600"/>
          </a:xfrm>
          <a:prstGeom prst="rect">
            <a:avLst/>
          </a:prstGeom>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lang="es"/>
              <a:t>Clase que extiende </a:t>
            </a:r>
            <a:r>
              <a:rPr lang="es">
                <a:solidFill>
                  <a:schemeClr val="dk1"/>
                </a:solidFill>
                <a:latin typeface="Pixelify Sans"/>
                <a:ea typeface="Pixelify Sans"/>
                <a:cs typeface="Pixelify Sans"/>
                <a:sym typeface="Pixelify Sans"/>
              </a:rPr>
              <a:t>Board </a:t>
            </a:r>
            <a:r>
              <a:rPr lang="es"/>
              <a:t>para proveer una implementación concreta del tablero de Sokoban.</a:t>
            </a:r>
            <a:endParaRPr/>
          </a:p>
        </p:txBody>
      </p:sp>
      <p:pic>
        <p:nvPicPr>
          <p:cNvPr id="513" name="Google Shape;513;p22"/>
          <p:cNvPicPr preferRelativeResize="0"/>
          <p:nvPr/>
        </p:nvPicPr>
        <p:blipFill rotWithShape="1">
          <a:blip r:embed="rId3">
            <a:alphaModFix/>
          </a:blip>
          <a:srcRect b="0" l="0" r="2544" t="0"/>
          <a:stretch/>
        </p:blipFill>
        <p:spPr>
          <a:xfrm>
            <a:off x="56350" y="1300600"/>
            <a:ext cx="4717651" cy="3732250"/>
          </a:xfrm>
          <a:prstGeom prst="rect">
            <a:avLst/>
          </a:prstGeom>
          <a:noFill/>
          <a:ln>
            <a:noFill/>
          </a:ln>
        </p:spPr>
      </p:pic>
      <p:pic>
        <p:nvPicPr>
          <p:cNvPr id="514" name="Google Shape;514;p22"/>
          <p:cNvPicPr preferRelativeResize="0"/>
          <p:nvPr/>
        </p:nvPicPr>
        <p:blipFill>
          <a:blip r:embed="rId4">
            <a:alphaModFix/>
          </a:blip>
          <a:stretch>
            <a:fillRect/>
          </a:stretch>
        </p:blipFill>
        <p:spPr>
          <a:xfrm>
            <a:off x="4818350" y="2399100"/>
            <a:ext cx="4271475" cy="1535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23"/>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Node</a:t>
            </a:r>
            <a:endParaRPr/>
          </a:p>
        </p:txBody>
      </p:sp>
      <p:sp>
        <p:nvSpPr>
          <p:cNvPr id="520" name="Google Shape;520;p23"/>
          <p:cNvSpPr txBox="1"/>
          <p:nvPr>
            <p:ph idx="1" type="body"/>
          </p:nvPr>
        </p:nvSpPr>
        <p:spPr>
          <a:xfrm>
            <a:off x="685800" y="1200150"/>
            <a:ext cx="7770000" cy="3000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t>Implementaci</a:t>
            </a:r>
            <a:r>
              <a:rPr lang="es"/>
              <a:t>ón del nodo utilizado para los algoritmos de búsqueda.</a:t>
            </a:r>
            <a:endParaRPr/>
          </a:p>
        </p:txBody>
      </p:sp>
      <p:pic>
        <p:nvPicPr>
          <p:cNvPr id="521" name="Google Shape;521;p23"/>
          <p:cNvPicPr preferRelativeResize="0"/>
          <p:nvPr/>
        </p:nvPicPr>
        <p:blipFill>
          <a:blip r:embed="rId3">
            <a:alphaModFix/>
          </a:blip>
          <a:stretch>
            <a:fillRect/>
          </a:stretch>
        </p:blipFill>
        <p:spPr>
          <a:xfrm>
            <a:off x="2468400" y="1811350"/>
            <a:ext cx="4204800" cy="2637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24"/>
          <p:cNvSpPr txBox="1"/>
          <p:nvPr>
            <p:ph type="title"/>
          </p:nvPr>
        </p:nvSpPr>
        <p:spPr>
          <a:xfrm>
            <a:off x="2194560" y="2091690"/>
            <a:ext cx="6124200" cy="891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Deadlocks</a:t>
            </a:r>
            <a:endParaRPr/>
          </a:p>
        </p:txBody>
      </p:sp>
      <p:sp>
        <p:nvSpPr>
          <p:cNvPr id="527" name="Google Shape;527;p24"/>
          <p:cNvSpPr txBox="1"/>
          <p:nvPr>
            <p:ph idx="1" type="body"/>
          </p:nvPr>
        </p:nvSpPr>
        <p:spPr>
          <a:xfrm>
            <a:off x="2194560" y="1748790"/>
            <a:ext cx="6261300" cy="3429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t>Dead Square - Freeze - Corral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25"/>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Deadlocks</a:t>
            </a:r>
            <a:endParaRPr/>
          </a:p>
        </p:txBody>
      </p:sp>
      <p:pic>
        <p:nvPicPr>
          <p:cNvPr id="533" name="Google Shape;533;p25"/>
          <p:cNvPicPr preferRelativeResize="0"/>
          <p:nvPr/>
        </p:nvPicPr>
        <p:blipFill>
          <a:blip r:embed="rId3">
            <a:alphaModFix/>
          </a:blip>
          <a:stretch>
            <a:fillRect/>
          </a:stretch>
        </p:blipFill>
        <p:spPr>
          <a:xfrm>
            <a:off x="1244225" y="1425665"/>
            <a:ext cx="1428750" cy="1190625"/>
          </a:xfrm>
          <a:prstGeom prst="rect">
            <a:avLst/>
          </a:prstGeom>
          <a:noFill/>
          <a:ln>
            <a:noFill/>
          </a:ln>
        </p:spPr>
      </p:pic>
      <p:pic>
        <p:nvPicPr>
          <p:cNvPr id="534" name="Google Shape;534;p25"/>
          <p:cNvPicPr preferRelativeResize="0"/>
          <p:nvPr/>
        </p:nvPicPr>
        <p:blipFill>
          <a:blip r:embed="rId4">
            <a:alphaModFix/>
          </a:blip>
          <a:stretch>
            <a:fillRect/>
          </a:stretch>
        </p:blipFill>
        <p:spPr>
          <a:xfrm>
            <a:off x="3738563" y="1425665"/>
            <a:ext cx="1666875" cy="1190625"/>
          </a:xfrm>
          <a:prstGeom prst="rect">
            <a:avLst/>
          </a:prstGeom>
          <a:noFill/>
          <a:ln>
            <a:noFill/>
          </a:ln>
        </p:spPr>
      </p:pic>
      <p:pic>
        <p:nvPicPr>
          <p:cNvPr id="535" name="Google Shape;535;p25"/>
          <p:cNvPicPr preferRelativeResize="0"/>
          <p:nvPr/>
        </p:nvPicPr>
        <p:blipFill>
          <a:blip r:embed="rId5">
            <a:alphaModFix/>
          </a:blip>
          <a:stretch>
            <a:fillRect/>
          </a:stretch>
        </p:blipFill>
        <p:spPr>
          <a:xfrm>
            <a:off x="6471050" y="1544728"/>
            <a:ext cx="1666875" cy="952500"/>
          </a:xfrm>
          <a:prstGeom prst="rect">
            <a:avLst/>
          </a:prstGeom>
          <a:noFill/>
          <a:ln>
            <a:noFill/>
          </a:ln>
        </p:spPr>
      </p:pic>
      <p:sp>
        <p:nvSpPr>
          <p:cNvPr id="536" name="Google Shape;536;p25"/>
          <p:cNvSpPr txBox="1"/>
          <p:nvPr/>
        </p:nvSpPr>
        <p:spPr>
          <a:xfrm>
            <a:off x="1322750" y="1025475"/>
            <a:ext cx="127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a:latin typeface="Pixelify Sans"/>
                <a:ea typeface="Pixelify Sans"/>
                <a:cs typeface="Pixelify Sans"/>
                <a:sym typeface="Pixelify Sans"/>
              </a:rPr>
              <a:t>Dead Square</a:t>
            </a:r>
            <a:endParaRPr>
              <a:latin typeface="Pixelify Sans"/>
              <a:ea typeface="Pixelify Sans"/>
              <a:cs typeface="Pixelify Sans"/>
              <a:sym typeface="Pixelify Sans"/>
            </a:endParaRPr>
          </a:p>
        </p:txBody>
      </p:sp>
      <p:sp>
        <p:nvSpPr>
          <p:cNvPr id="537" name="Google Shape;537;p25"/>
          <p:cNvSpPr txBox="1"/>
          <p:nvPr/>
        </p:nvSpPr>
        <p:spPr>
          <a:xfrm>
            <a:off x="3936150" y="1030331"/>
            <a:ext cx="127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a:latin typeface="Pixelify Sans"/>
                <a:ea typeface="Pixelify Sans"/>
                <a:cs typeface="Pixelify Sans"/>
                <a:sym typeface="Pixelify Sans"/>
              </a:rPr>
              <a:t>Freeze</a:t>
            </a:r>
            <a:endParaRPr>
              <a:latin typeface="Pixelify Sans"/>
              <a:ea typeface="Pixelify Sans"/>
              <a:cs typeface="Pixelify Sans"/>
              <a:sym typeface="Pixelify Sans"/>
            </a:endParaRPr>
          </a:p>
        </p:txBody>
      </p:sp>
      <p:sp>
        <p:nvSpPr>
          <p:cNvPr id="538" name="Google Shape;538;p25"/>
          <p:cNvSpPr txBox="1"/>
          <p:nvPr/>
        </p:nvSpPr>
        <p:spPr>
          <a:xfrm>
            <a:off x="6668638" y="1030331"/>
            <a:ext cx="127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a:latin typeface="Pixelify Sans"/>
                <a:ea typeface="Pixelify Sans"/>
                <a:cs typeface="Pixelify Sans"/>
                <a:sym typeface="Pixelify Sans"/>
              </a:rPr>
              <a:t>Corral</a:t>
            </a:r>
            <a:endParaRPr>
              <a:latin typeface="Pixelify Sans"/>
              <a:ea typeface="Pixelify Sans"/>
              <a:cs typeface="Pixelify Sans"/>
              <a:sym typeface="Pixelify Sans"/>
            </a:endParaRPr>
          </a:p>
        </p:txBody>
      </p:sp>
      <p:sp>
        <p:nvSpPr>
          <p:cNvPr id="539" name="Google Shape;539;p25"/>
          <p:cNvSpPr txBox="1"/>
          <p:nvPr/>
        </p:nvSpPr>
        <p:spPr>
          <a:xfrm>
            <a:off x="1345550" y="2616300"/>
            <a:ext cx="1248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100">
                <a:latin typeface="Pixelify Sans"/>
                <a:ea typeface="Pixelify Sans"/>
                <a:cs typeface="Pixelify Sans"/>
                <a:sym typeface="Pixelify Sans"/>
              </a:rPr>
              <a:t>Estático</a:t>
            </a:r>
            <a:endParaRPr sz="1100">
              <a:latin typeface="Pixelify Sans"/>
              <a:ea typeface="Pixelify Sans"/>
              <a:cs typeface="Pixelify Sans"/>
              <a:sym typeface="Pixelify Sans"/>
            </a:endParaRPr>
          </a:p>
        </p:txBody>
      </p:sp>
      <p:sp>
        <p:nvSpPr>
          <p:cNvPr id="540" name="Google Shape;540;p25"/>
          <p:cNvSpPr txBox="1"/>
          <p:nvPr/>
        </p:nvSpPr>
        <p:spPr>
          <a:xfrm>
            <a:off x="3947563" y="2616300"/>
            <a:ext cx="1248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100">
                <a:latin typeface="Pixelify Sans"/>
                <a:ea typeface="Pixelify Sans"/>
                <a:cs typeface="Pixelify Sans"/>
                <a:sym typeface="Pixelify Sans"/>
              </a:rPr>
              <a:t>Dinámico</a:t>
            </a:r>
            <a:endParaRPr sz="1100">
              <a:latin typeface="Pixelify Sans"/>
              <a:ea typeface="Pixelify Sans"/>
              <a:cs typeface="Pixelify Sans"/>
              <a:sym typeface="Pixelify Sans"/>
            </a:endParaRPr>
          </a:p>
        </p:txBody>
      </p:sp>
      <p:sp>
        <p:nvSpPr>
          <p:cNvPr id="541" name="Google Shape;541;p25"/>
          <p:cNvSpPr txBox="1"/>
          <p:nvPr/>
        </p:nvSpPr>
        <p:spPr>
          <a:xfrm>
            <a:off x="6471075" y="2616300"/>
            <a:ext cx="1666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100">
                <a:latin typeface="Pixelify Sans"/>
                <a:ea typeface="Pixelify Sans"/>
                <a:cs typeface="Pixelify Sans"/>
                <a:sym typeface="Pixelify Sans"/>
              </a:rPr>
              <a:t>Requiere un Solver</a:t>
            </a:r>
            <a:endParaRPr sz="1100">
              <a:latin typeface="Pixelify Sans"/>
              <a:ea typeface="Pixelify Sans"/>
              <a:cs typeface="Pixelify Sans"/>
              <a:sym typeface="Pixelify Sans"/>
            </a:endParaRPr>
          </a:p>
        </p:txBody>
      </p:sp>
      <p:pic>
        <p:nvPicPr>
          <p:cNvPr id="542" name="Google Shape;542;p25"/>
          <p:cNvPicPr preferRelativeResize="0"/>
          <p:nvPr/>
        </p:nvPicPr>
        <p:blipFill>
          <a:blip r:embed="rId6">
            <a:alphaModFix/>
          </a:blip>
          <a:stretch>
            <a:fillRect/>
          </a:stretch>
        </p:blipFill>
        <p:spPr>
          <a:xfrm>
            <a:off x="6668625" y="1385146"/>
            <a:ext cx="1271700" cy="1271680"/>
          </a:xfrm>
          <a:prstGeom prst="rect">
            <a:avLst/>
          </a:prstGeom>
          <a:noFill/>
          <a:ln>
            <a:noFill/>
          </a:ln>
        </p:spPr>
      </p:pic>
      <p:sp>
        <p:nvSpPr>
          <p:cNvPr id="543" name="Google Shape;543;p25"/>
          <p:cNvSpPr txBox="1"/>
          <p:nvPr/>
        </p:nvSpPr>
        <p:spPr>
          <a:xfrm>
            <a:off x="2727925" y="4317800"/>
            <a:ext cx="3688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100" u="sng">
                <a:solidFill>
                  <a:schemeClr val="hlink"/>
                </a:solidFill>
                <a:latin typeface="Pixelify Sans"/>
                <a:ea typeface="Pixelify Sans"/>
                <a:cs typeface="Pixelify Sans"/>
                <a:sym typeface="Pixelify Sans"/>
                <a:hlinkClick r:id="rId7"/>
              </a:rPr>
              <a:t>http://sokobano.de/wiki/index.php?title=How_to_detect_deadlocks</a:t>
            </a:r>
            <a:r>
              <a:rPr lang="es" sz="1100">
                <a:latin typeface="Pixelify Sans"/>
                <a:ea typeface="Pixelify Sans"/>
                <a:cs typeface="Pixelify Sans"/>
                <a:sym typeface="Pixelify Sans"/>
              </a:rPr>
              <a:t> </a:t>
            </a:r>
            <a:endParaRPr sz="1100">
              <a:latin typeface="Pixelify Sans"/>
              <a:ea typeface="Pixelify Sans"/>
              <a:cs typeface="Pixelify Sans"/>
              <a:sym typeface="Pixelify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26"/>
          <p:cNvSpPr txBox="1"/>
          <p:nvPr>
            <p:ph type="title"/>
          </p:nvPr>
        </p:nvSpPr>
        <p:spPr>
          <a:xfrm>
            <a:off x="2194560" y="2091690"/>
            <a:ext cx="6124200" cy="891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Heurísticas</a:t>
            </a:r>
            <a:endParaRPr/>
          </a:p>
        </p:txBody>
      </p:sp>
      <p:sp>
        <p:nvSpPr>
          <p:cNvPr id="549" name="Google Shape;549;p26"/>
          <p:cNvSpPr txBox="1"/>
          <p:nvPr>
            <p:ph idx="1" type="body"/>
          </p:nvPr>
        </p:nvSpPr>
        <p:spPr>
          <a:xfrm>
            <a:off x="2194560" y="1748790"/>
            <a:ext cx="6261300" cy="3429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t>Distancia Player-to-Box vs </a:t>
            </a:r>
            <a:r>
              <a:rPr lang="es"/>
              <a:t>Boxes-to-Goals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27"/>
          <p:cNvSpPr txBox="1"/>
          <p:nvPr>
            <p:ph idx="1" type="body"/>
          </p:nvPr>
        </p:nvSpPr>
        <p:spPr>
          <a:xfrm>
            <a:off x="4457700" y="925900"/>
            <a:ext cx="3998100" cy="18117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b="1" lang="es">
                <a:solidFill>
                  <a:srgbClr val="188038"/>
                </a:solidFill>
                <a:latin typeface="Consolas"/>
                <a:ea typeface="Consolas"/>
                <a:cs typeface="Consolas"/>
                <a:sym typeface="Consolas"/>
              </a:rPr>
              <a:t>La distancia </a:t>
            </a:r>
            <a:r>
              <a:rPr b="1" lang="es">
                <a:solidFill>
                  <a:srgbClr val="188038"/>
                </a:solidFill>
                <a:latin typeface="Consolas"/>
                <a:ea typeface="Consolas"/>
                <a:cs typeface="Consolas"/>
                <a:sym typeface="Consolas"/>
              </a:rPr>
              <a:t>mínima</a:t>
            </a:r>
            <a:r>
              <a:rPr b="1" lang="es">
                <a:solidFill>
                  <a:srgbClr val="188038"/>
                </a:solidFill>
                <a:latin typeface="Consolas"/>
                <a:ea typeface="Consolas"/>
                <a:cs typeface="Consolas"/>
                <a:sym typeface="Consolas"/>
              </a:rPr>
              <a:t> entre cada caja y </a:t>
            </a:r>
            <a:r>
              <a:rPr b="1" lang="es">
                <a:solidFill>
                  <a:srgbClr val="188038"/>
                </a:solidFill>
                <a:latin typeface="Consolas"/>
                <a:ea typeface="Consolas"/>
                <a:cs typeface="Consolas"/>
                <a:sym typeface="Consolas"/>
              </a:rPr>
              <a:t>algún</a:t>
            </a:r>
            <a:r>
              <a:rPr b="1" lang="es">
                <a:solidFill>
                  <a:srgbClr val="188038"/>
                </a:solidFill>
                <a:latin typeface="Consolas"/>
                <a:ea typeface="Consolas"/>
                <a:cs typeface="Consolas"/>
                <a:sym typeface="Consolas"/>
              </a:rPr>
              <a:t> objetivo</a:t>
            </a:r>
            <a:endParaRPr b="1">
              <a:solidFill>
                <a:srgbClr val="188038"/>
              </a:solidFill>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Asume que </a:t>
            </a:r>
            <a:r>
              <a:rPr b="1" lang="es">
                <a:latin typeface="Consolas"/>
                <a:ea typeface="Consolas"/>
                <a:cs typeface="Consolas"/>
                <a:sym typeface="Consolas"/>
              </a:rPr>
              <a:t>no existen</a:t>
            </a:r>
            <a:r>
              <a:rPr lang="es">
                <a:latin typeface="Consolas"/>
                <a:ea typeface="Consolas"/>
                <a:cs typeface="Consolas"/>
                <a:sym typeface="Consolas"/>
              </a:rPr>
              <a:t> colisiones entre cajas o muros y que muchas cajas </a:t>
            </a:r>
            <a:r>
              <a:rPr b="1" lang="es">
                <a:latin typeface="Consolas"/>
                <a:ea typeface="Consolas"/>
                <a:cs typeface="Consolas"/>
                <a:sym typeface="Consolas"/>
              </a:rPr>
              <a:t>pueden ir a un </a:t>
            </a:r>
            <a:r>
              <a:rPr b="1" lang="es">
                <a:latin typeface="Consolas"/>
                <a:ea typeface="Consolas"/>
                <a:cs typeface="Consolas"/>
                <a:sym typeface="Consolas"/>
              </a:rPr>
              <a:t>único</a:t>
            </a:r>
            <a:r>
              <a:rPr b="1" lang="es">
                <a:latin typeface="Consolas"/>
                <a:ea typeface="Consolas"/>
                <a:cs typeface="Consolas"/>
                <a:sym typeface="Consolas"/>
              </a:rPr>
              <a:t> objetivo</a:t>
            </a:r>
            <a:endParaRPr b="1">
              <a:latin typeface="Consolas"/>
              <a:ea typeface="Consolas"/>
              <a:cs typeface="Consolas"/>
              <a:sym typeface="Consolas"/>
            </a:endParaRPr>
          </a:p>
          <a:p>
            <a:pPr indent="0" lvl="0" marL="457200" rtl="0" algn="l">
              <a:spcBef>
                <a:spcPts val="200"/>
              </a:spcBef>
              <a:spcAft>
                <a:spcPts val="0"/>
              </a:spcAft>
              <a:buNone/>
            </a:pPr>
            <a:r>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No hay sobreestimación, pues relaja el problema y no bloquea metas</a:t>
            </a:r>
            <a:endParaRPr>
              <a:latin typeface="Consolas"/>
              <a:ea typeface="Consolas"/>
              <a:cs typeface="Consolas"/>
              <a:sym typeface="Consolas"/>
            </a:endParaRPr>
          </a:p>
          <a:p>
            <a:pPr indent="0" lvl="0" marL="457200" rtl="0" algn="l">
              <a:spcBef>
                <a:spcPts val="200"/>
              </a:spcBef>
              <a:spcAft>
                <a:spcPts val="0"/>
              </a:spcAft>
              <a:buNone/>
            </a:pPr>
            <a:r>
              <a:rPr lang="es">
                <a:latin typeface="Consolas"/>
                <a:ea typeface="Consolas"/>
                <a:cs typeface="Consolas"/>
                <a:sym typeface="Consolas"/>
              </a:rPr>
              <a:t> </a:t>
            </a:r>
            <a:endParaRPr>
              <a:latin typeface="Consolas"/>
              <a:ea typeface="Consolas"/>
              <a:cs typeface="Consolas"/>
              <a:sym typeface="Consolas"/>
            </a:endParaRPr>
          </a:p>
        </p:txBody>
      </p:sp>
      <p:sp>
        <p:nvSpPr>
          <p:cNvPr id="555" name="Google Shape;555;p27"/>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Heurística</a:t>
            </a:r>
            <a:r>
              <a:rPr lang="es"/>
              <a:t> 1. Distancia </a:t>
            </a:r>
            <a:r>
              <a:rPr lang="es"/>
              <a:t>Mínima</a:t>
            </a:r>
            <a:r>
              <a:rPr lang="es"/>
              <a:t> Box-to-Goal</a:t>
            </a:r>
            <a:endParaRPr/>
          </a:p>
        </p:txBody>
      </p:sp>
      <p:pic>
        <p:nvPicPr>
          <p:cNvPr id="556" name="Google Shape;556;p27" title="result.gif"/>
          <p:cNvPicPr preferRelativeResize="0"/>
          <p:nvPr/>
        </p:nvPicPr>
        <p:blipFill>
          <a:blip r:embed="rId3">
            <a:alphaModFix/>
          </a:blip>
          <a:stretch>
            <a:fillRect/>
          </a:stretch>
        </p:blipFill>
        <p:spPr>
          <a:xfrm>
            <a:off x="3302262" y="2974488"/>
            <a:ext cx="2539500" cy="19047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8"/>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Heurística 2. Algoritmo Húngaro</a:t>
            </a:r>
            <a:endParaRPr/>
          </a:p>
        </p:txBody>
      </p:sp>
      <p:sp>
        <p:nvSpPr>
          <p:cNvPr id="562" name="Google Shape;562;p28"/>
          <p:cNvSpPr txBox="1"/>
          <p:nvPr>
            <p:ph idx="1" type="body"/>
          </p:nvPr>
        </p:nvSpPr>
        <p:spPr>
          <a:xfrm>
            <a:off x="4457700" y="925900"/>
            <a:ext cx="3998100" cy="34977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b="1" lang="es">
                <a:solidFill>
                  <a:srgbClr val="188038"/>
                </a:solidFill>
                <a:latin typeface="Consolas"/>
                <a:ea typeface="Consolas"/>
                <a:cs typeface="Consolas"/>
                <a:sym typeface="Consolas"/>
              </a:rPr>
              <a:t>Similar a la primera </a:t>
            </a:r>
            <a:r>
              <a:rPr b="1" lang="es">
                <a:solidFill>
                  <a:srgbClr val="188038"/>
                </a:solidFill>
                <a:latin typeface="Consolas"/>
                <a:ea typeface="Consolas"/>
                <a:cs typeface="Consolas"/>
                <a:sym typeface="Consolas"/>
              </a:rPr>
              <a:t>heurística</a:t>
            </a:r>
            <a:r>
              <a:rPr b="1" lang="es">
                <a:solidFill>
                  <a:srgbClr val="188038"/>
                </a:solidFill>
                <a:latin typeface="Consolas"/>
                <a:ea typeface="Consolas"/>
                <a:cs typeface="Consolas"/>
                <a:sym typeface="Consolas"/>
              </a:rPr>
              <a:t>, pero sin repetir objetivos</a:t>
            </a:r>
            <a:endParaRPr b="1">
              <a:solidFill>
                <a:srgbClr val="188038"/>
              </a:solidFill>
              <a:latin typeface="Consolas"/>
              <a:ea typeface="Consolas"/>
              <a:cs typeface="Consolas"/>
              <a:sym typeface="Consolas"/>
            </a:endParaRPr>
          </a:p>
          <a:p>
            <a:pPr indent="0" lvl="0" marL="0" rtl="0" algn="l">
              <a:spcBef>
                <a:spcPts val="200"/>
              </a:spcBef>
              <a:spcAft>
                <a:spcPts val="0"/>
              </a:spcAft>
              <a:buNone/>
            </a:pPr>
            <a:r>
              <a:t/>
            </a:r>
            <a:endParaRPr b="1">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Mucho </a:t>
            </a:r>
            <a:r>
              <a:rPr lang="es">
                <a:latin typeface="Consolas"/>
                <a:ea typeface="Consolas"/>
                <a:cs typeface="Consolas"/>
                <a:sym typeface="Consolas"/>
              </a:rPr>
              <a:t>más</a:t>
            </a:r>
            <a:r>
              <a:rPr lang="es">
                <a:latin typeface="Consolas"/>
                <a:ea typeface="Consolas"/>
                <a:cs typeface="Consolas"/>
                <a:sym typeface="Consolas"/>
              </a:rPr>
              <a:t> costosa (</a:t>
            </a:r>
            <a:r>
              <a:rPr b="1" lang="es">
                <a:latin typeface="Consolas"/>
                <a:ea typeface="Consolas"/>
                <a:cs typeface="Consolas"/>
                <a:sym typeface="Consolas"/>
              </a:rPr>
              <a:t>O(n³)</a:t>
            </a:r>
            <a:r>
              <a:rPr lang="es">
                <a:latin typeface="Consolas"/>
                <a:ea typeface="Consolas"/>
                <a:cs typeface="Consolas"/>
                <a:sym typeface="Consolas"/>
              </a:rPr>
              <a:t>), pero reduce la cantidad de nodos explorados</a:t>
            </a:r>
            <a:endParaRPr>
              <a:latin typeface="Consolas"/>
              <a:ea typeface="Consolas"/>
              <a:cs typeface="Consolas"/>
              <a:sym typeface="Consolas"/>
            </a:endParaRPr>
          </a:p>
          <a:p>
            <a:pPr indent="0" lvl="0" marL="457200" rtl="0" algn="l">
              <a:spcBef>
                <a:spcPts val="200"/>
              </a:spcBef>
              <a:spcAft>
                <a:spcPts val="0"/>
              </a:spcAft>
              <a:buNone/>
            </a:pPr>
            <a:r>
              <a:rPr lang="es">
                <a:latin typeface="Consolas"/>
                <a:ea typeface="Consolas"/>
                <a:cs typeface="Consolas"/>
                <a:sym typeface="Consolas"/>
              </a:rPr>
              <a:t>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La librería scipy utiliza una versión </a:t>
            </a:r>
            <a:r>
              <a:rPr b="1" lang="es">
                <a:latin typeface="Consolas"/>
                <a:ea typeface="Consolas"/>
                <a:cs typeface="Consolas"/>
                <a:sym typeface="Consolas"/>
              </a:rPr>
              <a:t>optimizada </a:t>
            </a:r>
            <a:r>
              <a:rPr lang="es">
                <a:latin typeface="Consolas"/>
                <a:ea typeface="Consolas"/>
                <a:cs typeface="Consolas"/>
                <a:sym typeface="Consolas"/>
              </a:rPr>
              <a:t>con el algoritmo LAPJV.</a:t>
            </a:r>
            <a:endParaRPr>
              <a:latin typeface="Consolas"/>
              <a:ea typeface="Consolas"/>
              <a:cs typeface="Consolas"/>
              <a:sym typeface="Consolas"/>
            </a:endParaRPr>
          </a:p>
          <a:p>
            <a:pPr indent="0" lvl="0" marL="0" rtl="0" algn="l">
              <a:spcBef>
                <a:spcPts val="200"/>
              </a:spcBef>
              <a:spcAft>
                <a:spcPts val="0"/>
              </a:spcAft>
              <a:buNone/>
            </a:pPr>
            <a:r>
              <a:t/>
            </a:r>
            <a:endParaRPr b="1">
              <a:latin typeface="Consolas"/>
              <a:ea typeface="Consolas"/>
              <a:cs typeface="Consolas"/>
              <a:sym typeface="Consolas"/>
            </a:endParaRPr>
          </a:p>
          <a:p>
            <a:pPr indent="0" lvl="0" marL="0" rtl="0" algn="l">
              <a:spcBef>
                <a:spcPts val="200"/>
              </a:spcBef>
              <a:spcAft>
                <a:spcPts val="0"/>
              </a:spcAft>
              <a:buNone/>
            </a:pPr>
            <a:r>
              <a:t/>
            </a:r>
            <a:endParaRPr b="1">
              <a:latin typeface="Consolas"/>
              <a:ea typeface="Consolas"/>
              <a:cs typeface="Consolas"/>
              <a:sym typeface="Consolas"/>
            </a:endParaRPr>
          </a:p>
        </p:txBody>
      </p:sp>
      <p:pic>
        <p:nvPicPr>
          <p:cNvPr id="563" name="Google Shape;563;p28" title="13.gif"/>
          <p:cNvPicPr preferRelativeResize="0"/>
          <p:nvPr/>
        </p:nvPicPr>
        <p:blipFill>
          <a:blip r:embed="rId3">
            <a:alphaModFix/>
          </a:blip>
          <a:stretch>
            <a:fillRect/>
          </a:stretch>
        </p:blipFill>
        <p:spPr>
          <a:xfrm>
            <a:off x="738075" y="925890"/>
            <a:ext cx="3043200" cy="39129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9"/>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Heurística NA1. H1 + Distancia Player-To-Box</a:t>
            </a:r>
            <a:endParaRPr/>
          </a:p>
        </p:txBody>
      </p:sp>
      <p:sp>
        <p:nvSpPr>
          <p:cNvPr id="569" name="Google Shape;569;p29"/>
          <p:cNvSpPr txBox="1"/>
          <p:nvPr>
            <p:ph idx="1" type="body"/>
          </p:nvPr>
        </p:nvSpPr>
        <p:spPr>
          <a:xfrm>
            <a:off x="4457700" y="925900"/>
            <a:ext cx="3998100" cy="34977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b="1" lang="es">
                <a:solidFill>
                  <a:srgbClr val="8C5325"/>
                </a:solidFill>
                <a:latin typeface="Consolas"/>
                <a:ea typeface="Consolas"/>
                <a:cs typeface="Consolas"/>
                <a:sym typeface="Consolas"/>
              </a:rPr>
              <a:t>La primera </a:t>
            </a:r>
            <a:r>
              <a:rPr b="1" lang="es">
                <a:solidFill>
                  <a:srgbClr val="8C5325"/>
                </a:solidFill>
                <a:latin typeface="Consolas"/>
                <a:ea typeface="Consolas"/>
                <a:cs typeface="Consolas"/>
                <a:sym typeface="Consolas"/>
              </a:rPr>
              <a:t>heurística</a:t>
            </a:r>
            <a:r>
              <a:rPr b="1" lang="es">
                <a:solidFill>
                  <a:srgbClr val="8C5325"/>
                </a:solidFill>
                <a:latin typeface="Consolas"/>
                <a:ea typeface="Consolas"/>
                <a:cs typeface="Consolas"/>
                <a:sym typeface="Consolas"/>
              </a:rPr>
              <a:t>, pero teniendo en cuenta la distancia </a:t>
            </a:r>
            <a:r>
              <a:rPr b="1" lang="es">
                <a:solidFill>
                  <a:srgbClr val="8C5325"/>
                </a:solidFill>
                <a:latin typeface="Consolas"/>
                <a:ea typeface="Consolas"/>
                <a:cs typeface="Consolas"/>
                <a:sym typeface="Consolas"/>
              </a:rPr>
              <a:t>mínima</a:t>
            </a:r>
            <a:r>
              <a:rPr b="1" lang="es">
                <a:solidFill>
                  <a:srgbClr val="8C5325"/>
                </a:solidFill>
                <a:latin typeface="Consolas"/>
                <a:ea typeface="Consolas"/>
                <a:cs typeface="Consolas"/>
                <a:sym typeface="Consolas"/>
              </a:rPr>
              <a:t> entre una caja y el jugador</a:t>
            </a:r>
            <a:endParaRPr b="1">
              <a:solidFill>
                <a:srgbClr val="8C5325"/>
              </a:solidFill>
              <a:latin typeface="Consolas"/>
              <a:ea typeface="Consolas"/>
              <a:cs typeface="Consolas"/>
              <a:sym typeface="Consolas"/>
            </a:endParaRPr>
          </a:p>
          <a:p>
            <a:pPr indent="0" lvl="0" marL="0" rtl="0" algn="l">
              <a:spcBef>
                <a:spcPts val="200"/>
              </a:spcBef>
              <a:spcAft>
                <a:spcPts val="0"/>
              </a:spcAft>
              <a:buNone/>
            </a:pPr>
            <a:r>
              <a:t/>
            </a:r>
            <a:endParaRPr b="1">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Hace un doble conteo de pasos</a:t>
            </a:r>
            <a:endParaRPr>
              <a:latin typeface="Consolas"/>
              <a:ea typeface="Consolas"/>
              <a:cs typeface="Consolas"/>
              <a:sym typeface="Consolas"/>
            </a:endParaRPr>
          </a:p>
          <a:p>
            <a:pPr indent="0" lvl="0" marL="457200" rtl="0" algn="l">
              <a:spcBef>
                <a:spcPts val="200"/>
              </a:spcBef>
              <a:spcAft>
                <a:spcPts val="0"/>
              </a:spcAft>
              <a:buNone/>
            </a:pPr>
            <a:r>
              <a:rPr lang="es">
                <a:latin typeface="Consolas"/>
                <a:ea typeface="Consolas"/>
                <a:cs typeface="Consolas"/>
                <a:sym typeface="Consolas"/>
              </a:rPr>
              <a:t>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Distancia Manhattan no es un camino válido </a:t>
            </a:r>
            <a:endParaRPr>
              <a:latin typeface="Consolas"/>
              <a:ea typeface="Consolas"/>
              <a:cs typeface="Consolas"/>
              <a:sym typeface="Consolas"/>
            </a:endParaRPr>
          </a:p>
          <a:p>
            <a:pPr indent="-304800" lvl="1" marL="914400" rtl="0" algn="l">
              <a:spcBef>
                <a:spcPts val="0"/>
              </a:spcBef>
              <a:spcAft>
                <a:spcPts val="0"/>
              </a:spcAft>
              <a:buSzPts val="1200"/>
              <a:buFont typeface="Consolas"/>
              <a:buChar char="❏"/>
            </a:pPr>
            <a:r>
              <a:rPr lang="es" sz="1200">
                <a:latin typeface="Consolas"/>
                <a:ea typeface="Consolas"/>
                <a:cs typeface="Consolas"/>
                <a:sym typeface="Consolas"/>
              </a:rPr>
              <a:t>Requiere que haga un rodeo para situarse en el lado opuesto</a:t>
            </a:r>
            <a:endParaRPr sz="1200">
              <a:latin typeface="Consolas"/>
              <a:ea typeface="Consolas"/>
              <a:cs typeface="Consolas"/>
              <a:sym typeface="Consolas"/>
            </a:endParaRPr>
          </a:p>
          <a:p>
            <a:pPr indent="0" lvl="0" marL="457200" rtl="0" algn="l">
              <a:spcBef>
                <a:spcPts val="200"/>
              </a:spcBef>
              <a:spcAft>
                <a:spcPts val="0"/>
              </a:spcAft>
              <a:buNone/>
            </a:pPr>
            <a:r>
              <a:t/>
            </a:r>
            <a:endParaRPr>
              <a:latin typeface="Consolas"/>
              <a:ea typeface="Consolas"/>
              <a:cs typeface="Consolas"/>
              <a:sym typeface="Consolas"/>
            </a:endParaRPr>
          </a:p>
          <a:p>
            <a:pPr indent="0" lvl="0" marL="0" rtl="0" algn="l">
              <a:spcBef>
                <a:spcPts val="200"/>
              </a:spcBef>
              <a:spcAft>
                <a:spcPts val="0"/>
              </a:spcAft>
              <a:buNone/>
            </a:pPr>
            <a:r>
              <a:t/>
            </a:r>
            <a:endParaRPr b="1">
              <a:latin typeface="Consolas"/>
              <a:ea typeface="Consolas"/>
              <a:cs typeface="Consolas"/>
              <a:sym typeface="Consolas"/>
            </a:endParaRPr>
          </a:p>
          <a:p>
            <a:pPr indent="0" lvl="0" marL="0" rtl="0" algn="l">
              <a:spcBef>
                <a:spcPts val="200"/>
              </a:spcBef>
              <a:spcAft>
                <a:spcPts val="0"/>
              </a:spcAft>
              <a:buNone/>
            </a:pPr>
            <a:r>
              <a:t/>
            </a:r>
            <a:endParaRPr b="1">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0"/>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Heurística NA2. Algoritmo Húngaro Greedy</a:t>
            </a:r>
            <a:endParaRPr/>
          </a:p>
        </p:txBody>
      </p:sp>
      <p:sp>
        <p:nvSpPr>
          <p:cNvPr id="575" name="Google Shape;575;p30"/>
          <p:cNvSpPr txBox="1"/>
          <p:nvPr>
            <p:ph idx="1" type="body"/>
          </p:nvPr>
        </p:nvSpPr>
        <p:spPr>
          <a:xfrm>
            <a:off x="4457700" y="925900"/>
            <a:ext cx="3998100" cy="34977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b="1" lang="es">
                <a:solidFill>
                  <a:srgbClr val="8C5325"/>
                </a:solidFill>
                <a:latin typeface="Consolas"/>
                <a:ea typeface="Consolas"/>
                <a:cs typeface="Consolas"/>
                <a:sym typeface="Consolas"/>
              </a:rPr>
              <a:t>Similar a la </a:t>
            </a:r>
            <a:r>
              <a:rPr b="1" lang="es">
                <a:solidFill>
                  <a:srgbClr val="8C5325"/>
                </a:solidFill>
                <a:latin typeface="Consolas"/>
                <a:ea typeface="Consolas"/>
                <a:cs typeface="Consolas"/>
                <a:sym typeface="Consolas"/>
              </a:rPr>
              <a:t>idea de Algoritmo Húngaro, pero con “asignación miope”</a:t>
            </a:r>
            <a:endParaRPr b="1">
              <a:solidFill>
                <a:srgbClr val="8C5325"/>
              </a:solidFill>
              <a:latin typeface="Consolas"/>
              <a:ea typeface="Consolas"/>
              <a:cs typeface="Consolas"/>
              <a:sym typeface="Consolas"/>
            </a:endParaRPr>
          </a:p>
          <a:p>
            <a:pPr indent="0" lvl="0" marL="0" rtl="0" algn="l">
              <a:spcBef>
                <a:spcPts val="200"/>
              </a:spcBef>
              <a:spcAft>
                <a:spcPts val="0"/>
              </a:spcAft>
              <a:buNone/>
            </a:pPr>
            <a:r>
              <a:t/>
            </a:r>
            <a:endParaRPr b="1">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No explora todas las combinaciones posibles (Probabilidad de sobreestimación)</a:t>
            </a:r>
            <a:endParaRPr>
              <a:latin typeface="Consolas"/>
              <a:ea typeface="Consolas"/>
              <a:cs typeface="Consolas"/>
              <a:sym typeface="Consolas"/>
            </a:endParaRPr>
          </a:p>
          <a:p>
            <a:pPr indent="0" lvl="0" marL="457200" rtl="0" algn="l">
              <a:spcBef>
                <a:spcPts val="200"/>
              </a:spcBef>
              <a:spcAft>
                <a:spcPts val="0"/>
              </a:spcAft>
              <a:buNone/>
            </a:pPr>
            <a:r>
              <a:rPr lang="es">
                <a:latin typeface="Consolas"/>
                <a:ea typeface="Consolas"/>
                <a:cs typeface="Consolas"/>
                <a:sym typeface="Consolas"/>
              </a:rPr>
              <a:t>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Es más rápida (O(N*M))</a:t>
            </a:r>
            <a:endParaRPr>
              <a:latin typeface="Consolas"/>
              <a:ea typeface="Consolas"/>
              <a:cs typeface="Consolas"/>
              <a:sym typeface="Consolas"/>
            </a:endParaRPr>
          </a:p>
          <a:p>
            <a:pPr indent="0" lvl="0" marL="0" rtl="0" algn="l">
              <a:spcBef>
                <a:spcPts val="200"/>
              </a:spcBef>
              <a:spcAft>
                <a:spcPts val="0"/>
              </a:spcAft>
              <a:buNone/>
            </a:pPr>
            <a:r>
              <a:t/>
            </a:r>
            <a:endParaRPr b="1">
              <a:latin typeface="Consolas"/>
              <a:ea typeface="Consolas"/>
              <a:cs typeface="Consolas"/>
              <a:sym typeface="Consolas"/>
            </a:endParaRPr>
          </a:p>
          <a:p>
            <a:pPr indent="0" lvl="0" marL="0" rtl="0" algn="l">
              <a:spcBef>
                <a:spcPts val="200"/>
              </a:spcBef>
              <a:spcAft>
                <a:spcPts val="0"/>
              </a:spcAft>
              <a:buNone/>
            </a:pPr>
            <a:r>
              <a:t/>
            </a:r>
            <a:endParaRPr b="1">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1"/>
          <p:cNvSpPr txBox="1"/>
          <p:nvPr>
            <p:ph type="title"/>
          </p:nvPr>
        </p:nvSpPr>
        <p:spPr>
          <a:xfrm>
            <a:off x="2194560" y="2091690"/>
            <a:ext cx="6124200" cy="891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Métodos de </a:t>
            </a:r>
            <a:r>
              <a:rPr lang="es"/>
              <a:t>Búsqueda: Resultados</a:t>
            </a:r>
            <a:endParaRPr/>
          </a:p>
        </p:txBody>
      </p:sp>
      <p:sp>
        <p:nvSpPr>
          <p:cNvPr id="581" name="Google Shape;581;p31"/>
          <p:cNvSpPr txBox="1"/>
          <p:nvPr>
            <p:ph idx="1" type="body"/>
          </p:nvPr>
        </p:nvSpPr>
        <p:spPr>
          <a:xfrm>
            <a:off x="2194560" y="1748790"/>
            <a:ext cx="6261300" cy="3429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t>DFS vs BFS vs A* vs Greedy BFS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2"/>
          <p:cNvSpPr txBox="1"/>
          <p:nvPr>
            <p:ph idx="1" type="body"/>
          </p:nvPr>
        </p:nvSpPr>
        <p:spPr>
          <a:xfrm>
            <a:off x="4457700" y="1200150"/>
            <a:ext cx="3998100" cy="34977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latin typeface="Consolas"/>
                <a:ea typeface="Consolas"/>
                <a:cs typeface="Consolas"/>
                <a:sym typeface="Consolas"/>
              </a:rPr>
              <a:t>Uso de </a:t>
            </a:r>
            <a:r>
              <a:rPr lang="es" u="sng">
                <a:solidFill>
                  <a:schemeClr val="hlink"/>
                </a:solidFill>
                <a:latin typeface="Consolas"/>
                <a:ea typeface="Consolas"/>
                <a:cs typeface="Consolas"/>
                <a:sym typeface="Consolas"/>
                <a:hlinkClick r:id="rId3"/>
              </a:rPr>
              <a:t>sokobano.de</a:t>
            </a:r>
            <a:r>
              <a:rPr lang="es">
                <a:latin typeface="Consolas"/>
                <a:ea typeface="Consolas"/>
                <a:cs typeface="Consolas"/>
                <a:sym typeface="Consolas"/>
              </a:rPr>
              <a:t> para la busqueda de niveles preexistentes</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Parseo de archivos .sok </a:t>
            </a:r>
            <a:r>
              <a:rPr lang="es" u="sng">
                <a:solidFill>
                  <a:schemeClr val="hlink"/>
                </a:solidFill>
                <a:latin typeface="Consolas"/>
                <a:ea typeface="Consolas"/>
                <a:cs typeface="Consolas"/>
                <a:sym typeface="Consolas"/>
                <a:hlinkClick r:id="rId4"/>
              </a:rPr>
              <a:t>Sokoban YASC</a:t>
            </a:r>
            <a:r>
              <a:rPr lang="es">
                <a:latin typeface="Consolas"/>
                <a:ea typeface="Consolas"/>
                <a:cs typeface="Consolas"/>
                <a:sym typeface="Consolas"/>
              </a:rPr>
              <a:t> a niveles individuales</a:t>
            </a:r>
            <a:endParaRPr>
              <a:latin typeface="Consolas"/>
              <a:ea typeface="Consolas"/>
              <a:cs typeface="Consolas"/>
              <a:sym typeface="Consolas"/>
            </a:endParaRPr>
          </a:p>
          <a:p>
            <a:pPr indent="-304800" lvl="0" marL="457200" rtl="0" algn="l">
              <a:spcBef>
                <a:spcPts val="0"/>
              </a:spcBef>
              <a:spcAft>
                <a:spcPts val="0"/>
              </a:spcAft>
              <a:buSzPts val="1200"/>
              <a:buFont typeface="Consolas"/>
              <a:buChar char="❏"/>
            </a:pPr>
            <a:r>
              <a:rPr lang="es">
                <a:latin typeface="Consolas"/>
                <a:ea typeface="Consolas"/>
                <a:cs typeface="Consolas"/>
                <a:sym typeface="Consolas"/>
              </a:rPr>
              <a:t>El sitio provee la solución </a:t>
            </a:r>
            <a:r>
              <a:rPr lang="es">
                <a:latin typeface="Consolas"/>
                <a:ea typeface="Consolas"/>
                <a:cs typeface="Consolas"/>
                <a:sym typeface="Consolas"/>
              </a:rPr>
              <a:t>óptima</a:t>
            </a:r>
            <a:endParaRPr>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a:p>
            <a:pPr indent="0" lvl="0" marL="0" rtl="0" algn="l">
              <a:spcBef>
                <a:spcPts val="200"/>
              </a:spcBef>
              <a:spcAft>
                <a:spcPts val="0"/>
              </a:spcAft>
              <a:buNone/>
            </a:pPr>
            <a:r>
              <a:rPr lang="es">
                <a:latin typeface="Consolas"/>
                <a:ea typeface="Consolas"/>
                <a:cs typeface="Consolas"/>
                <a:sym typeface="Consolas"/>
              </a:rPr>
              <a:t>Todos los niveles utilizados en la </a:t>
            </a:r>
            <a:r>
              <a:rPr lang="es">
                <a:latin typeface="Consolas"/>
                <a:ea typeface="Consolas"/>
                <a:cs typeface="Consolas"/>
                <a:sym typeface="Consolas"/>
              </a:rPr>
              <a:t>recolección</a:t>
            </a:r>
            <a:r>
              <a:rPr lang="es">
                <a:latin typeface="Consolas"/>
                <a:ea typeface="Consolas"/>
                <a:cs typeface="Consolas"/>
                <a:sym typeface="Consolas"/>
              </a:rPr>
              <a:t> de datos fueron recolectados de la </a:t>
            </a:r>
            <a:r>
              <a:rPr lang="es">
                <a:latin typeface="Consolas"/>
                <a:ea typeface="Consolas"/>
                <a:cs typeface="Consolas"/>
                <a:sym typeface="Consolas"/>
              </a:rPr>
              <a:t>colección</a:t>
            </a:r>
            <a:r>
              <a:rPr lang="es">
                <a:latin typeface="Consolas"/>
                <a:ea typeface="Consolas"/>
                <a:cs typeface="Consolas"/>
                <a:sym typeface="Consolas"/>
              </a:rPr>
              <a:t> </a:t>
            </a:r>
            <a:r>
              <a:rPr lang="es" u="sng">
                <a:solidFill>
                  <a:schemeClr val="hlink"/>
                </a:solidFill>
                <a:latin typeface="Consolas"/>
                <a:ea typeface="Consolas"/>
                <a:cs typeface="Consolas"/>
                <a:sym typeface="Consolas"/>
                <a:hlinkClick r:id="rId5"/>
              </a:rPr>
              <a:t>Microban IV</a:t>
            </a:r>
            <a:r>
              <a:rPr lang="es" u="sng">
                <a:latin typeface="Consolas"/>
                <a:ea typeface="Consolas"/>
                <a:cs typeface="Consolas"/>
                <a:sym typeface="Consolas"/>
              </a:rPr>
              <a:t> </a:t>
            </a:r>
            <a:endParaRPr u="sng">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102 niveles</a:t>
            </a:r>
            <a:endParaRPr>
              <a:latin typeface="Consolas"/>
              <a:ea typeface="Consolas"/>
              <a:cs typeface="Consolas"/>
              <a:sym typeface="Consolas"/>
            </a:endParaRPr>
          </a:p>
          <a:p>
            <a:pPr indent="-304800" lvl="0" marL="457200" rtl="0" algn="l">
              <a:spcBef>
                <a:spcPts val="0"/>
              </a:spcBef>
              <a:spcAft>
                <a:spcPts val="0"/>
              </a:spcAft>
              <a:buSzPts val="1200"/>
              <a:buFont typeface="Consolas"/>
              <a:buChar char="❏"/>
            </a:pPr>
            <a:r>
              <a:rPr lang="es">
                <a:latin typeface="Consolas"/>
                <a:ea typeface="Consolas"/>
                <a:cs typeface="Consolas"/>
                <a:sym typeface="Consolas"/>
              </a:rPr>
              <a:t>Lista curada de 56 niveles que pasan</a:t>
            </a:r>
            <a:endParaRPr>
              <a:latin typeface="Consolas"/>
              <a:ea typeface="Consolas"/>
              <a:cs typeface="Consolas"/>
              <a:sym typeface="Consolas"/>
            </a:endParaRPr>
          </a:p>
          <a:p>
            <a:pPr indent="-304800" lvl="0" marL="457200" rtl="0" algn="l">
              <a:spcBef>
                <a:spcPts val="0"/>
              </a:spcBef>
              <a:spcAft>
                <a:spcPts val="0"/>
              </a:spcAft>
              <a:buSzPts val="1200"/>
              <a:buFont typeface="Consolas"/>
              <a:buChar char="❏"/>
            </a:pPr>
            <a:r>
              <a:rPr lang="es">
                <a:latin typeface="Consolas"/>
                <a:ea typeface="Consolas"/>
                <a:cs typeface="Consolas"/>
                <a:sym typeface="Consolas"/>
              </a:rPr>
              <a:t>Rango amplio de soluciones de 30 a 25.000 movimientos</a:t>
            </a:r>
            <a:endParaRPr>
              <a:latin typeface="Consolas"/>
              <a:ea typeface="Consolas"/>
              <a:cs typeface="Consolas"/>
              <a:sym typeface="Consolas"/>
            </a:endParaRPr>
          </a:p>
        </p:txBody>
      </p:sp>
      <p:sp>
        <p:nvSpPr>
          <p:cNvPr id="587" name="Google Shape;587;p32"/>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Recolección de Datos</a:t>
            </a:r>
            <a:endParaRPr/>
          </a:p>
        </p:txBody>
      </p:sp>
      <p:sp>
        <p:nvSpPr>
          <p:cNvPr id="588" name="Google Shape;588;p32"/>
          <p:cNvSpPr txBox="1"/>
          <p:nvPr/>
        </p:nvSpPr>
        <p:spPr>
          <a:xfrm>
            <a:off x="2289125" y="2743375"/>
            <a:ext cx="12444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rgbClr val="8C5325"/>
                </a:solidFill>
                <a:latin typeface="Consolas"/>
                <a:ea typeface="Consolas"/>
                <a:cs typeface="Consolas"/>
                <a:sym typeface="Consolas"/>
              </a:rPr>
              <a:t>      #####</a:t>
            </a:r>
            <a:endParaRPr sz="1200">
              <a:solidFill>
                <a:srgbClr val="8C5325"/>
              </a:solidFill>
              <a:latin typeface="Consolas"/>
              <a:ea typeface="Consolas"/>
              <a:cs typeface="Consolas"/>
              <a:sym typeface="Consolas"/>
            </a:endParaRPr>
          </a:p>
          <a:p>
            <a:pPr indent="0" lvl="0" marL="0" rtl="0" algn="l">
              <a:spcBef>
                <a:spcPts val="0"/>
              </a:spcBef>
              <a:spcAft>
                <a:spcPts val="0"/>
              </a:spcAft>
              <a:buNone/>
            </a:pPr>
            <a:r>
              <a:rPr lang="es" sz="1200">
                <a:solidFill>
                  <a:srgbClr val="8C5325"/>
                </a:solidFill>
                <a:latin typeface="Consolas"/>
                <a:ea typeface="Consolas"/>
                <a:cs typeface="Consolas"/>
                <a:sym typeface="Consolas"/>
              </a:rPr>
              <a:t>   ####   #</a:t>
            </a:r>
            <a:endParaRPr sz="1200">
              <a:solidFill>
                <a:srgbClr val="8C5325"/>
              </a:solidFill>
              <a:latin typeface="Consolas"/>
              <a:ea typeface="Consolas"/>
              <a:cs typeface="Consolas"/>
              <a:sym typeface="Consolas"/>
            </a:endParaRPr>
          </a:p>
          <a:p>
            <a:pPr indent="0" lvl="0" marL="0" rtl="0" algn="l">
              <a:spcBef>
                <a:spcPts val="0"/>
              </a:spcBef>
              <a:spcAft>
                <a:spcPts val="0"/>
              </a:spcAft>
              <a:buNone/>
            </a:pPr>
            <a:r>
              <a:rPr lang="es" sz="1200">
                <a:solidFill>
                  <a:srgbClr val="8C5325"/>
                </a:solidFill>
                <a:latin typeface="Consolas"/>
                <a:ea typeface="Consolas"/>
                <a:cs typeface="Consolas"/>
                <a:sym typeface="Consolas"/>
              </a:rPr>
              <a:t>####  $*. #</a:t>
            </a:r>
            <a:endParaRPr sz="1200">
              <a:solidFill>
                <a:srgbClr val="8C5325"/>
              </a:solidFill>
              <a:latin typeface="Consolas"/>
              <a:ea typeface="Consolas"/>
              <a:cs typeface="Consolas"/>
              <a:sym typeface="Consolas"/>
            </a:endParaRPr>
          </a:p>
          <a:p>
            <a:pPr indent="0" lvl="0" marL="0" rtl="0" algn="l">
              <a:spcBef>
                <a:spcPts val="0"/>
              </a:spcBef>
              <a:spcAft>
                <a:spcPts val="0"/>
              </a:spcAft>
              <a:buNone/>
            </a:pPr>
            <a:r>
              <a:rPr lang="es" sz="1200">
                <a:solidFill>
                  <a:srgbClr val="8C5325"/>
                </a:solidFill>
                <a:latin typeface="Consolas"/>
                <a:ea typeface="Consolas"/>
                <a:cs typeface="Consolas"/>
                <a:sym typeface="Consolas"/>
              </a:rPr>
              <a:t>#  $*.   ##</a:t>
            </a:r>
            <a:endParaRPr sz="1200">
              <a:solidFill>
                <a:srgbClr val="8C5325"/>
              </a:solidFill>
              <a:latin typeface="Consolas"/>
              <a:ea typeface="Consolas"/>
              <a:cs typeface="Consolas"/>
              <a:sym typeface="Consolas"/>
            </a:endParaRPr>
          </a:p>
          <a:p>
            <a:pPr indent="0" lvl="0" marL="0" rtl="0" algn="l">
              <a:spcBef>
                <a:spcPts val="0"/>
              </a:spcBef>
              <a:spcAft>
                <a:spcPts val="0"/>
              </a:spcAft>
              <a:buNone/>
            </a:pPr>
            <a:r>
              <a:rPr lang="es" sz="1200">
                <a:solidFill>
                  <a:srgbClr val="8C5325"/>
                </a:solidFill>
                <a:latin typeface="Consolas"/>
                <a:ea typeface="Consolas"/>
                <a:cs typeface="Consolas"/>
                <a:sym typeface="Consolas"/>
              </a:rPr>
              <a:t># @   #####</a:t>
            </a:r>
            <a:endParaRPr sz="1200">
              <a:solidFill>
                <a:srgbClr val="8C5325"/>
              </a:solidFill>
              <a:latin typeface="Consolas"/>
              <a:ea typeface="Consolas"/>
              <a:cs typeface="Consolas"/>
              <a:sym typeface="Consolas"/>
            </a:endParaRPr>
          </a:p>
          <a:p>
            <a:pPr indent="0" lvl="0" marL="0" rtl="0" algn="l">
              <a:spcBef>
                <a:spcPts val="0"/>
              </a:spcBef>
              <a:spcAft>
                <a:spcPts val="0"/>
              </a:spcAft>
              <a:buNone/>
            </a:pPr>
            <a:r>
              <a:rPr lang="es" sz="1200">
                <a:solidFill>
                  <a:srgbClr val="8C5325"/>
                </a:solidFill>
                <a:latin typeface="Consolas"/>
                <a:ea typeface="Consolas"/>
                <a:cs typeface="Consolas"/>
                <a:sym typeface="Consolas"/>
              </a:rPr>
              <a:t>#  ####</a:t>
            </a:r>
            <a:endParaRPr sz="1200">
              <a:solidFill>
                <a:srgbClr val="8C5325"/>
              </a:solidFill>
              <a:latin typeface="Consolas"/>
              <a:ea typeface="Consolas"/>
              <a:cs typeface="Consolas"/>
              <a:sym typeface="Consolas"/>
            </a:endParaRPr>
          </a:p>
          <a:p>
            <a:pPr indent="0" lvl="0" marL="0" rtl="0" algn="l">
              <a:spcBef>
                <a:spcPts val="0"/>
              </a:spcBef>
              <a:spcAft>
                <a:spcPts val="0"/>
              </a:spcAft>
              <a:buNone/>
            </a:pPr>
            <a:r>
              <a:rPr lang="es" sz="1200">
                <a:solidFill>
                  <a:srgbClr val="8C5325"/>
                </a:solidFill>
                <a:latin typeface="Consolas"/>
                <a:ea typeface="Consolas"/>
                <a:cs typeface="Consolas"/>
                <a:sym typeface="Consolas"/>
              </a:rPr>
              <a:t>####</a:t>
            </a:r>
            <a:endParaRPr sz="1200">
              <a:solidFill>
                <a:srgbClr val="8C5325"/>
              </a:solidFill>
              <a:latin typeface="Consolas"/>
              <a:ea typeface="Consolas"/>
              <a:cs typeface="Consolas"/>
              <a:sym typeface="Consolas"/>
            </a:endParaRPr>
          </a:p>
          <a:p>
            <a:pPr indent="0" lvl="0" marL="0" rtl="0" algn="l">
              <a:spcBef>
                <a:spcPts val="0"/>
              </a:spcBef>
              <a:spcAft>
                <a:spcPts val="0"/>
              </a:spcAft>
              <a:buNone/>
            </a:pPr>
            <a:r>
              <a:t/>
            </a:r>
            <a:endParaRPr sz="1200">
              <a:solidFill>
                <a:srgbClr val="8C5325"/>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33"/>
          <p:cNvSpPr txBox="1"/>
          <p:nvPr>
            <p:ph type="title"/>
          </p:nvPr>
        </p:nvSpPr>
        <p:spPr>
          <a:xfrm>
            <a:off x="685800" y="2743200"/>
            <a:ext cx="7770000" cy="6858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s"/>
              <a:t>Costo de la solución</a:t>
            </a:r>
            <a:endParaRPr/>
          </a:p>
          <a:p>
            <a:pPr indent="0" lvl="0" marL="0" rtl="0" algn="ctr">
              <a:spcBef>
                <a:spcPts val="0"/>
              </a:spcBef>
              <a:spcAft>
                <a:spcPts val="0"/>
              </a:spcAft>
              <a:buNone/>
            </a:pPr>
            <a:r>
              <a:rPr lang="es"/>
              <a:t>y tiempo de ejecución</a:t>
            </a:r>
            <a:endParaRPr/>
          </a:p>
        </p:txBody>
      </p:sp>
      <p:sp>
        <p:nvSpPr>
          <p:cNvPr id="594" name="Google Shape;594;p33"/>
          <p:cNvSpPr txBox="1"/>
          <p:nvPr>
            <p:ph idx="1" type="body"/>
          </p:nvPr>
        </p:nvSpPr>
        <p:spPr>
          <a:xfrm>
            <a:off x="1028700" y="3832860"/>
            <a:ext cx="7084200" cy="411600"/>
          </a:xfrm>
          <a:prstGeom prst="rect">
            <a:avLst/>
          </a:prstGeom>
        </p:spPr>
        <p:txBody>
          <a:bodyPr anchorCtr="0" anchor="t" bIns="34275" lIns="68575" spcFirstLastPara="1" rIns="68575" wrap="square" tIns="34275">
            <a:noAutofit/>
          </a:bodyPr>
          <a:lstStyle/>
          <a:p>
            <a:pPr indent="0" lvl="0" marL="0" rtl="0" algn="ctr">
              <a:spcBef>
                <a:spcPts val="200"/>
              </a:spcBef>
              <a:spcAft>
                <a:spcPts val="0"/>
              </a:spcAft>
              <a:buNone/>
            </a:pPr>
            <a:r>
              <a:rPr lang="es">
                <a:latin typeface="Pixelify Sans"/>
                <a:ea typeface="Pixelify Sans"/>
                <a:cs typeface="Pixelify Sans"/>
                <a:sym typeface="Pixelify Sans"/>
              </a:rPr>
              <a:t>Análisis de eficiencia de algoritmos y heurísticas</a:t>
            </a:r>
            <a:endParaRPr>
              <a:latin typeface="Pixelify Sans"/>
              <a:ea typeface="Pixelify Sans"/>
              <a:cs typeface="Pixelify Sans"/>
              <a:sym typeface="Pixelify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8" name="Shape 598"/>
        <p:cNvGrpSpPr/>
        <p:nvPr/>
      </p:nvGrpSpPr>
      <p:grpSpPr>
        <a:xfrm>
          <a:off x="0" y="0"/>
          <a:ext cx="0" cy="0"/>
          <a:chOff x="0" y="0"/>
          <a:chExt cx="0" cy="0"/>
        </a:xfrm>
      </p:grpSpPr>
      <p:sp>
        <p:nvSpPr>
          <p:cNvPr id="599" name="Google Shape;599;p34"/>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Resultados - Tiempo promedio por algoritmo</a:t>
            </a:r>
            <a:endParaRPr/>
          </a:p>
        </p:txBody>
      </p:sp>
      <p:pic>
        <p:nvPicPr>
          <p:cNvPr id="600" name="Google Shape;600;p34"/>
          <p:cNvPicPr preferRelativeResize="0"/>
          <p:nvPr/>
        </p:nvPicPr>
        <p:blipFill>
          <a:blip r:embed="rId3">
            <a:alphaModFix/>
          </a:blip>
          <a:stretch>
            <a:fillRect/>
          </a:stretch>
        </p:blipFill>
        <p:spPr>
          <a:xfrm>
            <a:off x="910675" y="988699"/>
            <a:ext cx="7869151" cy="3166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4" name="Shape 604"/>
        <p:cNvGrpSpPr/>
        <p:nvPr/>
      </p:nvGrpSpPr>
      <p:grpSpPr>
        <a:xfrm>
          <a:off x="0" y="0"/>
          <a:ext cx="0" cy="0"/>
          <a:chOff x="0" y="0"/>
          <a:chExt cx="0" cy="0"/>
        </a:xfrm>
      </p:grpSpPr>
      <p:sp>
        <p:nvSpPr>
          <p:cNvPr id="605" name="Google Shape;605;p35"/>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Resultados - Costo promedio por algoritmo</a:t>
            </a:r>
            <a:endParaRPr/>
          </a:p>
        </p:txBody>
      </p:sp>
      <p:pic>
        <p:nvPicPr>
          <p:cNvPr id="606" name="Google Shape;606;p35"/>
          <p:cNvPicPr preferRelativeResize="0"/>
          <p:nvPr/>
        </p:nvPicPr>
        <p:blipFill>
          <a:blip r:embed="rId3">
            <a:alphaModFix/>
          </a:blip>
          <a:stretch>
            <a:fillRect/>
          </a:stretch>
        </p:blipFill>
        <p:spPr>
          <a:xfrm>
            <a:off x="847000" y="1016513"/>
            <a:ext cx="7996477" cy="3110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36"/>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Nivel 22</a:t>
            </a:r>
            <a:endParaRPr/>
          </a:p>
        </p:txBody>
      </p:sp>
      <p:pic>
        <p:nvPicPr>
          <p:cNvPr id="612" name="Google Shape;612;p36"/>
          <p:cNvPicPr preferRelativeResize="0"/>
          <p:nvPr/>
        </p:nvPicPr>
        <p:blipFill>
          <a:blip r:embed="rId3">
            <a:alphaModFix/>
          </a:blip>
          <a:stretch>
            <a:fillRect/>
          </a:stretch>
        </p:blipFill>
        <p:spPr>
          <a:xfrm>
            <a:off x="353725" y="1027151"/>
            <a:ext cx="5178391" cy="1848636"/>
          </a:xfrm>
          <a:prstGeom prst="rect">
            <a:avLst/>
          </a:prstGeom>
          <a:noFill/>
          <a:ln>
            <a:noFill/>
          </a:ln>
        </p:spPr>
      </p:pic>
      <p:pic>
        <p:nvPicPr>
          <p:cNvPr id="613" name="Google Shape;613;p36"/>
          <p:cNvPicPr preferRelativeResize="0"/>
          <p:nvPr/>
        </p:nvPicPr>
        <p:blipFill>
          <a:blip r:embed="rId4">
            <a:alphaModFix/>
          </a:blip>
          <a:stretch>
            <a:fillRect/>
          </a:stretch>
        </p:blipFill>
        <p:spPr>
          <a:xfrm>
            <a:off x="353725" y="3028175"/>
            <a:ext cx="5178398" cy="1887630"/>
          </a:xfrm>
          <a:prstGeom prst="rect">
            <a:avLst/>
          </a:prstGeom>
          <a:noFill/>
          <a:ln>
            <a:noFill/>
          </a:ln>
        </p:spPr>
      </p:pic>
      <p:pic>
        <p:nvPicPr>
          <p:cNvPr id="614" name="Google Shape;614;p36" title="22.gif"/>
          <p:cNvPicPr preferRelativeResize="0"/>
          <p:nvPr/>
        </p:nvPicPr>
        <p:blipFill>
          <a:blip r:embed="rId5">
            <a:alphaModFix/>
          </a:blip>
          <a:stretch>
            <a:fillRect/>
          </a:stretch>
        </p:blipFill>
        <p:spPr>
          <a:xfrm>
            <a:off x="6029824" y="1027150"/>
            <a:ext cx="2376793" cy="1848625"/>
          </a:xfrm>
          <a:prstGeom prst="rect">
            <a:avLst/>
          </a:prstGeom>
          <a:noFill/>
          <a:ln>
            <a:noFill/>
          </a:ln>
        </p:spPr>
      </p:pic>
      <p:sp>
        <p:nvSpPr>
          <p:cNvPr id="615" name="Google Shape;615;p36"/>
          <p:cNvSpPr txBox="1"/>
          <p:nvPr/>
        </p:nvSpPr>
        <p:spPr>
          <a:xfrm>
            <a:off x="5718213" y="2977025"/>
            <a:ext cx="3000000" cy="579900"/>
          </a:xfrm>
          <a:prstGeom prst="rect">
            <a:avLst/>
          </a:prstGeom>
          <a:noFill/>
          <a:ln>
            <a:noFill/>
          </a:ln>
        </p:spPr>
        <p:txBody>
          <a:bodyPr anchorCtr="0" anchor="t" bIns="91425" lIns="91425" spcFirstLastPara="1" rIns="91425" wrap="square" tIns="91425">
            <a:spAutoFit/>
          </a:bodyPr>
          <a:lstStyle/>
          <a:p>
            <a:pPr indent="0" lvl="0" marL="0" rtl="0" algn="ctr">
              <a:spcBef>
                <a:spcPts val="200"/>
              </a:spcBef>
              <a:spcAft>
                <a:spcPts val="0"/>
              </a:spcAft>
              <a:buNone/>
            </a:pPr>
            <a:r>
              <a:rPr b="1" lang="es" sz="1200">
                <a:solidFill>
                  <a:srgbClr val="5FB86D"/>
                </a:solidFill>
                <a:latin typeface="Pixelify Sans"/>
                <a:ea typeface="Pixelify Sans"/>
                <a:cs typeface="Pixelify Sans"/>
                <a:sym typeface="Pixelify Sans"/>
              </a:rPr>
              <a:t>Camino óptimo</a:t>
            </a:r>
            <a:endParaRPr b="1" sz="1200">
              <a:solidFill>
                <a:srgbClr val="5FB86D"/>
              </a:solidFill>
              <a:latin typeface="Pixelify Sans"/>
              <a:ea typeface="Pixelify Sans"/>
              <a:cs typeface="Pixelify Sans"/>
              <a:sym typeface="Pixelify Sans"/>
            </a:endParaRPr>
          </a:p>
          <a:p>
            <a:pPr indent="0" lvl="0" marL="0" rtl="0" algn="ctr">
              <a:spcBef>
                <a:spcPts val="200"/>
              </a:spcBef>
              <a:spcAft>
                <a:spcPts val="0"/>
              </a:spcAft>
              <a:buNone/>
            </a:pPr>
            <a:r>
              <a:rPr b="1" lang="es" sz="1200">
                <a:solidFill>
                  <a:srgbClr val="5FB86D"/>
                </a:solidFill>
                <a:latin typeface="Pixelify Sans"/>
                <a:ea typeface="Pixelify Sans"/>
                <a:cs typeface="Pixelify Sans"/>
                <a:sym typeface="Pixelify Sans"/>
              </a:rPr>
              <a:t>BFS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37"/>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Nivel 8 (12 cajas)</a:t>
            </a:r>
            <a:endParaRPr/>
          </a:p>
        </p:txBody>
      </p:sp>
      <p:pic>
        <p:nvPicPr>
          <p:cNvPr id="621" name="Google Shape;621;p37"/>
          <p:cNvPicPr preferRelativeResize="0"/>
          <p:nvPr/>
        </p:nvPicPr>
        <p:blipFill>
          <a:blip r:embed="rId3">
            <a:alphaModFix/>
          </a:blip>
          <a:stretch>
            <a:fillRect/>
          </a:stretch>
        </p:blipFill>
        <p:spPr>
          <a:xfrm>
            <a:off x="152400" y="1078290"/>
            <a:ext cx="4986643" cy="1843530"/>
          </a:xfrm>
          <a:prstGeom prst="rect">
            <a:avLst/>
          </a:prstGeom>
          <a:noFill/>
          <a:ln>
            <a:noFill/>
          </a:ln>
        </p:spPr>
      </p:pic>
      <p:pic>
        <p:nvPicPr>
          <p:cNvPr id="622" name="Google Shape;622;p37"/>
          <p:cNvPicPr preferRelativeResize="0"/>
          <p:nvPr/>
        </p:nvPicPr>
        <p:blipFill>
          <a:blip r:embed="rId4">
            <a:alphaModFix/>
          </a:blip>
          <a:stretch>
            <a:fillRect/>
          </a:stretch>
        </p:blipFill>
        <p:spPr>
          <a:xfrm>
            <a:off x="152400" y="3074225"/>
            <a:ext cx="4986651" cy="1831113"/>
          </a:xfrm>
          <a:prstGeom prst="rect">
            <a:avLst/>
          </a:prstGeom>
          <a:noFill/>
          <a:ln>
            <a:noFill/>
          </a:ln>
        </p:spPr>
      </p:pic>
      <p:pic>
        <p:nvPicPr>
          <p:cNvPr id="623" name="Google Shape;623;p37"/>
          <p:cNvPicPr preferRelativeResize="0"/>
          <p:nvPr/>
        </p:nvPicPr>
        <p:blipFill>
          <a:blip r:embed="rId5">
            <a:alphaModFix/>
          </a:blip>
          <a:stretch>
            <a:fillRect/>
          </a:stretch>
        </p:blipFill>
        <p:spPr>
          <a:xfrm>
            <a:off x="5572387" y="3074225"/>
            <a:ext cx="1831124" cy="1831124"/>
          </a:xfrm>
          <a:prstGeom prst="rect">
            <a:avLst/>
          </a:prstGeom>
          <a:noFill/>
          <a:ln>
            <a:noFill/>
          </a:ln>
        </p:spPr>
      </p:pic>
      <p:sp>
        <p:nvSpPr>
          <p:cNvPr id="624" name="Google Shape;624;p37"/>
          <p:cNvSpPr txBox="1"/>
          <p:nvPr/>
        </p:nvSpPr>
        <p:spPr>
          <a:xfrm>
            <a:off x="7606149" y="3699825"/>
            <a:ext cx="1350600" cy="579900"/>
          </a:xfrm>
          <a:prstGeom prst="rect">
            <a:avLst/>
          </a:prstGeom>
          <a:noFill/>
          <a:ln>
            <a:noFill/>
          </a:ln>
        </p:spPr>
        <p:txBody>
          <a:bodyPr anchorCtr="0" anchor="t" bIns="91425" lIns="91425" spcFirstLastPara="1" rIns="91425" wrap="square" tIns="91425">
            <a:spAutoFit/>
          </a:bodyPr>
          <a:lstStyle/>
          <a:p>
            <a:pPr indent="0" lvl="0" marL="0" rtl="0" algn="ctr">
              <a:spcBef>
                <a:spcPts val="200"/>
              </a:spcBef>
              <a:spcAft>
                <a:spcPts val="0"/>
              </a:spcAft>
              <a:buNone/>
            </a:pPr>
            <a:r>
              <a:rPr b="1" lang="es" sz="1200">
                <a:solidFill>
                  <a:srgbClr val="5FB86D"/>
                </a:solidFill>
                <a:latin typeface="Pixelify Sans"/>
                <a:ea typeface="Pixelify Sans"/>
                <a:cs typeface="Pixelify Sans"/>
                <a:sym typeface="Pixelify Sans"/>
              </a:rPr>
              <a:t>Greedy</a:t>
            </a:r>
            <a:endParaRPr b="1" sz="1200">
              <a:solidFill>
                <a:srgbClr val="5FB86D"/>
              </a:solidFill>
              <a:latin typeface="Pixelify Sans"/>
              <a:ea typeface="Pixelify Sans"/>
              <a:cs typeface="Pixelify Sans"/>
              <a:sym typeface="Pixelify Sans"/>
            </a:endParaRPr>
          </a:p>
          <a:p>
            <a:pPr indent="0" lvl="0" marL="0" rtl="0" algn="ctr">
              <a:spcBef>
                <a:spcPts val="200"/>
              </a:spcBef>
              <a:spcAft>
                <a:spcPts val="0"/>
              </a:spcAft>
              <a:buNone/>
            </a:pPr>
            <a:r>
              <a:rPr b="1" lang="es" sz="1200">
                <a:solidFill>
                  <a:srgbClr val="5FB86D"/>
                </a:solidFill>
                <a:latin typeface="Pixelify Sans"/>
                <a:ea typeface="Pixelify Sans"/>
                <a:cs typeface="Pixelify Sans"/>
                <a:sym typeface="Pixelify Sans"/>
              </a:rPr>
              <a:t>Húngaro</a:t>
            </a:r>
            <a:endParaRPr b="1" sz="1200">
              <a:solidFill>
                <a:srgbClr val="5FB86D"/>
              </a:solidFill>
              <a:latin typeface="Pixelify Sans"/>
              <a:ea typeface="Pixelify Sans"/>
              <a:cs typeface="Pixelify Sans"/>
              <a:sym typeface="Pixelify Sans"/>
            </a:endParaRPr>
          </a:p>
        </p:txBody>
      </p:sp>
      <p:pic>
        <p:nvPicPr>
          <p:cNvPr id="625" name="Google Shape;625;p37" title="8.gif"/>
          <p:cNvPicPr preferRelativeResize="0"/>
          <p:nvPr/>
        </p:nvPicPr>
        <p:blipFill>
          <a:blip r:embed="rId6">
            <a:alphaModFix/>
          </a:blip>
          <a:stretch>
            <a:fillRect/>
          </a:stretch>
        </p:blipFill>
        <p:spPr>
          <a:xfrm>
            <a:off x="5572376" y="1090700"/>
            <a:ext cx="1831124" cy="1831124"/>
          </a:xfrm>
          <a:prstGeom prst="rect">
            <a:avLst/>
          </a:prstGeom>
          <a:noFill/>
          <a:ln>
            <a:noFill/>
          </a:ln>
        </p:spPr>
      </p:pic>
      <p:sp>
        <p:nvSpPr>
          <p:cNvPr id="626" name="Google Shape;626;p37"/>
          <p:cNvSpPr txBox="1"/>
          <p:nvPr/>
        </p:nvSpPr>
        <p:spPr>
          <a:xfrm>
            <a:off x="6781438" y="1710113"/>
            <a:ext cx="3000000" cy="579900"/>
          </a:xfrm>
          <a:prstGeom prst="rect">
            <a:avLst/>
          </a:prstGeom>
          <a:noFill/>
          <a:ln>
            <a:noFill/>
          </a:ln>
        </p:spPr>
        <p:txBody>
          <a:bodyPr anchorCtr="0" anchor="t" bIns="91425" lIns="91425" spcFirstLastPara="1" rIns="91425" wrap="square" tIns="91425">
            <a:spAutoFit/>
          </a:bodyPr>
          <a:lstStyle/>
          <a:p>
            <a:pPr indent="0" lvl="0" marL="0" rtl="0" algn="ctr">
              <a:spcBef>
                <a:spcPts val="200"/>
              </a:spcBef>
              <a:spcAft>
                <a:spcPts val="0"/>
              </a:spcAft>
              <a:buNone/>
            </a:pPr>
            <a:r>
              <a:rPr b="1" lang="es" sz="1200">
                <a:solidFill>
                  <a:srgbClr val="5FB86D"/>
                </a:solidFill>
                <a:latin typeface="Pixelify Sans"/>
                <a:ea typeface="Pixelify Sans"/>
                <a:cs typeface="Pixelify Sans"/>
                <a:sym typeface="Pixelify Sans"/>
              </a:rPr>
              <a:t>Camino óptimo</a:t>
            </a:r>
            <a:endParaRPr b="1" sz="1200">
              <a:solidFill>
                <a:srgbClr val="5FB86D"/>
              </a:solidFill>
              <a:latin typeface="Pixelify Sans"/>
              <a:ea typeface="Pixelify Sans"/>
              <a:cs typeface="Pixelify Sans"/>
              <a:sym typeface="Pixelify Sans"/>
            </a:endParaRPr>
          </a:p>
          <a:p>
            <a:pPr indent="0" lvl="0" marL="0" rtl="0" algn="ctr">
              <a:spcBef>
                <a:spcPts val="200"/>
              </a:spcBef>
              <a:spcAft>
                <a:spcPts val="0"/>
              </a:spcAft>
              <a:buNone/>
            </a:pPr>
            <a:r>
              <a:rPr b="1" lang="es" sz="1200">
                <a:solidFill>
                  <a:srgbClr val="5FB86D"/>
                </a:solidFill>
                <a:latin typeface="Pixelify Sans"/>
                <a:ea typeface="Pixelify Sans"/>
                <a:cs typeface="Pixelify Sans"/>
                <a:sym typeface="Pixelify Sans"/>
              </a:rPr>
              <a:t>BFS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8"/>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Nivel 79 (10 cajas)</a:t>
            </a:r>
            <a:endParaRPr/>
          </a:p>
        </p:txBody>
      </p:sp>
      <p:pic>
        <p:nvPicPr>
          <p:cNvPr id="632" name="Google Shape;632;p38"/>
          <p:cNvPicPr preferRelativeResize="0"/>
          <p:nvPr/>
        </p:nvPicPr>
        <p:blipFill>
          <a:blip r:embed="rId3">
            <a:alphaModFix/>
          </a:blip>
          <a:stretch>
            <a:fillRect/>
          </a:stretch>
        </p:blipFill>
        <p:spPr>
          <a:xfrm>
            <a:off x="446675" y="3055800"/>
            <a:ext cx="4986651" cy="1705110"/>
          </a:xfrm>
          <a:prstGeom prst="rect">
            <a:avLst/>
          </a:prstGeom>
          <a:noFill/>
          <a:ln>
            <a:noFill/>
          </a:ln>
        </p:spPr>
      </p:pic>
      <p:pic>
        <p:nvPicPr>
          <p:cNvPr id="633" name="Google Shape;633;p38"/>
          <p:cNvPicPr preferRelativeResize="0"/>
          <p:nvPr/>
        </p:nvPicPr>
        <p:blipFill>
          <a:blip r:embed="rId4">
            <a:alphaModFix/>
          </a:blip>
          <a:stretch>
            <a:fillRect/>
          </a:stretch>
        </p:blipFill>
        <p:spPr>
          <a:xfrm>
            <a:off x="446675" y="1094050"/>
            <a:ext cx="4986651" cy="1793592"/>
          </a:xfrm>
          <a:prstGeom prst="rect">
            <a:avLst/>
          </a:prstGeom>
          <a:noFill/>
          <a:ln>
            <a:noFill/>
          </a:ln>
        </p:spPr>
      </p:pic>
      <p:sp>
        <p:nvSpPr>
          <p:cNvPr id="634" name="Google Shape;634;p38"/>
          <p:cNvSpPr txBox="1"/>
          <p:nvPr/>
        </p:nvSpPr>
        <p:spPr>
          <a:xfrm>
            <a:off x="5714325" y="3236200"/>
            <a:ext cx="3175800" cy="1344300"/>
          </a:xfrm>
          <a:prstGeom prst="rect">
            <a:avLst/>
          </a:prstGeom>
          <a:noFill/>
          <a:ln>
            <a:noFill/>
          </a:ln>
        </p:spPr>
        <p:txBody>
          <a:bodyPr anchorCtr="0" anchor="t" bIns="91425" lIns="91425" spcFirstLastPara="1" rIns="91425" wrap="square" tIns="91425">
            <a:spAutoFit/>
          </a:bodyPr>
          <a:lstStyle/>
          <a:p>
            <a:pPr indent="0" lvl="0" marL="0" rtl="0" algn="ctr">
              <a:spcBef>
                <a:spcPts val="200"/>
              </a:spcBef>
              <a:spcAft>
                <a:spcPts val="0"/>
              </a:spcAft>
              <a:buNone/>
            </a:pPr>
            <a:r>
              <a:rPr b="1" lang="es" sz="1200">
                <a:solidFill>
                  <a:srgbClr val="5FB86D"/>
                </a:solidFill>
                <a:latin typeface="Pixelify Sans"/>
                <a:ea typeface="Pixelify Sans"/>
                <a:cs typeface="Pixelify Sans"/>
                <a:sym typeface="Pixelify Sans"/>
              </a:rPr>
              <a:t>¿A qué se debe el disparo de movimientos con DFS?</a:t>
            </a:r>
            <a:endParaRPr b="1" sz="1200">
              <a:solidFill>
                <a:srgbClr val="5FB86D"/>
              </a:solidFill>
              <a:latin typeface="Pixelify Sans"/>
              <a:ea typeface="Pixelify Sans"/>
              <a:cs typeface="Pixelify Sans"/>
              <a:sym typeface="Pixelify Sans"/>
            </a:endParaRPr>
          </a:p>
          <a:p>
            <a:pPr indent="0" lvl="0" marL="0" rtl="0" algn="ctr">
              <a:spcBef>
                <a:spcPts val="200"/>
              </a:spcBef>
              <a:spcAft>
                <a:spcPts val="0"/>
              </a:spcAft>
              <a:buNone/>
            </a:pPr>
            <a:r>
              <a:t/>
            </a:r>
            <a:endParaRPr b="1" sz="1200">
              <a:solidFill>
                <a:srgbClr val="5FB86D"/>
              </a:solidFill>
              <a:latin typeface="Pixelify Sans"/>
              <a:ea typeface="Pixelify Sans"/>
              <a:cs typeface="Pixelify Sans"/>
              <a:sym typeface="Pixelify Sans"/>
            </a:endParaRPr>
          </a:p>
          <a:p>
            <a:pPr indent="-304800" lvl="0" marL="457200" rtl="0" algn="l">
              <a:spcBef>
                <a:spcPts val="200"/>
              </a:spcBef>
              <a:spcAft>
                <a:spcPts val="0"/>
              </a:spcAft>
              <a:buClr>
                <a:schemeClr val="dk1"/>
              </a:buClr>
              <a:buSzPts val="1200"/>
              <a:buFont typeface="Consolas"/>
              <a:buChar char="❏"/>
            </a:pPr>
            <a:r>
              <a:rPr lang="es" sz="1200">
                <a:solidFill>
                  <a:schemeClr val="dk1"/>
                </a:solidFill>
                <a:latin typeface="Consolas"/>
                <a:ea typeface="Consolas"/>
                <a:cs typeface="Consolas"/>
                <a:sym typeface="Consolas"/>
              </a:rPr>
              <a:t>DFS no garantiza camino óptimo</a:t>
            </a:r>
            <a:endParaRPr sz="1200">
              <a:solidFill>
                <a:schemeClr val="dk1"/>
              </a:solidFill>
              <a:latin typeface="Consolas"/>
              <a:ea typeface="Consolas"/>
              <a:cs typeface="Consolas"/>
              <a:sym typeface="Consolas"/>
            </a:endParaRPr>
          </a:p>
          <a:p>
            <a:pPr indent="-304800" lvl="0" marL="457200" rtl="0" algn="l">
              <a:spcBef>
                <a:spcPts val="0"/>
              </a:spcBef>
              <a:spcAft>
                <a:spcPts val="0"/>
              </a:spcAft>
              <a:buClr>
                <a:schemeClr val="dk1"/>
              </a:buClr>
              <a:buSzPts val="1200"/>
              <a:buFont typeface="Consolas"/>
              <a:buChar char="❏"/>
            </a:pPr>
            <a:r>
              <a:rPr lang="es" sz="1200">
                <a:solidFill>
                  <a:schemeClr val="dk1"/>
                </a:solidFill>
                <a:latin typeface="Consolas"/>
                <a:ea typeface="Consolas"/>
                <a:cs typeface="Consolas"/>
                <a:sym typeface="Consolas"/>
              </a:rPr>
              <a:t>“Libertad” de movimiento</a:t>
            </a:r>
            <a:endParaRPr sz="1200">
              <a:solidFill>
                <a:schemeClr val="dk1"/>
              </a:solidFill>
              <a:latin typeface="Consolas"/>
              <a:ea typeface="Consolas"/>
              <a:cs typeface="Consolas"/>
              <a:sym typeface="Consolas"/>
            </a:endParaRPr>
          </a:p>
          <a:p>
            <a:pPr indent="-304800" lvl="0" marL="457200" rtl="0" algn="l">
              <a:spcBef>
                <a:spcPts val="0"/>
              </a:spcBef>
              <a:spcAft>
                <a:spcPts val="0"/>
              </a:spcAft>
              <a:buClr>
                <a:schemeClr val="dk1"/>
              </a:buClr>
              <a:buSzPts val="1200"/>
              <a:buFont typeface="Consolas"/>
              <a:buChar char="❏"/>
            </a:pPr>
            <a:r>
              <a:rPr lang="es" sz="1200">
                <a:solidFill>
                  <a:schemeClr val="dk1"/>
                </a:solidFill>
                <a:latin typeface="Consolas"/>
                <a:ea typeface="Consolas"/>
                <a:cs typeface="Consolas"/>
                <a:sym typeface="Consolas"/>
              </a:rPr>
              <a:t>DFS eli</a:t>
            </a:r>
            <a:r>
              <a:rPr lang="es" sz="1200">
                <a:solidFill>
                  <a:srgbClr val="231F20"/>
                </a:solidFill>
                <a:latin typeface="Consolas"/>
                <a:ea typeface="Consolas"/>
                <a:cs typeface="Consolas"/>
                <a:sym typeface="Consolas"/>
              </a:rPr>
              <a:t>g</a:t>
            </a:r>
            <a:r>
              <a:rPr lang="es" sz="1200">
                <a:solidFill>
                  <a:schemeClr val="dk1"/>
                </a:solidFill>
                <a:latin typeface="Consolas"/>
                <a:ea typeface="Consolas"/>
                <a:cs typeface="Consolas"/>
                <a:sym typeface="Consolas"/>
              </a:rPr>
              <a:t>e una dirección fija</a:t>
            </a:r>
            <a:endParaRPr sz="1200">
              <a:solidFill>
                <a:schemeClr val="dk1"/>
              </a:solidFill>
              <a:latin typeface="Consolas"/>
              <a:ea typeface="Consolas"/>
              <a:cs typeface="Consolas"/>
              <a:sym typeface="Consolas"/>
            </a:endParaRPr>
          </a:p>
        </p:txBody>
      </p:sp>
      <p:pic>
        <p:nvPicPr>
          <p:cNvPr id="635" name="Google Shape;635;p38" title="79.gif"/>
          <p:cNvPicPr preferRelativeResize="0"/>
          <p:nvPr/>
        </p:nvPicPr>
        <p:blipFill>
          <a:blip r:embed="rId5">
            <a:alphaModFix/>
          </a:blip>
          <a:stretch>
            <a:fillRect/>
          </a:stretch>
        </p:blipFill>
        <p:spPr>
          <a:xfrm>
            <a:off x="5714325" y="1092375"/>
            <a:ext cx="1467491" cy="1793600"/>
          </a:xfrm>
          <a:prstGeom prst="rect">
            <a:avLst/>
          </a:prstGeom>
          <a:noFill/>
          <a:ln>
            <a:noFill/>
          </a:ln>
        </p:spPr>
      </p:pic>
      <p:sp>
        <p:nvSpPr>
          <p:cNvPr id="636" name="Google Shape;636;p38"/>
          <p:cNvSpPr txBox="1"/>
          <p:nvPr/>
        </p:nvSpPr>
        <p:spPr>
          <a:xfrm>
            <a:off x="6681763" y="1700900"/>
            <a:ext cx="3000000" cy="579900"/>
          </a:xfrm>
          <a:prstGeom prst="rect">
            <a:avLst/>
          </a:prstGeom>
          <a:noFill/>
          <a:ln>
            <a:noFill/>
          </a:ln>
        </p:spPr>
        <p:txBody>
          <a:bodyPr anchorCtr="0" anchor="t" bIns="91425" lIns="91425" spcFirstLastPara="1" rIns="91425" wrap="square" tIns="91425">
            <a:spAutoFit/>
          </a:bodyPr>
          <a:lstStyle/>
          <a:p>
            <a:pPr indent="0" lvl="0" marL="0" rtl="0" algn="ctr">
              <a:spcBef>
                <a:spcPts val="200"/>
              </a:spcBef>
              <a:spcAft>
                <a:spcPts val="0"/>
              </a:spcAft>
              <a:buNone/>
            </a:pPr>
            <a:r>
              <a:rPr b="1" lang="es" sz="1200">
                <a:solidFill>
                  <a:srgbClr val="5FB86D"/>
                </a:solidFill>
                <a:latin typeface="Pixelify Sans"/>
                <a:ea typeface="Pixelify Sans"/>
                <a:cs typeface="Pixelify Sans"/>
                <a:sym typeface="Pixelify Sans"/>
              </a:rPr>
              <a:t>Camino óptimo</a:t>
            </a:r>
            <a:endParaRPr b="1" sz="1200">
              <a:solidFill>
                <a:srgbClr val="5FB86D"/>
              </a:solidFill>
              <a:latin typeface="Pixelify Sans"/>
              <a:ea typeface="Pixelify Sans"/>
              <a:cs typeface="Pixelify Sans"/>
              <a:sym typeface="Pixelify Sans"/>
            </a:endParaRPr>
          </a:p>
          <a:p>
            <a:pPr indent="0" lvl="0" marL="0" rtl="0" algn="ctr">
              <a:spcBef>
                <a:spcPts val="200"/>
              </a:spcBef>
              <a:spcAft>
                <a:spcPts val="0"/>
              </a:spcAft>
              <a:buNone/>
            </a:pPr>
            <a:r>
              <a:rPr b="1" lang="es" sz="1200">
                <a:solidFill>
                  <a:srgbClr val="5FB86D"/>
                </a:solidFill>
                <a:latin typeface="Pixelify Sans"/>
                <a:ea typeface="Pixelify Sans"/>
                <a:cs typeface="Pixelify Sans"/>
                <a:sym typeface="Pixelify Sans"/>
              </a:rPr>
              <a:t>BFS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39"/>
          <p:cNvSpPr txBox="1"/>
          <p:nvPr>
            <p:ph type="title"/>
          </p:nvPr>
        </p:nvSpPr>
        <p:spPr>
          <a:xfrm>
            <a:off x="2194560" y="2091690"/>
            <a:ext cx="6124200" cy="891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Colapso de estados</a:t>
            </a:r>
            <a:endParaRPr/>
          </a:p>
        </p:txBody>
      </p:sp>
      <p:sp>
        <p:nvSpPr>
          <p:cNvPr id="642" name="Google Shape;642;p39"/>
          <p:cNvSpPr txBox="1"/>
          <p:nvPr>
            <p:ph idx="1" type="body"/>
          </p:nvPr>
        </p:nvSpPr>
        <p:spPr>
          <a:xfrm>
            <a:off x="2194560" y="1748790"/>
            <a:ext cx="6261300" cy="342900"/>
          </a:xfrm>
          <a:prstGeom prst="rect">
            <a:avLst/>
          </a:prstGeom>
        </p:spPr>
        <p:txBody>
          <a:bodyPr anchorCtr="0" anchor="t" bIns="34275" lIns="68575" spcFirstLastPara="1" rIns="68575" wrap="square" tIns="34275">
            <a:noAutofit/>
          </a:bodyPr>
          <a:lstStyle/>
          <a:p>
            <a:pPr indent="0" lvl="0" marL="0" rtl="0" algn="l">
              <a:spcBef>
                <a:spcPts val="200"/>
              </a:spcBef>
              <a:spcAft>
                <a:spcPts val="0"/>
              </a:spcAft>
              <a:buNone/>
            </a:pPr>
            <a:r>
              <a:rPr lang="es"/>
              <a:t>Optimización: Simplificación de estados equivalentes.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p40"/>
          <p:cNvPicPr preferRelativeResize="0"/>
          <p:nvPr/>
        </p:nvPicPr>
        <p:blipFill>
          <a:blip r:embed="rId3">
            <a:alphaModFix/>
          </a:blip>
          <a:stretch>
            <a:fillRect/>
          </a:stretch>
        </p:blipFill>
        <p:spPr>
          <a:xfrm>
            <a:off x="4879722" y="1160075"/>
            <a:ext cx="2885141" cy="3543269"/>
          </a:xfrm>
          <a:prstGeom prst="rect">
            <a:avLst/>
          </a:prstGeom>
          <a:noFill/>
          <a:ln>
            <a:noFill/>
          </a:ln>
        </p:spPr>
      </p:pic>
      <p:sp>
        <p:nvSpPr>
          <p:cNvPr id="648" name="Google Shape;648;p40"/>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Colapso de estados</a:t>
            </a:r>
            <a:endParaRPr/>
          </a:p>
        </p:txBody>
      </p:sp>
      <p:pic>
        <p:nvPicPr>
          <p:cNvPr id="649" name="Google Shape;649;p40"/>
          <p:cNvPicPr preferRelativeResize="0"/>
          <p:nvPr/>
        </p:nvPicPr>
        <p:blipFill>
          <a:blip r:embed="rId3">
            <a:alphaModFix/>
          </a:blip>
          <a:stretch>
            <a:fillRect/>
          </a:stretch>
        </p:blipFill>
        <p:spPr>
          <a:xfrm>
            <a:off x="1379138" y="1110456"/>
            <a:ext cx="2885141" cy="3543269"/>
          </a:xfrm>
          <a:prstGeom prst="rect">
            <a:avLst/>
          </a:prstGeom>
          <a:noFill/>
          <a:ln>
            <a:noFill/>
          </a:ln>
        </p:spPr>
      </p:pic>
      <p:sp>
        <p:nvSpPr>
          <p:cNvPr id="650" name="Google Shape;650;p40"/>
          <p:cNvSpPr/>
          <p:nvPr/>
        </p:nvSpPr>
        <p:spPr>
          <a:xfrm rot="-5400000">
            <a:off x="3500294" y="2762205"/>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51" name="Google Shape;651;p40"/>
          <p:cNvSpPr/>
          <p:nvPr/>
        </p:nvSpPr>
        <p:spPr>
          <a:xfrm rot="10800000">
            <a:off x="3709415" y="2983686"/>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52" name="Google Shape;652;p40"/>
          <p:cNvSpPr/>
          <p:nvPr/>
        </p:nvSpPr>
        <p:spPr>
          <a:xfrm>
            <a:off x="3709358" y="2563981"/>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53" name="Google Shape;653;p40"/>
          <p:cNvSpPr/>
          <p:nvPr/>
        </p:nvSpPr>
        <p:spPr>
          <a:xfrm rot="-5400000">
            <a:off x="6697520" y="3153798"/>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54" name="Google Shape;654;p40"/>
          <p:cNvSpPr/>
          <p:nvPr/>
        </p:nvSpPr>
        <p:spPr>
          <a:xfrm rot="-5400000">
            <a:off x="6697520" y="2480709"/>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55" name="Google Shape;655;p40"/>
          <p:cNvSpPr/>
          <p:nvPr/>
        </p:nvSpPr>
        <p:spPr>
          <a:xfrm rot="-5400000">
            <a:off x="6360672" y="2168466"/>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56" name="Google Shape;656;p40"/>
          <p:cNvSpPr/>
          <p:nvPr/>
        </p:nvSpPr>
        <p:spPr>
          <a:xfrm rot="-5400000">
            <a:off x="6360672" y="3474661"/>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57" name="Google Shape;657;p40"/>
          <p:cNvSpPr/>
          <p:nvPr/>
        </p:nvSpPr>
        <p:spPr>
          <a:xfrm>
            <a:off x="6818604" y="1769789"/>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58" name="Google Shape;658;p40"/>
          <p:cNvSpPr/>
          <p:nvPr/>
        </p:nvSpPr>
        <p:spPr>
          <a:xfrm>
            <a:off x="7155642" y="1769789"/>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59" name="Google Shape;659;p40"/>
          <p:cNvSpPr/>
          <p:nvPr/>
        </p:nvSpPr>
        <p:spPr>
          <a:xfrm>
            <a:off x="7155642" y="2096689"/>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60" name="Google Shape;660;p40"/>
          <p:cNvSpPr/>
          <p:nvPr/>
        </p:nvSpPr>
        <p:spPr>
          <a:xfrm>
            <a:off x="6818604" y="2096689"/>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61" name="Google Shape;661;p40"/>
          <p:cNvSpPr/>
          <p:nvPr/>
        </p:nvSpPr>
        <p:spPr>
          <a:xfrm>
            <a:off x="6880574" y="2288675"/>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62" name="Google Shape;662;p40"/>
          <p:cNvSpPr/>
          <p:nvPr/>
        </p:nvSpPr>
        <p:spPr>
          <a:xfrm>
            <a:off x="7155642" y="2408932"/>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63" name="Google Shape;663;p40"/>
          <p:cNvSpPr/>
          <p:nvPr/>
        </p:nvSpPr>
        <p:spPr>
          <a:xfrm>
            <a:off x="7155642" y="3070917"/>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64" name="Google Shape;664;p40"/>
          <p:cNvSpPr/>
          <p:nvPr/>
        </p:nvSpPr>
        <p:spPr>
          <a:xfrm>
            <a:off x="7155642" y="3397817"/>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65" name="Google Shape;665;p40"/>
          <p:cNvSpPr/>
          <p:nvPr/>
        </p:nvSpPr>
        <p:spPr>
          <a:xfrm>
            <a:off x="7155642" y="3717674"/>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66" name="Google Shape;666;p40"/>
          <p:cNvSpPr/>
          <p:nvPr/>
        </p:nvSpPr>
        <p:spPr>
          <a:xfrm>
            <a:off x="7155642" y="4045162"/>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67" name="Google Shape;667;p40"/>
          <p:cNvSpPr/>
          <p:nvPr/>
        </p:nvSpPr>
        <p:spPr>
          <a:xfrm>
            <a:off x="6821906" y="4045162"/>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68" name="Google Shape;668;p40"/>
          <p:cNvSpPr/>
          <p:nvPr/>
        </p:nvSpPr>
        <p:spPr>
          <a:xfrm>
            <a:off x="6821906" y="3720106"/>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69" name="Google Shape;669;p40"/>
          <p:cNvSpPr/>
          <p:nvPr/>
        </p:nvSpPr>
        <p:spPr>
          <a:xfrm>
            <a:off x="6818604" y="3395253"/>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70" name="Google Shape;670;p40"/>
          <p:cNvSpPr/>
          <p:nvPr/>
        </p:nvSpPr>
        <p:spPr>
          <a:xfrm rot="10800000">
            <a:off x="6880631" y="3352800"/>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71" name="Google Shape;671;p40"/>
          <p:cNvSpPr/>
          <p:nvPr/>
        </p:nvSpPr>
        <p:spPr>
          <a:xfrm>
            <a:off x="6818604" y="2745460"/>
            <a:ext cx="273300" cy="273300"/>
          </a:xfrm>
          <a:prstGeom prst="rect">
            <a:avLst/>
          </a:prstGeom>
          <a:solidFill>
            <a:srgbClr val="5FB86D"/>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solidFill>
                <a:schemeClr val="dk1"/>
              </a:solidFill>
            </a:endParaRPr>
          </a:p>
        </p:txBody>
      </p:sp>
      <p:sp>
        <p:nvSpPr>
          <p:cNvPr id="672" name="Google Shape;672;p40"/>
          <p:cNvSpPr/>
          <p:nvPr/>
        </p:nvSpPr>
        <p:spPr>
          <a:xfrm>
            <a:off x="6880574" y="2968751"/>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
        <p:nvSpPr>
          <p:cNvPr id="673" name="Google Shape;673;p40"/>
          <p:cNvSpPr/>
          <p:nvPr/>
        </p:nvSpPr>
        <p:spPr>
          <a:xfrm rot="10800000">
            <a:off x="6880631" y="2698355"/>
            <a:ext cx="149400" cy="129900"/>
          </a:xfrm>
          <a:prstGeom prst="upArrow">
            <a:avLst>
              <a:gd fmla="val 50000" name="adj1"/>
              <a:gd fmla="val 50000" name="adj2"/>
            </a:avLst>
          </a:prstGeom>
          <a:solidFill>
            <a:schemeClr val="lt2"/>
          </a:solidFill>
          <a:ln cap="flat" cmpd="sng" w="14475">
            <a:solidFill>
              <a:schemeClr val="dk2"/>
            </a:solidFill>
            <a:prstDash val="solid"/>
            <a:round/>
            <a:headEnd len="sm" w="sm" type="none"/>
            <a:tailEnd len="sm" w="sm" type="none"/>
          </a:ln>
        </p:spPr>
        <p:txBody>
          <a:bodyPr anchorCtr="0" anchor="ctr" bIns="138850" lIns="138850" spcFirstLastPara="1" rIns="138850" wrap="square" tIns="138850">
            <a:noAutofit/>
          </a:bodyPr>
          <a:lstStyle/>
          <a:p>
            <a:pPr indent="0" lvl="0" marL="0" rtl="0" algn="ctr">
              <a:spcBef>
                <a:spcPts val="0"/>
              </a:spcBef>
              <a:spcAft>
                <a:spcPts val="0"/>
              </a:spcAft>
              <a:buNone/>
            </a:pPr>
            <a:r>
              <a:t/>
            </a:r>
            <a:endParaRPr sz="2126"/>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7" name="Shape 677"/>
        <p:cNvGrpSpPr/>
        <p:nvPr/>
      </p:nvGrpSpPr>
      <p:grpSpPr>
        <a:xfrm>
          <a:off x="0" y="0"/>
          <a:ext cx="0" cy="0"/>
          <a:chOff x="0" y="0"/>
          <a:chExt cx="0" cy="0"/>
        </a:xfrm>
      </p:grpSpPr>
      <p:sp>
        <p:nvSpPr>
          <p:cNvPr id="678" name="Google Shape;678;p41"/>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Resultados - Tiempo promedio por algoritmo</a:t>
            </a:r>
            <a:endParaRPr/>
          </a:p>
        </p:txBody>
      </p:sp>
      <p:pic>
        <p:nvPicPr>
          <p:cNvPr id="679" name="Google Shape;679;p41" title="newplot.png"/>
          <p:cNvPicPr preferRelativeResize="0"/>
          <p:nvPr/>
        </p:nvPicPr>
        <p:blipFill rotWithShape="1">
          <a:blip r:embed="rId3">
            <a:alphaModFix/>
          </a:blip>
          <a:srcRect b="3322" l="0" r="0" t="11054"/>
          <a:stretch/>
        </p:blipFill>
        <p:spPr>
          <a:xfrm>
            <a:off x="764075" y="896538"/>
            <a:ext cx="7615852" cy="3350426"/>
          </a:xfrm>
          <a:prstGeom prst="rect">
            <a:avLst/>
          </a:prstGeom>
          <a:noFill/>
          <a:ln>
            <a:noFill/>
          </a:ln>
        </p:spPr>
      </p:pic>
      <p:cxnSp>
        <p:nvCxnSpPr>
          <p:cNvPr id="680" name="Google Shape;680;p41"/>
          <p:cNvCxnSpPr/>
          <p:nvPr/>
        </p:nvCxnSpPr>
        <p:spPr>
          <a:xfrm flipH="1" rot="10800000">
            <a:off x="3764600" y="1145000"/>
            <a:ext cx="335700" cy="593700"/>
          </a:xfrm>
          <a:prstGeom prst="straightConnector1">
            <a:avLst/>
          </a:prstGeom>
          <a:noFill/>
          <a:ln cap="flat" cmpd="sng" w="9525">
            <a:solidFill>
              <a:schemeClr val="dk2"/>
            </a:solidFill>
            <a:prstDash val="solid"/>
            <a:round/>
            <a:headEnd len="med" w="med" type="none"/>
            <a:tailEnd len="med" w="med" type="triangle"/>
          </a:ln>
        </p:spPr>
      </p:cxnSp>
      <p:cxnSp>
        <p:nvCxnSpPr>
          <p:cNvPr id="681" name="Google Shape;681;p41"/>
          <p:cNvCxnSpPr/>
          <p:nvPr/>
        </p:nvCxnSpPr>
        <p:spPr>
          <a:xfrm>
            <a:off x="1258775" y="1752975"/>
            <a:ext cx="1247100" cy="794100"/>
          </a:xfrm>
          <a:prstGeom prst="straightConnector1">
            <a:avLst/>
          </a:prstGeom>
          <a:noFill/>
          <a:ln cap="flat" cmpd="sng" w="9525">
            <a:solidFill>
              <a:schemeClr val="dk2"/>
            </a:solidFill>
            <a:prstDash val="solid"/>
            <a:round/>
            <a:headEnd len="med" w="med" type="none"/>
            <a:tailEnd len="med" w="med" type="triangle"/>
          </a:ln>
        </p:spPr>
      </p:cxnSp>
      <p:cxnSp>
        <p:nvCxnSpPr>
          <p:cNvPr id="682" name="Google Shape;682;p41"/>
          <p:cNvCxnSpPr/>
          <p:nvPr/>
        </p:nvCxnSpPr>
        <p:spPr>
          <a:xfrm>
            <a:off x="4430700" y="1046700"/>
            <a:ext cx="381000" cy="1011000"/>
          </a:xfrm>
          <a:prstGeom prst="straightConnector1">
            <a:avLst/>
          </a:prstGeom>
          <a:noFill/>
          <a:ln cap="flat" cmpd="sng" w="9525">
            <a:solidFill>
              <a:schemeClr val="dk2"/>
            </a:solidFill>
            <a:prstDash val="solid"/>
            <a:round/>
            <a:headEnd len="med" w="med" type="none"/>
            <a:tailEnd len="med" w="med" type="triangle"/>
          </a:ln>
        </p:spPr>
      </p:cxnSp>
      <p:cxnSp>
        <p:nvCxnSpPr>
          <p:cNvPr id="683" name="Google Shape;683;p41"/>
          <p:cNvCxnSpPr/>
          <p:nvPr/>
        </p:nvCxnSpPr>
        <p:spPr>
          <a:xfrm flipH="1" rot="10800000">
            <a:off x="5390975" y="2392050"/>
            <a:ext cx="1272000" cy="126900"/>
          </a:xfrm>
          <a:prstGeom prst="straightConnector1">
            <a:avLst/>
          </a:prstGeom>
          <a:noFill/>
          <a:ln cap="flat" cmpd="sng" w="9525">
            <a:solidFill>
              <a:schemeClr val="dk2"/>
            </a:solidFill>
            <a:prstDash val="solid"/>
            <a:round/>
            <a:headEnd len="med" w="med" type="none"/>
            <a:tailEnd len="med" w="med" type="triangle"/>
          </a:ln>
        </p:spPr>
      </p:cxnSp>
      <p:sp>
        <p:nvSpPr>
          <p:cNvPr id="684" name="Google Shape;684;p41"/>
          <p:cNvSpPr txBox="1"/>
          <p:nvPr/>
        </p:nvSpPr>
        <p:spPr>
          <a:xfrm>
            <a:off x="152400" y="16884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85" name="Google Shape;685;p41"/>
          <p:cNvSpPr txBox="1"/>
          <p:nvPr/>
        </p:nvSpPr>
        <p:spPr>
          <a:xfrm>
            <a:off x="7164775" y="815225"/>
            <a:ext cx="1799100" cy="1631700"/>
          </a:xfrm>
          <a:prstGeom prst="rect">
            <a:avLst/>
          </a:prstGeom>
          <a:noFill/>
          <a:ln>
            <a:noFill/>
          </a:ln>
        </p:spPr>
        <p:txBody>
          <a:bodyPr anchorCtr="0" anchor="t" bIns="91425" lIns="91425" spcFirstLastPara="1" rIns="91425" wrap="square" tIns="91425">
            <a:spAutoFit/>
          </a:bodyPr>
          <a:lstStyle/>
          <a:p>
            <a:pPr indent="0" lvl="0" marL="0" rtl="0" algn="r">
              <a:spcBef>
                <a:spcPts val="200"/>
              </a:spcBef>
              <a:spcAft>
                <a:spcPts val="0"/>
              </a:spcAft>
              <a:buNone/>
            </a:pPr>
            <a:r>
              <a:rPr lang="es" sz="1200" u="sng">
                <a:solidFill>
                  <a:schemeClr val="dk1"/>
                </a:solidFill>
                <a:latin typeface="Consolas"/>
                <a:ea typeface="Consolas"/>
                <a:cs typeface="Consolas"/>
                <a:sym typeface="Consolas"/>
              </a:rPr>
              <a:t>Sin optimizar</a:t>
            </a:r>
            <a:endParaRPr sz="1200" u="sng">
              <a:solidFill>
                <a:schemeClr val="dk1"/>
              </a:solidFill>
              <a:latin typeface="Consolas"/>
              <a:ea typeface="Consolas"/>
              <a:cs typeface="Consolas"/>
              <a:sym typeface="Consolas"/>
            </a:endParaRPr>
          </a:p>
          <a:p>
            <a:pPr indent="0" lvl="0" marL="0" rtl="0" algn="r">
              <a:spcBef>
                <a:spcPts val="200"/>
              </a:spcBef>
              <a:spcAft>
                <a:spcPts val="0"/>
              </a:spcAft>
              <a:buNone/>
            </a:pPr>
            <a:r>
              <a:rPr lang="es" sz="1200">
                <a:solidFill>
                  <a:schemeClr val="dk1"/>
                </a:solidFill>
                <a:latin typeface="Consolas"/>
                <a:ea typeface="Consolas"/>
                <a:cs typeface="Consolas"/>
                <a:sym typeface="Consolas"/>
              </a:rPr>
              <a:t>Costo: 672.887</a:t>
            </a:r>
            <a:endParaRPr sz="1200">
              <a:solidFill>
                <a:schemeClr val="dk1"/>
              </a:solidFill>
              <a:latin typeface="Consolas"/>
              <a:ea typeface="Consolas"/>
              <a:cs typeface="Consolas"/>
              <a:sym typeface="Consolas"/>
            </a:endParaRPr>
          </a:p>
          <a:p>
            <a:pPr indent="0" lvl="0" marL="0" rtl="0" algn="r">
              <a:spcBef>
                <a:spcPts val="200"/>
              </a:spcBef>
              <a:spcAft>
                <a:spcPts val="0"/>
              </a:spcAft>
              <a:buNone/>
            </a:pPr>
            <a:r>
              <a:rPr lang="es" sz="1200">
                <a:solidFill>
                  <a:schemeClr val="dk1"/>
                </a:solidFill>
                <a:latin typeface="Consolas"/>
                <a:ea typeface="Consolas"/>
                <a:cs typeface="Consolas"/>
                <a:sym typeface="Consolas"/>
              </a:rPr>
              <a:t>Tiempo: 15,9h</a:t>
            </a:r>
            <a:endParaRPr sz="1200">
              <a:solidFill>
                <a:schemeClr val="dk1"/>
              </a:solidFill>
              <a:latin typeface="Consolas"/>
              <a:ea typeface="Consolas"/>
              <a:cs typeface="Consolas"/>
              <a:sym typeface="Consolas"/>
            </a:endParaRPr>
          </a:p>
          <a:p>
            <a:pPr indent="0" lvl="0" marL="0" rtl="0" algn="r">
              <a:spcBef>
                <a:spcPts val="200"/>
              </a:spcBef>
              <a:spcAft>
                <a:spcPts val="0"/>
              </a:spcAft>
              <a:buNone/>
            </a:pPr>
            <a:r>
              <a:t/>
            </a:r>
            <a:endParaRPr sz="1200">
              <a:solidFill>
                <a:schemeClr val="dk1"/>
              </a:solidFill>
              <a:latin typeface="Consolas"/>
              <a:ea typeface="Consolas"/>
              <a:cs typeface="Consolas"/>
              <a:sym typeface="Consolas"/>
            </a:endParaRPr>
          </a:p>
          <a:p>
            <a:pPr indent="0" lvl="0" marL="0" rtl="0" algn="r">
              <a:spcBef>
                <a:spcPts val="200"/>
              </a:spcBef>
              <a:spcAft>
                <a:spcPts val="0"/>
              </a:spcAft>
              <a:buNone/>
            </a:pPr>
            <a:r>
              <a:rPr lang="es" sz="1200" u="sng">
                <a:solidFill>
                  <a:schemeClr val="dk1"/>
                </a:solidFill>
                <a:latin typeface="Consolas"/>
                <a:ea typeface="Consolas"/>
                <a:cs typeface="Consolas"/>
                <a:sym typeface="Consolas"/>
              </a:rPr>
              <a:t>Colapso de estados</a:t>
            </a:r>
            <a:endParaRPr sz="1200" u="sng">
              <a:solidFill>
                <a:schemeClr val="dk1"/>
              </a:solidFill>
              <a:latin typeface="Consolas"/>
              <a:ea typeface="Consolas"/>
              <a:cs typeface="Consolas"/>
              <a:sym typeface="Consolas"/>
            </a:endParaRPr>
          </a:p>
          <a:p>
            <a:pPr indent="0" lvl="0" marL="0" rtl="0" algn="r">
              <a:spcBef>
                <a:spcPts val="200"/>
              </a:spcBef>
              <a:spcAft>
                <a:spcPts val="0"/>
              </a:spcAft>
              <a:buNone/>
            </a:pPr>
            <a:r>
              <a:rPr lang="es" sz="1200">
                <a:solidFill>
                  <a:schemeClr val="dk1"/>
                </a:solidFill>
                <a:latin typeface="Consolas"/>
                <a:ea typeface="Consolas"/>
                <a:cs typeface="Consolas"/>
                <a:sym typeface="Consolas"/>
              </a:rPr>
              <a:t>Costo: 675.124</a:t>
            </a:r>
            <a:endParaRPr sz="1200">
              <a:solidFill>
                <a:schemeClr val="dk1"/>
              </a:solidFill>
              <a:latin typeface="Consolas"/>
              <a:ea typeface="Consolas"/>
              <a:cs typeface="Consolas"/>
              <a:sym typeface="Consolas"/>
            </a:endParaRPr>
          </a:p>
          <a:p>
            <a:pPr indent="0" lvl="0" marL="0" rtl="0" algn="r">
              <a:spcBef>
                <a:spcPts val="200"/>
              </a:spcBef>
              <a:spcAft>
                <a:spcPts val="0"/>
              </a:spcAft>
              <a:buNone/>
            </a:pPr>
            <a:r>
              <a:rPr lang="es" sz="1200">
                <a:solidFill>
                  <a:schemeClr val="dk1"/>
                </a:solidFill>
                <a:latin typeface="Consolas"/>
                <a:ea typeface="Consolas"/>
                <a:cs typeface="Consolas"/>
                <a:sym typeface="Consolas"/>
              </a:rPr>
              <a:t>Tiempo: 12,4h</a:t>
            </a:r>
            <a:endParaRPr sz="1200">
              <a:solidFill>
                <a:schemeClr val="dk1"/>
              </a:solidFill>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9" name="Shape 689"/>
        <p:cNvGrpSpPr/>
        <p:nvPr/>
      </p:nvGrpSpPr>
      <p:grpSpPr>
        <a:xfrm>
          <a:off x="0" y="0"/>
          <a:ext cx="0" cy="0"/>
          <a:chOff x="0" y="0"/>
          <a:chExt cx="0" cy="0"/>
        </a:xfrm>
      </p:grpSpPr>
      <p:sp>
        <p:nvSpPr>
          <p:cNvPr id="690" name="Google Shape;690;p42"/>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Resultados - Cost Heat Map</a:t>
            </a:r>
            <a:endParaRPr/>
          </a:p>
        </p:txBody>
      </p:sp>
      <p:pic>
        <p:nvPicPr>
          <p:cNvPr id="691" name="Google Shape;691;p42" title="newplot.png"/>
          <p:cNvPicPr preferRelativeResize="0"/>
          <p:nvPr/>
        </p:nvPicPr>
        <p:blipFill rotWithShape="1">
          <a:blip r:embed="rId3">
            <a:alphaModFix/>
          </a:blip>
          <a:srcRect b="3471" l="1614" r="0" t="9314"/>
          <a:stretch/>
        </p:blipFill>
        <p:spPr>
          <a:xfrm>
            <a:off x="346250" y="865525"/>
            <a:ext cx="8451500" cy="3412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43"/>
          <p:cNvSpPr txBox="1"/>
          <p:nvPr>
            <p:ph type="title"/>
          </p:nvPr>
        </p:nvSpPr>
        <p:spPr>
          <a:xfrm>
            <a:off x="685800" y="2743200"/>
            <a:ext cx="7770000" cy="6858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s"/>
              <a:t>Encontrando la definición de </a:t>
            </a:r>
            <a:r>
              <a:rPr i="1" lang="es"/>
              <a:t>Dificultad</a:t>
            </a:r>
            <a:endParaRPr i="1"/>
          </a:p>
        </p:txBody>
      </p:sp>
      <p:sp>
        <p:nvSpPr>
          <p:cNvPr id="697" name="Google Shape;697;p43"/>
          <p:cNvSpPr txBox="1"/>
          <p:nvPr>
            <p:ph idx="1" type="body"/>
          </p:nvPr>
        </p:nvSpPr>
        <p:spPr>
          <a:xfrm>
            <a:off x="1028700" y="3796875"/>
            <a:ext cx="7084200" cy="411600"/>
          </a:xfrm>
          <a:prstGeom prst="rect">
            <a:avLst/>
          </a:prstGeom>
        </p:spPr>
        <p:txBody>
          <a:bodyPr anchorCtr="0" anchor="t" bIns="34275" lIns="68575" spcFirstLastPara="1" rIns="68575" wrap="square" tIns="34275">
            <a:noAutofit/>
          </a:bodyPr>
          <a:lstStyle/>
          <a:p>
            <a:pPr indent="0" lvl="0" marL="0" rtl="0" algn="ctr">
              <a:spcBef>
                <a:spcPts val="200"/>
              </a:spcBef>
              <a:spcAft>
                <a:spcPts val="0"/>
              </a:spcAft>
              <a:buNone/>
            </a:pPr>
            <a:r>
              <a:rPr lang="es">
                <a:latin typeface="Pixelify Sans"/>
                <a:ea typeface="Pixelify Sans"/>
                <a:cs typeface="Pixelify Sans"/>
                <a:sym typeface="Pixelify Sans"/>
              </a:rPr>
              <a:t>Métricas</a:t>
            </a:r>
            <a:r>
              <a:rPr lang="es">
                <a:latin typeface="Pixelify Sans"/>
                <a:ea typeface="Pixelify Sans"/>
                <a:cs typeface="Pixelify Sans"/>
                <a:sym typeface="Pixelify Sans"/>
              </a:rPr>
              <a:t> para definir complejidad</a:t>
            </a:r>
            <a:endParaRPr>
              <a:latin typeface="Pixelify Sans"/>
              <a:ea typeface="Pixelify Sans"/>
              <a:cs typeface="Pixelify Sans"/>
              <a:sym typeface="Pixelify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44"/>
          <p:cNvSpPr txBox="1"/>
          <p:nvPr>
            <p:ph type="title"/>
          </p:nvPr>
        </p:nvSpPr>
        <p:spPr>
          <a:xfrm>
            <a:off x="685800" y="2743200"/>
            <a:ext cx="7770000" cy="6858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s"/>
              <a:t>Escalabilidad</a:t>
            </a:r>
            <a:endParaRPr/>
          </a:p>
        </p:txBody>
      </p:sp>
      <p:sp>
        <p:nvSpPr>
          <p:cNvPr id="703" name="Google Shape;703;p44"/>
          <p:cNvSpPr txBox="1"/>
          <p:nvPr>
            <p:ph idx="1" type="body"/>
          </p:nvPr>
        </p:nvSpPr>
        <p:spPr>
          <a:xfrm>
            <a:off x="1028700" y="3429000"/>
            <a:ext cx="7084200" cy="411600"/>
          </a:xfrm>
          <a:prstGeom prst="rect">
            <a:avLst/>
          </a:prstGeom>
        </p:spPr>
        <p:txBody>
          <a:bodyPr anchorCtr="0" anchor="t" bIns="34275" lIns="68575" spcFirstLastPara="1" rIns="68575" wrap="square" tIns="34275">
            <a:noAutofit/>
          </a:bodyPr>
          <a:lstStyle/>
          <a:p>
            <a:pPr indent="0" lvl="0" marL="0" rtl="0" algn="ctr">
              <a:spcBef>
                <a:spcPts val="200"/>
              </a:spcBef>
              <a:spcAft>
                <a:spcPts val="0"/>
              </a:spcAft>
              <a:buNone/>
            </a:pPr>
            <a:r>
              <a:rPr lang="es">
                <a:latin typeface="Pixelify Sans"/>
                <a:ea typeface="Pixelify Sans"/>
                <a:cs typeface="Pixelify Sans"/>
                <a:sym typeface="Pixelify Sans"/>
              </a:rPr>
              <a:t>¿</a:t>
            </a:r>
            <a:r>
              <a:rPr lang="es">
                <a:latin typeface="Pixelify Sans"/>
                <a:ea typeface="Pixelify Sans"/>
                <a:cs typeface="Pixelify Sans"/>
                <a:sym typeface="Pixelify Sans"/>
              </a:rPr>
              <a:t>Mayor cantidad de movimientos implica mayor dificultad?</a:t>
            </a:r>
            <a:endParaRPr>
              <a:latin typeface="Pixelify Sans"/>
              <a:ea typeface="Pixelify Sans"/>
              <a:cs typeface="Pixelify Sans"/>
              <a:sym typeface="Pixelify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45"/>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Niveles ordenados por “Dificultad” (costo)</a:t>
            </a:r>
            <a:endParaRPr/>
          </a:p>
        </p:txBody>
      </p:sp>
      <p:pic>
        <p:nvPicPr>
          <p:cNvPr id="709" name="Google Shape;709;p45" title="newplot (3).png"/>
          <p:cNvPicPr preferRelativeResize="0"/>
          <p:nvPr/>
        </p:nvPicPr>
        <p:blipFill rotWithShape="1">
          <a:blip r:embed="rId3">
            <a:alphaModFix/>
          </a:blip>
          <a:srcRect b="0" l="0" r="0" t="8734"/>
          <a:stretch/>
        </p:blipFill>
        <p:spPr>
          <a:xfrm>
            <a:off x="823388" y="974475"/>
            <a:ext cx="7497300" cy="35712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pic>
        <p:nvPicPr>
          <p:cNvPr id="714" name="Google Shape;714;p46"/>
          <p:cNvPicPr preferRelativeResize="0"/>
          <p:nvPr/>
        </p:nvPicPr>
        <p:blipFill rotWithShape="1">
          <a:blip r:embed="rId3">
            <a:alphaModFix/>
          </a:blip>
          <a:srcRect b="3537" l="0" r="0" t="9348"/>
          <a:stretch/>
        </p:blipFill>
        <p:spPr>
          <a:xfrm>
            <a:off x="1931097" y="2608550"/>
            <a:ext cx="5281800" cy="20964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715" name="Google Shape;715;p46"/>
          <p:cNvSpPr txBox="1"/>
          <p:nvPr>
            <p:ph type="title"/>
          </p:nvPr>
        </p:nvSpPr>
        <p:spPr>
          <a:xfrm>
            <a:off x="687000" y="1894740"/>
            <a:ext cx="7770000" cy="8916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s"/>
              <a:t>EBF</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47"/>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BFS</a:t>
            </a:r>
            <a:endParaRPr/>
          </a:p>
        </p:txBody>
      </p:sp>
      <p:pic>
        <p:nvPicPr>
          <p:cNvPr id="721" name="Google Shape;721;p47" title="newplot (1).png"/>
          <p:cNvPicPr preferRelativeResize="0"/>
          <p:nvPr/>
        </p:nvPicPr>
        <p:blipFill rotWithShape="1">
          <a:blip r:embed="rId3">
            <a:alphaModFix/>
          </a:blip>
          <a:srcRect b="5536" l="0" r="34892" t="10459"/>
          <a:stretch/>
        </p:blipFill>
        <p:spPr>
          <a:xfrm>
            <a:off x="685800" y="1017300"/>
            <a:ext cx="4616700" cy="31089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722" name="Google Shape;722;p47"/>
          <p:cNvSpPr txBox="1"/>
          <p:nvPr>
            <p:ph idx="1" type="body"/>
          </p:nvPr>
        </p:nvSpPr>
        <p:spPr>
          <a:xfrm>
            <a:off x="5524500" y="1017300"/>
            <a:ext cx="2931300" cy="3144600"/>
          </a:xfrm>
          <a:prstGeom prst="rect">
            <a:avLst/>
          </a:prstGeom>
        </p:spPr>
        <p:txBody>
          <a:bodyPr anchorCtr="0" anchor="ctr" bIns="34275" lIns="68575" spcFirstLastPara="1" rIns="68575" wrap="square" tIns="34275">
            <a:noAutofit/>
          </a:bodyPr>
          <a:lstStyle/>
          <a:p>
            <a:pPr indent="-304800" lvl="0" marL="457200" rtl="0" algn="l">
              <a:spcBef>
                <a:spcPts val="200"/>
              </a:spcBef>
              <a:spcAft>
                <a:spcPts val="0"/>
              </a:spcAft>
              <a:buSzPts val="1200"/>
              <a:buFont typeface="Consolas"/>
              <a:buChar char="❏"/>
            </a:pPr>
            <a:r>
              <a:rPr lang="es">
                <a:latin typeface="Consolas"/>
                <a:ea typeface="Consolas"/>
                <a:cs typeface="Consolas"/>
                <a:sym typeface="Consolas"/>
              </a:rPr>
              <a:t>Al no usar heurísticas, explora todas las ramas de manera uniforme en anchura</a:t>
            </a:r>
            <a:endParaRPr>
              <a:latin typeface="Consolas"/>
              <a:ea typeface="Consolas"/>
              <a:cs typeface="Consolas"/>
              <a:sym typeface="Consolas"/>
            </a:endParaRPr>
          </a:p>
          <a:p>
            <a:pPr indent="0" lvl="0" marL="457200" rtl="0" algn="l">
              <a:spcBef>
                <a:spcPts val="200"/>
              </a:spcBef>
              <a:spcAft>
                <a:spcPts val="0"/>
              </a:spcAft>
              <a:buNone/>
            </a:pPr>
            <a:r>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Ineficiente para instancias profundas</a:t>
            </a:r>
            <a:endParaRPr>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48"/>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A*</a:t>
            </a:r>
            <a:endParaRPr/>
          </a:p>
        </p:txBody>
      </p:sp>
      <p:pic>
        <p:nvPicPr>
          <p:cNvPr id="728" name="Google Shape;728;p48" title="newplot (3).png"/>
          <p:cNvPicPr preferRelativeResize="0"/>
          <p:nvPr/>
        </p:nvPicPr>
        <p:blipFill rotWithShape="1">
          <a:blip r:embed="rId3">
            <a:alphaModFix/>
          </a:blip>
          <a:srcRect b="5555" l="0" r="24998" t="10539"/>
          <a:stretch/>
        </p:blipFill>
        <p:spPr>
          <a:xfrm>
            <a:off x="685800" y="1198649"/>
            <a:ext cx="4703700" cy="27462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729" name="Google Shape;729;p48"/>
          <p:cNvSpPr txBox="1"/>
          <p:nvPr>
            <p:ph idx="1" type="body"/>
          </p:nvPr>
        </p:nvSpPr>
        <p:spPr>
          <a:xfrm>
            <a:off x="5524500" y="1200150"/>
            <a:ext cx="2931300" cy="2746200"/>
          </a:xfrm>
          <a:prstGeom prst="rect">
            <a:avLst/>
          </a:prstGeom>
        </p:spPr>
        <p:txBody>
          <a:bodyPr anchorCtr="0" anchor="ctr" bIns="34275" lIns="68575" spcFirstLastPara="1" rIns="68575" wrap="square" tIns="34275">
            <a:noAutofit/>
          </a:bodyPr>
          <a:lstStyle/>
          <a:p>
            <a:pPr indent="-304800" lvl="0" marL="457200" rtl="0" algn="l">
              <a:spcBef>
                <a:spcPts val="200"/>
              </a:spcBef>
              <a:spcAft>
                <a:spcPts val="0"/>
              </a:spcAft>
              <a:buSzPts val="1200"/>
              <a:buFont typeface="Consolas"/>
              <a:buChar char="❏"/>
            </a:pPr>
            <a:r>
              <a:rPr lang="es">
                <a:latin typeface="Consolas"/>
                <a:ea typeface="Consolas"/>
                <a:cs typeface="Consolas"/>
                <a:sym typeface="Consolas"/>
              </a:rPr>
              <a:t>Modestamente más bajo que con fuerza bruta</a:t>
            </a:r>
            <a:endParaRPr sz="1200">
              <a:latin typeface="Consolas"/>
              <a:ea typeface="Consolas"/>
              <a:cs typeface="Consolas"/>
              <a:sym typeface="Consolas"/>
            </a:endParaRPr>
          </a:p>
          <a:p>
            <a:pPr indent="0" lvl="0" marL="457200" rtl="0" algn="l">
              <a:spcBef>
                <a:spcPts val="200"/>
              </a:spcBef>
              <a:spcAft>
                <a:spcPts val="0"/>
              </a:spcAft>
              <a:buNone/>
            </a:pPr>
            <a:r>
              <a:rPr lang="es">
                <a:latin typeface="Consolas"/>
                <a:ea typeface="Consolas"/>
                <a:cs typeface="Consolas"/>
                <a:sym typeface="Consolas"/>
              </a:rPr>
              <a:t>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La mejor combinación entre encontrar la ruta más corta y contener el crecimiento de nodos.</a:t>
            </a:r>
            <a:endParaRPr>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49"/>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Greedy</a:t>
            </a:r>
            <a:endParaRPr/>
          </a:p>
        </p:txBody>
      </p:sp>
      <p:sp>
        <p:nvSpPr>
          <p:cNvPr id="735" name="Google Shape;735;p49"/>
          <p:cNvSpPr txBox="1"/>
          <p:nvPr>
            <p:ph idx="1" type="body"/>
          </p:nvPr>
        </p:nvSpPr>
        <p:spPr>
          <a:xfrm>
            <a:off x="5524500" y="1260150"/>
            <a:ext cx="2931300" cy="2622900"/>
          </a:xfrm>
          <a:prstGeom prst="rect">
            <a:avLst/>
          </a:prstGeom>
        </p:spPr>
        <p:txBody>
          <a:bodyPr anchorCtr="0" anchor="ctr" bIns="34275" lIns="68575" spcFirstLastPara="1" rIns="68575" wrap="square" tIns="34275">
            <a:noAutofit/>
          </a:bodyPr>
          <a:lstStyle/>
          <a:p>
            <a:pPr indent="-304800" lvl="0" marL="457200" rtl="0" algn="l">
              <a:spcBef>
                <a:spcPts val="200"/>
              </a:spcBef>
              <a:spcAft>
                <a:spcPts val="0"/>
              </a:spcAft>
              <a:buSzPts val="1200"/>
              <a:buFont typeface="Consolas"/>
              <a:buChar char="❏"/>
            </a:pPr>
            <a:r>
              <a:rPr lang="es">
                <a:latin typeface="Consolas"/>
                <a:ea typeface="Consolas"/>
                <a:cs typeface="Consolas"/>
                <a:sym typeface="Consolas"/>
              </a:rPr>
              <a:t>EBF bajo</a:t>
            </a:r>
            <a:endParaRPr>
              <a:latin typeface="Consolas"/>
              <a:ea typeface="Consolas"/>
              <a:cs typeface="Consolas"/>
              <a:sym typeface="Consolas"/>
            </a:endParaRPr>
          </a:p>
          <a:p>
            <a:pPr indent="0" lvl="0" marL="457200" rtl="0" algn="l">
              <a:spcBef>
                <a:spcPts val="200"/>
              </a:spcBef>
              <a:spcAft>
                <a:spcPts val="0"/>
              </a:spcAft>
              <a:buNone/>
            </a:pPr>
            <a:r>
              <a:rPr lang="es">
                <a:latin typeface="Consolas"/>
                <a:ea typeface="Consolas"/>
                <a:cs typeface="Consolas"/>
                <a:sym typeface="Consolas"/>
              </a:rPr>
              <a:t>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Muy rápido para encontrar salidas, pero sacrifica la ruta óptima.</a:t>
            </a:r>
            <a:endParaRPr>
              <a:latin typeface="Consolas"/>
              <a:ea typeface="Consolas"/>
              <a:cs typeface="Consolas"/>
              <a:sym typeface="Consolas"/>
            </a:endParaRPr>
          </a:p>
        </p:txBody>
      </p:sp>
      <p:pic>
        <p:nvPicPr>
          <p:cNvPr id="736" name="Google Shape;736;p49" title="newplot (4).png"/>
          <p:cNvPicPr preferRelativeResize="0"/>
          <p:nvPr/>
        </p:nvPicPr>
        <p:blipFill rotWithShape="1">
          <a:blip r:embed="rId3">
            <a:alphaModFix/>
          </a:blip>
          <a:srcRect b="5600" l="0" r="26161" t="14285"/>
          <a:stretch/>
        </p:blipFill>
        <p:spPr>
          <a:xfrm>
            <a:off x="685800" y="1260300"/>
            <a:ext cx="4632000" cy="26229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50"/>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DFS</a:t>
            </a:r>
            <a:endParaRPr/>
          </a:p>
        </p:txBody>
      </p:sp>
      <p:pic>
        <p:nvPicPr>
          <p:cNvPr id="742" name="Google Shape;742;p50" title="newplot (2).png"/>
          <p:cNvPicPr preferRelativeResize="0"/>
          <p:nvPr/>
        </p:nvPicPr>
        <p:blipFill rotWithShape="1">
          <a:blip r:embed="rId3">
            <a:alphaModFix/>
          </a:blip>
          <a:srcRect b="5471" l="0" r="34015" t="12508"/>
          <a:stretch/>
        </p:blipFill>
        <p:spPr>
          <a:xfrm>
            <a:off x="685800" y="1030800"/>
            <a:ext cx="4750800" cy="30819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743" name="Google Shape;743;p50"/>
          <p:cNvSpPr txBox="1"/>
          <p:nvPr>
            <p:ph idx="1" type="body"/>
          </p:nvPr>
        </p:nvSpPr>
        <p:spPr>
          <a:xfrm>
            <a:off x="5524500" y="1200150"/>
            <a:ext cx="2931300" cy="2912400"/>
          </a:xfrm>
          <a:prstGeom prst="rect">
            <a:avLst/>
          </a:prstGeom>
        </p:spPr>
        <p:txBody>
          <a:bodyPr anchorCtr="0" anchor="ctr" bIns="34275" lIns="68575" spcFirstLastPara="1" rIns="68575" wrap="square" tIns="34275">
            <a:noAutofit/>
          </a:bodyPr>
          <a:lstStyle/>
          <a:p>
            <a:pPr indent="-304800" lvl="0" marL="457200" rtl="0" algn="l">
              <a:spcBef>
                <a:spcPts val="200"/>
              </a:spcBef>
              <a:spcAft>
                <a:spcPts val="0"/>
              </a:spcAft>
              <a:buSzPts val="1200"/>
              <a:buFont typeface="Consolas"/>
              <a:buChar char="❏"/>
            </a:pPr>
            <a:r>
              <a:rPr lang="es">
                <a:latin typeface="Consolas"/>
                <a:ea typeface="Consolas"/>
                <a:cs typeface="Consolas"/>
                <a:sym typeface="Consolas"/>
              </a:rPr>
              <a:t>Converge a 1</a:t>
            </a:r>
            <a:endParaRPr>
              <a:latin typeface="Consolas"/>
              <a:ea typeface="Consolas"/>
              <a:cs typeface="Consolas"/>
              <a:sym typeface="Consolas"/>
            </a:endParaRPr>
          </a:p>
          <a:p>
            <a:pPr indent="0" lvl="0" marL="457200" rtl="0" algn="l">
              <a:spcBef>
                <a:spcPts val="200"/>
              </a:spcBef>
              <a:spcAft>
                <a:spcPts val="0"/>
              </a:spcAft>
              <a:buNone/>
            </a:pPr>
            <a:r>
              <a:t/>
            </a:r>
            <a:endParaRPr>
              <a:latin typeface="Consolas"/>
              <a:ea typeface="Consolas"/>
              <a:cs typeface="Consolas"/>
              <a:sym typeface="Consolas"/>
            </a:endParaRPr>
          </a:p>
          <a:p>
            <a:pPr indent="-304800" lvl="0" marL="457200" rtl="0" algn="l">
              <a:spcBef>
                <a:spcPts val="200"/>
              </a:spcBef>
              <a:spcAft>
                <a:spcPts val="0"/>
              </a:spcAft>
              <a:buSzPts val="1200"/>
              <a:buChar char="❏"/>
            </a:pPr>
            <a:r>
              <a:rPr b="1" lang="es">
                <a:latin typeface="Consolas"/>
                <a:ea typeface="Consolas"/>
                <a:cs typeface="Consolas"/>
                <a:sym typeface="Consolas"/>
              </a:rPr>
              <a:t>NO </a:t>
            </a:r>
            <a:r>
              <a:rPr lang="es">
                <a:latin typeface="Consolas"/>
                <a:ea typeface="Consolas"/>
                <a:cs typeface="Consolas"/>
                <a:sym typeface="Consolas"/>
              </a:rPr>
              <a:t>significa que el algoritmo sea </a:t>
            </a:r>
            <a:r>
              <a:rPr lang="es">
                <a:latin typeface="Consolas"/>
                <a:ea typeface="Consolas"/>
                <a:cs typeface="Consolas"/>
                <a:sym typeface="Consolas"/>
              </a:rPr>
              <a:t>más</a:t>
            </a:r>
            <a:r>
              <a:rPr lang="es">
                <a:latin typeface="Consolas"/>
                <a:ea typeface="Consolas"/>
                <a:cs typeface="Consolas"/>
                <a:sym typeface="Consolas"/>
              </a:rPr>
              <a:t> eficiente</a:t>
            </a:r>
            <a:endParaRPr>
              <a:latin typeface="Consolas"/>
              <a:ea typeface="Consolas"/>
              <a:cs typeface="Consolas"/>
              <a:sym typeface="Consolas"/>
            </a:endParaRPr>
          </a:p>
          <a:p>
            <a:pPr indent="-304800" lvl="1" marL="914400" rtl="0" algn="l">
              <a:spcBef>
                <a:spcPts val="0"/>
              </a:spcBef>
              <a:spcAft>
                <a:spcPts val="0"/>
              </a:spcAft>
              <a:buSzPts val="1200"/>
              <a:buFont typeface="Consolas"/>
              <a:buChar char="❏"/>
            </a:pPr>
            <a:r>
              <a:rPr lang="es" sz="1200">
                <a:latin typeface="Consolas"/>
                <a:ea typeface="Consolas"/>
                <a:cs typeface="Consolas"/>
                <a:sym typeface="Consolas"/>
              </a:rPr>
              <a:t>Se pierde en la profundidad</a:t>
            </a:r>
            <a:endParaRPr sz="1200">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51"/>
          <p:cNvSpPr txBox="1"/>
          <p:nvPr>
            <p:ph type="title"/>
          </p:nvPr>
        </p:nvSpPr>
        <p:spPr>
          <a:xfrm>
            <a:off x="685800" y="2743200"/>
            <a:ext cx="7770000" cy="6858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s"/>
              <a:t>¿Que hace a un nivel </a:t>
            </a:r>
            <a:r>
              <a:rPr lang="es"/>
              <a:t>difícil</a:t>
            </a:r>
            <a:r>
              <a:rPr lang="es"/>
              <a:t>?</a:t>
            </a:r>
            <a:endParaRPr/>
          </a:p>
        </p:txBody>
      </p:sp>
      <p:sp>
        <p:nvSpPr>
          <p:cNvPr id="749" name="Google Shape;749;p51"/>
          <p:cNvSpPr txBox="1"/>
          <p:nvPr>
            <p:ph idx="1" type="body"/>
          </p:nvPr>
        </p:nvSpPr>
        <p:spPr>
          <a:xfrm>
            <a:off x="1028700" y="3429000"/>
            <a:ext cx="7084200" cy="411600"/>
          </a:xfrm>
          <a:prstGeom prst="rect">
            <a:avLst/>
          </a:prstGeom>
        </p:spPr>
        <p:txBody>
          <a:bodyPr anchorCtr="0" anchor="t" bIns="34275" lIns="68575" spcFirstLastPara="1" rIns="68575" wrap="square" tIns="34275">
            <a:noAutofit/>
          </a:bodyPr>
          <a:lstStyle/>
          <a:p>
            <a:pPr indent="0" lvl="0" marL="0" rtl="0" algn="ctr">
              <a:spcBef>
                <a:spcPts val="200"/>
              </a:spcBef>
              <a:spcAft>
                <a:spcPts val="0"/>
              </a:spcAft>
              <a:buNone/>
            </a:pPr>
            <a:r>
              <a:rPr lang="es">
                <a:latin typeface="Pixelify Sans"/>
                <a:ea typeface="Pixelify Sans"/>
                <a:cs typeface="Pixelify Sans"/>
                <a:sym typeface="Pixelify Sans"/>
              </a:rPr>
              <a:t>Analisis “preventivo”</a:t>
            </a:r>
            <a:endParaRPr>
              <a:latin typeface="Pixelify Sans"/>
              <a:ea typeface="Pixelify Sans"/>
              <a:cs typeface="Pixelify Sans"/>
              <a:sym typeface="Pixelify Sans"/>
            </a:endParaRPr>
          </a:p>
        </p:txBody>
      </p:sp>
      <p:pic>
        <p:nvPicPr>
          <p:cNvPr id="750" name="Google Shape;750;p51"/>
          <p:cNvPicPr preferRelativeResize="0"/>
          <p:nvPr/>
        </p:nvPicPr>
        <p:blipFill>
          <a:blip r:embed="rId3">
            <a:alphaModFix/>
          </a:blip>
          <a:stretch>
            <a:fillRect/>
          </a:stretch>
        </p:blipFill>
        <p:spPr>
          <a:xfrm>
            <a:off x="1680938" y="1351388"/>
            <a:ext cx="1190700" cy="1190700"/>
          </a:xfrm>
          <a:prstGeom prst="rect">
            <a:avLst/>
          </a:prstGeom>
          <a:noFill/>
          <a:ln>
            <a:noFill/>
          </a:ln>
        </p:spPr>
      </p:pic>
      <p:pic>
        <p:nvPicPr>
          <p:cNvPr id="751" name="Google Shape;751;p51"/>
          <p:cNvPicPr preferRelativeResize="0"/>
          <p:nvPr/>
        </p:nvPicPr>
        <p:blipFill rotWithShape="1">
          <a:blip r:embed="rId4">
            <a:alphaModFix/>
          </a:blip>
          <a:srcRect b="0" l="2337" r="2651" t="0"/>
          <a:stretch/>
        </p:blipFill>
        <p:spPr>
          <a:xfrm>
            <a:off x="6283975" y="917850"/>
            <a:ext cx="1600200" cy="1624200"/>
          </a:xfrm>
          <a:prstGeom prst="roundRect">
            <a:avLst>
              <a:gd fmla="val 8107" name="adj"/>
            </a:avLst>
          </a:prstGeom>
          <a:noFill/>
          <a:ln>
            <a:noFill/>
          </a:ln>
        </p:spPr>
      </p:pic>
      <p:sp>
        <p:nvSpPr>
          <p:cNvPr id="752" name="Google Shape;752;p51"/>
          <p:cNvSpPr txBox="1"/>
          <p:nvPr/>
        </p:nvSpPr>
        <p:spPr>
          <a:xfrm>
            <a:off x="1680950" y="970900"/>
            <a:ext cx="1190700" cy="17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F4E9D8"/>
                </a:solidFill>
                <a:latin typeface="Pixelify Sans"/>
                <a:ea typeface="Pixelify Sans"/>
                <a:cs typeface="Pixelify Sans"/>
                <a:sym typeface="Pixelify Sans"/>
              </a:rPr>
              <a:t>Solución </a:t>
            </a:r>
            <a:r>
              <a:rPr lang="es" sz="800">
                <a:solidFill>
                  <a:srgbClr val="F4E9D8"/>
                </a:solidFill>
                <a:latin typeface="Pixelify Sans"/>
                <a:ea typeface="Pixelify Sans"/>
                <a:cs typeface="Pixelify Sans"/>
                <a:sym typeface="Pixelify Sans"/>
              </a:rPr>
              <a:t>Óptima</a:t>
            </a:r>
            <a:r>
              <a:rPr lang="es" sz="800">
                <a:solidFill>
                  <a:srgbClr val="F4E9D8"/>
                </a:solidFill>
                <a:latin typeface="Pixelify Sans"/>
                <a:ea typeface="Pixelify Sans"/>
                <a:cs typeface="Pixelify Sans"/>
                <a:sym typeface="Pixelify Sans"/>
              </a:rPr>
              <a:t>: </a:t>
            </a:r>
            <a:endParaRPr sz="800">
              <a:solidFill>
                <a:srgbClr val="F4E9D8"/>
              </a:solidFill>
              <a:latin typeface="Pixelify Sans"/>
              <a:ea typeface="Pixelify Sans"/>
              <a:cs typeface="Pixelify Sans"/>
              <a:sym typeface="Pixelify Sans"/>
            </a:endParaRPr>
          </a:p>
          <a:p>
            <a:pPr indent="0" lvl="0" marL="0" rtl="0" algn="ctr">
              <a:spcBef>
                <a:spcPts val="0"/>
              </a:spcBef>
              <a:spcAft>
                <a:spcPts val="0"/>
              </a:spcAft>
              <a:buNone/>
            </a:pPr>
            <a:r>
              <a:rPr lang="es" sz="800">
                <a:solidFill>
                  <a:srgbClr val="F4E9D8"/>
                </a:solidFill>
                <a:latin typeface="Pixelify Sans"/>
                <a:ea typeface="Pixelify Sans"/>
                <a:cs typeface="Pixelify Sans"/>
                <a:sym typeface="Pixelify Sans"/>
              </a:rPr>
              <a:t>30 movimientos</a:t>
            </a:r>
            <a:endParaRPr sz="800">
              <a:solidFill>
                <a:srgbClr val="F4E9D8"/>
              </a:solidFill>
              <a:latin typeface="Pixelify Sans"/>
              <a:ea typeface="Pixelify Sans"/>
              <a:cs typeface="Pixelify Sans"/>
              <a:sym typeface="Pixelify Sans"/>
            </a:endParaRPr>
          </a:p>
        </p:txBody>
      </p:sp>
      <p:sp>
        <p:nvSpPr>
          <p:cNvPr id="753" name="Google Shape;753;p51"/>
          <p:cNvSpPr txBox="1"/>
          <p:nvPr/>
        </p:nvSpPr>
        <p:spPr>
          <a:xfrm>
            <a:off x="6488725" y="537300"/>
            <a:ext cx="1190700" cy="17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F4E9D8"/>
                </a:solidFill>
                <a:latin typeface="Pixelify Sans"/>
                <a:ea typeface="Pixelify Sans"/>
                <a:cs typeface="Pixelify Sans"/>
                <a:sym typeface="Pixelify Sans"/>
              </a:rPr>
              <a:t>Solución Óptima: 25946 movimientos</a:t>
            </a:r>
            <a:endParaRPr sz="800">
              <a:solidFill>
                <a:srgbClr val="F4E9D8"/>
              </a:solidFill>
              <a:latin typeface="Pixelify Sans"/>
              <a:ea typeface="Pixelify Sans"/>
              <a:cs typeface="Pixelify Sans"/>
              <a:sym typeface="Pixelify Sans"/>
            </a:endParaRPr>
          </a:p>
        </p:txBody>
      </p:sp>
      <p:sp>
        <p:nvSpPr>
          <p:cNvPr id="754" name="Google Shape;754;p51"/>
          <p:cNvSpPr txBox="1"/>
          <p:nvPr/>
        </p:nvSpPr>
        <p:spPr>
          <a:xfrm>
            <a:off x="1680950" y="2542050"/>
            <a:ext cx="1190700" cy="17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F44747"/>
                </a:solidFill>
                <a:latin typeface="Pixelify Sans"/>
                <a:ea typeface="Pixelify Sans"/>
                <a:cs typeface="Pixelify Sans"/>
                <a:sym typeface="Pixelify Sans"/>
              </a:rPr>
              <a:t>Resuelto en 4 min</a:t>
            </a:r>
            <a:endParaRPr sz="800">
              <a:solidFill>
                <a:srgbClr val="F44747"/>
              </a:solidFill>
              <a:latin typeface="Pixelify Sans"/>
              <a:ea typeface="Pixelify Sans"/>
              <a:cs typeface="Pixelify Sans"/>
              <a:sym typeface="Pixelify Sans"/>
            </a:endParaRPr>
          </a:p>
        </p:txBody>
      </p:sp>
      <p:sp>
        <p:nvSpPr>
          <p:cNvPr id="755" name="Google Shape;755;p51"/>
          <p:cNvSpPr txBox="1"/>
          <p:nvPr/>
        </p:nvSpPr>
        <p:spPr>
          <a:xfrm>
            <a:off x="6488725" y="2546850"/>
            <a:ext cx="1190700" cy="22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5FB86D"/>
                </a:solidFill>
                <a:latin typeface="Pixelify Sans"/>
                <a:ea typeface="Pixelify Sans"/>
                <a:cs typeface="Pixelify Sans"/>
                <a:sym typeface="Pixelify Sans"/>
              </a:rPr>
              <a:t>Resuelto en 11 sec</a:t>
            </a:r>
            <a:endParaRPr sz="800">
              <a:solidFill>
                <a:srgbClr val="5FB86D"/>
              </a:solidFill>
              <a:latin typeface="Pixelify Sans"/>
              <a:ea typeface="Pixelify Sans"/>
              <a:cs typeface="Pixelify Sans"/>
              <a:sym typeface="Pixelify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9D8"/>
        </a:solidFill>
      </p:bgPr>
    </p:bg>
    <p:spTree>
      <p:nvGrpSpPr>
        <p:cNvPr id="759" name="Shape 759"/>
        <p:cNvGrpSpPr/>
        <p:nvPr/>
      </p:nvGrpSpPr>
      <p:grpSpPr>
        <a:xfrm>
          <a:off x="0" y="0"/>
          <a:ext cx="0" cy="0"/>
          <a:chOff x="0" y="0"/>
          <a:chExt cx="0" cy="0"/>
        </a:xfrm>
      </p:grpSpPr>
      <p:sp>
        <p:nvSpPr>
          <p:cNvPr id="760" name="Google Shape;760;p52"/>
          <p:cNvSpPr txBox="1"/>
          <p:nvPr>
            <p:ph type="title"/>
          </p:nvPr>
        </p:nvSpPr>
        <p:spPr>
          <a:xfrm>
            <a:off x="685800" y="377190"/>
            <a:ext cx="77700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Planteo</a:t>
            </a:r>
            <a:endParaRPr/>
          </a:p>
        </p:txBody>
      </p:sp>
      <p:sp>
        <p:nvSpPr>
          <p:cNvPr id="761" name="Google Shape;761;p52"/>
          <p:cNvSpPr txBox="1"/>
          <p:nvPr>
            <p:ph idx="1" type="body"/>
          </p:nvPr>
        </p:nvSpPr>
        <p:spPr>
          <a:xfrm>
            <a:off x="4457700" y="1200150"/>
            <a:ext cx="3998100" cy="1190700"/>
          </a:xfrm>
          <a:prstGeom prst="rect">
            <a:avLst/>
          </a:prstGeom>
        </p:spPr>
        <p:txBody>
          <a:bodyPr anchorCtr="0" anchor="t" bIns="34275" lIns="68575" spcFirstLastPara="1" rIns="68575" wrap="square" tIns="34275">
            <a:noAutofit/>
          </a:bodyPr>
          <a:lstStyle/>
          <a:p>
            <a:pPr indent="0" lvl="0" marL="0" rtl="0" algn="ctr">
              <a:spcBef>
                <a:spcPts val="200"/>
              </a:spcBef>
              <a:spcAft>
                <a:spcPts val="0"/>
              </a:spcAft>
              <a:buNone/>
            </a:pPr>
            <a:r>
              <a:rPr b="1" lang="es">
                <a:latin typeface="Consolas"/>
                <a:ea typeface="Consolas"/>
                <a:cs typeface="Consolas"/>
                <a:sym typeface="Consolas"/>
              </a:rPr>
              <a:t>¿Solución?</a:t>
            </a:r>
            <a:r>
              <a:rPr i="1" lang="es">
                <a:latin typeface="Consolas"/>
                <a:ea typeface="Consolas"/>
                <a:cs typeface="Consolas"/>
                <a:sym typeface="Consolas"/>
              </a:rPr>
              <a:t> </a:t>
            </a:r>
            <a:r>
              <a:rPr b="1" i="1" lang="es">
                <a:solidFill>
                  <a:srgbClr val="F4E9D8"/>
                </a:solidFill>
                <a:highlight>
                  <a:srgbClr val="5FB86D"/>
                </a:highlight>
                <a:latin typeface="Consolas"/>
                <a:ea typeface="Consolas"/>
                <a:cs typeface="Consolas"/>
                <a:sym typeface="Consolas"/>
              </a:rPr>
              <a:t>EBF</a:t>
            </a:r>
            <a:r>
              <a:rPr i="1" lang="es">
                <a:solidFill>
                  <a:srgbClr val="F4E9D8"/>
                </a:solidFill>
                <a:highlight>
                  <a:srgbClr val="5FB86D"/>
                </a:highlight>
                <a:latin typeface="Consolas"/>
                <a:ea typeface="Consolas"/>
                <a:cs typeface="Consolas"/>
                <a:sym typeface="Consolas"/>
              </a:rPr>
              <a:t> </a:t>
            </a:r>
            <a:r>
              <a:rPr b="1" lang="es">
                <a:solidFill>
                  <a:srgbClr val="F4E9D8"/>
                </a:solidFill>
                <a:highlight>
                  <a:srgbClr val="5FB86D"/>
                </a:highlight>
                <a:latin typeface="Consolas"/>
                <a:ea typeface="Consolas"/>
                <a:cs typeface="Consolas"/>
                <a:sym typeface="Consolas"/>
              </a:rPr>
              <a:t>&amp;</a:t>
            </a:r>
            <a:r>
              <a:rPr i="1" lang="es">
                <a:solidFill>
                  <a:srgbClr val="F4E9D8"/>
                </a:solidFill>
                <a:highlight>
                  <a:srgbClr val="5FB86D"/>
                </a:highlight>
                <a:latin typeface="Consolas"/>
                <a:ea typeface="Consolas"/>
                <a:cs typeface="Consolas"/>
                <a:sym typeface="Consolas"/>
              </a:rPr>
              <a:t> </a:t>
            </a:r>
            <a:r>
              <a:rPr b="1" i="1" lang="es">
                <a:solidFill>
                  <a:srgbClr val="F4E9D8"/>
                </a:solidFill>
                <a:highlight>
                  <a:srgbClr val="5FB86D"/>
                </a:highlight>
                <a:latin typeface="Consolas"/>
                <a:ea typeface="Consolas"/>
                <a:cs typeface="Consolas"/>
                <a:sym typeface="Consolas"/>
              </a:rPr>
              <a:t>expanded/solution</a:t>
            </a:r>
            <a:r>
              <a:rPr i="1" lang="es">
                <a:solidFill>
                  <a:srgbClr val="F4E9D8"/>
                </a:solidFill>
                <a:highlight>
                  <a:srgbClr val="5FB86D"/>
                </a:highlight>
                <a:latin typeface="Consolas"/>
                <a:ea typeface="Consolas"/>
                <a:cs typeface="Consolas"/>
                <a:sym typeface="Consolas"/>
              </a:rPr>
              <a:t> </a:t>
            </a:r>
            <a:endParaRPr i="1">
              <a:solidFill>
                <a:srgbClr val="F4E9D8"/>
              </a:solidFill>
              <a:highlight>
                <a:srgbClr val="5FB86D"/>
              </a:highlight>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Permite saber de antemano que tan difícil será un nivel para un humano</a:t>
            </a:r>
            <a:endParaRPr>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a:p>
            <a:pPr indent="0" lvl="0" marL="0" rtl="0" algn="l">
              <a:spcBef>
                <a:spcPts val="200"/>
              </a:spcBef>
              <a:spcAft>
                <a:spcPts val="0"/>
              </a:spcAft>
              <a:buNone/>
            </a:pPr>
            <a:r>
              <a:rPr lang="es">
                <a:latin typeface="Consolas"/>
                <a:ea typeface="Consolas"/>
                <a:cs typeface="Consolas"/>
                <a:sym typeface="Consolas"/>
              </a:rPr>
              <a:t>Esto puede definir “cuánto le </a:t>
            </a:r>
            <a:r>
              <a:rPr b="1" lang="es">
                <a:latin typeface="Consolas"/>
                <a:ea typeface="Consolas"/>
                <a:cs typeface="Consolas"/>
                <a:sym typeface="Consolas"/>
              </a:rPr>
              <a:t>costó</a:t>
            </a:r>
            <a:r>
              <a:rPr lang="es">
                <a:latin typeface="Consolas"/>
                <a:ea typeface="Consolas"/>
                <a:cs typeface="Consolas"/>
                <a:sym typeface="Consolas"/>
              </a:rPr>
              <a:t>”. </a:t>
            </a:r>
            <a:r>
              <a:rPr i="1" lang="es">
                <a:solidFill>
                  <a:srgbClr val="F44747"/>
                </a:solidFill>
                <a:latin typeface="Consolas"/>
                <a:ea typeface="Consolas"/>
                <a:cs typeface="Consolas"/>
                <a:sym typeface="Consolas"/>
              </a:rPr>
              <a:t>PASADO</a:t>
            </a:r>
            <a:endParaRPr i="1">
              <a:solidFill>
                <a:srgbClr val="F44747"/>
              </a:solidFill>
              <a:latin typeface="Consolas"/>
              <a:ea typeface="Consolas"/>
              <a:cs typeface="Consolas"/>
              <a:sym typeface="Consolas"/>
            </a:endParaRPr>
          </a:p>
          <a:p>
            <a:pPr indent="0" lvl="0" marL="0" rtl="0" algn="l">
              <a:spcBef>
                <a:spcPts val="200"/>
              </a:spcBef>
              <a:spcAft>
                <a:spcPts val="0"/>
              </a:spcAft>
              <a:buNone/>
            </a:pPr>
            <a:r>
              <a:t/>
            </a:r>
            <a:endParaRPr>
              <a:latin typeface="Consolas"/>
              <a:ea typeface="Consolas"/>
              <a:cs typeface="Consolas"/>
              <a:sym typeface="Consolas"/>
            </a:endParaRPr>
          </a:p>
        </p:txBody>
      </p:sp>
      <p:pic>
        <p:nvPicPr>
          <p:cNvPr id="762" name="Google Shape;762;p52"/>
          <p:cNvPicPr preferRelativeResize="0"/>
          <p:nvPr/>
        </p:nvPicPr>
        <p:blipFill>
          <a:blip r:embed="rId3">
            <a:alphaModFix/>
          </a:blip>
          <a:stretch>
            <a:fillRect/>
          </a:stretch>
        </p:blipFill>
        <p:spPr>
          <a:xfrm>
            <a:off x="2834813" y="759663"/>
            <a:ext cx="1190700" cy="1190700"/>
          </a:xfrm>
          <a:prstGeom prst="rect">
            <a:avLst/>
          </a:prstGeom>
          <a:noFill/>
          <a:ln>
            <a:noFill/>
          </a:ln>
        </p:spPr>
      </p:pic>
      <p:sp>
        <p:nvSpPr>
          <p:cNvPr id="763" name="Google Shape;763;p52"/>
          <p:cNvSpPr txBox="1"/>
          <p:nvPr/>
        </p:nvSpPr>
        <p:spPr>
          <a:xfrm>
            <a:off x="2700975" y="1950375"/>
            <a:ext cx="837000" cy="17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800">
                <a:solidFill>
                  <a:srgbClr val="3C8A49"/>
                </a:solidFill>
                <a:latin typeface="Pixelify Sans"/>
                <a:ea typeface="Pixelify Sans"/>
                <a:cs typeface="Pixelify Sans"/>
                <a:sym typeface="Pixelify Sans"/>
              </a:rPr>
              <a:t>132467 nodos</a:t>
            </a:r>
            <a:endParaRPr sz="800">
              <a:solidFill>
                <a:srgbClr val="3C8A49"/>
              </a:solidFill>
              <a:latin typeface="Pixelify Sans"/>
              <a:ea typeface="Pixelify Sans"/>
              <a:cs typeface="Pixelify Sans"/>
              <a:sym typeface="Pixelify Sans"/>
            </a:endParaRPr>
          </a:p>
        </p:txBody>
      </p:sp>
      <p:sp>
        <p:nvSpPr>
          <p:cNvPr id="764" name="Google Shape;764;p52"/>
          <p:cNvSpPr txBox="1"/>
          <p:nvPr/>
        </p:nvSpPr>
        <p:spPr>
          <a:xfrm>
            <a:off x="2700975" y="2132775"/>
            <a:ext cx="837000" cy="17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800">
                <a:solidFill>
                  <a:srgbClr val="3C8A49"/>
                </a:solidFill>
                <a:latin typeface="Pixelify Sans"/>
                <a:ea typeface="Pixelify Sans"/>
                <a:cs typeface="Pixelify Sans"/>
                <a:sym typeface="Pixelify Sans"/>
              </a:rPr>
              <a:t>30 mov.</a:t>
            </a:r>
            <a:endParaRPr sz="800">
              <a:solidFill>
                <a:srgbClr val="3C8A49"/>
              </a:solidFill>
              <a:latin typeface="Pixelify Sans"/>
              <a:ea typeface="Pixelify Sans"/>
              <a:cs typeface="Pixelify Sans"/>
              <a:sym typeface="Pixelify Sans"/>
            </a:endParaRPr>
          </a:p>
        </p:txBody>
      </p:sp>
      <p:cxnSp>
        <p:nvCxnSpPr>
          <p:cNvPr id="765" name="Google Shape;765;p52"/>
          <p:cNvCxnSpPr/>
          <p:nvPr/>
        </p:nvCxnSpPr>
        <p:spPr>
          <a:xfrm>
            <a:off x="2772775" y="2131275"/>
            <a:ext cx="693300" cy="0"/>
          </a:xfrm>
          <a:prstGeom prst="straightConnector1">
            <a:avLst/>
          </a:prstGeom>
          <a:noFill/>
          <a:ln cap="flat" cmpd="sng" w="9525">
            <a:solidFill>
              <a:srgbClr val="188038"/>
            </a:solidFill>
            <a:prstDash val="solid"/>
            <a:round/>
            <a:headEnd len="med" w="med" type="none"/>
            <a:tailEnd len="med" w="med" type="none"/>
          </a:ln>
        </p:spPr>
      </p:cxnSp>
      <p:sp>
        <p:nvSpPr>
          <p:cNvPr id="766" name="Google Shape;766;p52"/>
          <p:cNvSpPr txBox="1"/>
          <p:nvPr/>
        </p:nvSpPr>
        <p:spPr>
          <a:xfrm>
            <a:off x="3466075" y="2041575"/>
            <a:ext cx="693300" cy="179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800">
                <a:solidFill>
                  <a:srgbClr val="3C8A49"/>
                </a:solidFill>
                <a:latin typeface="Pixelify Sans"/>
                <a:ea typeface="Pixelify Sans"/>
                <a:cs typeface="Pixelify Sans"/>
                <a:sym typeface="Pixelify Sans"/>
              </a:rPr>
              <a:t>≅ 4415.56</a:t>
            </a:r>
            <a:endParaRPr sz="800">
              <a:solidFill>
                <a:srgbClr val="3C8A49"/>
              </a:solidFill>
              <a:latin typeface="Pixelify Sans"/>
              <a:ea typeface="Pixelify Sans"/>
              <a:cs typeface="Pixelify Sans"/>
              <a:sym typeface="Pixelify Sans"/>
            </a:endParaRPr>
          </a:p>
        </p:txBody>
      </p:sp>
      <p:pic>
        <p:nvPicPr>
          <p:cNvPr id="767" name="Google Shape;767;p52"/>
          <p:cNvPicPr preferRelativeResize="0"/>
          <p:nvPr/>
        </p:nvPicPr>
        <p:blipFill rotWithShape="1">
          <a:blip r:embed="rId4">
            <a:alphaModFix/>
          </a:blip>
          <a:srcRect b="0" l="2337" r="2651" t="0"/>
          <a:stretch/>
        </p:blipFill>
        <p:spPr>
          <a:xfrm>
            <a:off x="2630075" y="2859550"/>
            <a:ext cx="1600200" cy="1624200"/>
          </a:xfrm>
          <a:prstGeom prst="rect">
            <a:avLst/>
          </a:prstGeom>
          <a:noFill/>
          <a:ln>
            <a:noFill/>
          </a:ln>
        </p:spPr>
      </p:pic>
      <p:sp>
        <p:nvSpPr>
          <p:cNvPr id="768" name="Google Shape;768;p52"/>
          <p:cNvSpPr txBox="1"/>
          <p:nvPr/>
        </p:nvSpPr>
        <p:spPr>
          <a:xfrm>
            <a:off x="2782125" y="4483750"/>
            <a:ext cx="889800" cy="17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800">
                <a:solidFill>
                  <a:srgbClr val="3C8A49"/>
                </a:solidFill>
                <a:latin typeface="Pixelify Sans"/>
                <a:ea typeface="Pixelify Sans"/>
                <a:cs typeface="Pixelify Sans"/>
                <a:sym typeface="Pixelify Sans"/>
              </a:rPr>
              <a:t>246754 nodos</a:t>
            </a:r>
            <a:endParaRPr sz="800">
              <a:solidFill>
                <a:srgbClr val="3C8A49"/>
              </a:solidFill>
              <a:latin typeface="Pixelify Sans"/>
              <a:ea typeface="Pixelify Sans"/>
              <a:cs typeface="Pixelify Sans"/>
              <a:sym typeface="Pixelify Sans"/>
            </a:endParaRPr>
          </a:p>
        </p:txBody>
      </p:sp>
      <p:sp>
        <p:nvSpPr>
          <p:cNvPr id="769" name="Google Shape;769;p52"/>
          <p:cNvSpPr txBox="1"/>
          <p:nvPr/>
        </p:nvSpPr>
        <p:spPr>
          <a:xfrm>
            <a:off x="2782125" y="4666150"/>
            <a:ext cx="837000" cy="17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800">
                <a:solidFill>
                  <a:srgbClr val="3C8A49"/>
                </a:solidFill>
                <a:latin typeface="Pixelify Sans"/>
                <a:ea typeface="Pixelify Sans"/>
                <a:cs typeface="Pixelify Sans"/>
                <a:sym typeface="Pixelify Sans"/>
              </a:rPr>
              <a:t>25950 mov.</a:t>
            </a:r>
            <a:endParaRPr sz="800">
              <a:solidFill>
                <a:srgbClr val="3C8A49"/>
              </a:solidFill>
              <a:latin typeface="Pixelify Sans"/>
              <a:ea typeface="Pixelify Sans"/>
              <a:cs typeface="Pixelify Sans"/>
              <a:sym typeface="Pixelify Sans"/>
            </a:endParaRPr>
          </a:p>
        </p:txBody>
      </p:sp>
      <p:cxnSp>
        <p:nvCxnSpPr>
          <p:cNvPr id="770" name="Google Shape;770;p52"/>
          <p:cNvCxnSpPr/>
          <p:nvPr/>
        </p:nvCxnSpPr>
        <p:spPr>
          <a:xfrm>
            <a:off x="2853925" y="4664650"/>
            <a:ext cx="693300" cy="0"/>
          </a:xfrm>
          <a:prstGeom prst="straightConnector1">
            <a:avLst/>
          </a:prstGeom>
          <a:noFill/>
          <a:ln cap="flat" cmpd="sng" w="9525">
            <a:solidFill>
              <a:srgbClr val="188038"/>
            </a:solidFill>
            <a:prstDash val="solid"/>
            <a:round/>
            <a:headEnd len="med" w="med" type="none"/>
            <a:tailEnd len="med" w="med" type="none"/>
          </a:ln>
        </p:spPr>
      </p:cxnSp>
      <p:sp>
        <p:nvSpPr>
          <p:cNvPr id="771" name="Google Shape;771;p52"/>
          <p:cNvSpPr txBox="1"/>
          <p:nvPr/>
        </p:nvSpPr>
        <p:spPr>
          <a:xfrm>
            <a:off x="3547225" y="4574950"/>
            <a:ext cx="531000" cy="179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800">
                <a:solidFill>
                  <a:srgbClr val="3C8A49"/>
                </a:solidFill>
                <a:latin typeface="Pixelify Sans"/>
                <a:ea typeface="Pixelify Sans"/>
                <a:cs typeface="Pixelify Sans"/>
                <a:sym typeface="Pixelify Sans"/>
              </a:rPr>
              <a:t>≅ 9.51</a:t>
            </a:r>
            <a:endParaRPr sz="800">
              <a:solidFill>
                <a:srgbClr val="3C8A49"/>
              </a:solidFill>
              <a:latin typeface="Pixelify Sans"/>
              <a:ea typeface="Pixelify Sans"/>
              <a:cs typeface="Pixelify Sans"/>
              <a:sym typeface="Pixelify Sans"/>
            </a:endParaRPr>
          </a:p>
        </p:txBody>
      </p:sp>
      <p:sp>
        <p:nvSpPr>
          <p:cNvPr id="772" name="Google Shape;772;p52"/>
          <p:cNvSpPr txBox="1"/>
          <p:nvPr/>
        </p:nvSpPr>
        <p:spPr>
          <a:xfrm>
            <a:off x="5005050" y="3160900"/>
            <a:ext cx="2903400" cy="119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700">
                <a:latin typeface="Pixelify Sans"/>
                <a:ea typeface="Pixelify Sans"/>
                <a:cs typeface="Pixelify Sans"/>
                <a:sym typeface="Pixelify Sans"/>
              </a:rPr>
              <a:t>¿Como un humano puede enterarse de antemano cuánto le va a </a:t>
            </a:r>
            <a:r>
              <a:rPr b="1" lang="es" sz="1700">
                <a:latin typeface="Pixelify Sans"/>
                <a:ea typeface="Pixelify Sans"/>
                <a:cs typeface="Pixelify Sans"/>
                <a:sym typeface="Pixelify Sans"/>
              </a:rPr>
              <a:t>costar a la IA</a:t>
            </a:r>
            <a:r>
              <a:rPr lang="es" sz="1700">
                <a:latin typeface="Pixelify Sans"/>
                <a:ea typeface="Pixelify Sans"/>
                <a:cs typeface="Pixelify Sans"/>
                <a:sym typeface="Pixelify Sans"/>
              </a:rPr>
              <a:t>?</a:t>
            </a:r>
            <a:endParaRPr sz="1700">
              <a:latin typeface="Pixelify Sans"/>
              <a:ea typeface="Pixelify Sans"/>
              <a:cs typeface="Pixelify Sans"/>
              <a:sym typeface="Pixelify Sans"/>
            </a:endParaRPr>
          </a:p>
        </p:txBody>
      </p:sp>
      <p:sp>
        <p:nvSpPr>
          <p:cNvPr id="773" name="Google Shape;773;p52"/>
          <p:cNvSpPr txBox="1"/>
          <p:nvPr/>
        </p:nvSpPr>
        <p:spPr>
          <a:xfrm>
            <a:off x="4956750" y="2591225"/>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200"/>
              </a:spcBef>
              <a:spcAft>
                <a:spcPts val="0"/>
              </a:spcAft>
              <a:buNone/>
            </a:pPr>
            <a:r>
              <a:rPr i="1" lang="es" sz="1200">
                <a:solidFill>
                  <a:srgbClr val="8C5325"/>
                </a:solidFill>
                <a:latin typeface="Consolas"/>
                <a:ea typeface="Consolas"/>
                <a:cs typeface="Consolas"/>
                <a:sym typeface="Consolas"/>
              </a:rPr>
              <a:t>pero…</a:t>
            </a:r>
            <a:endParaRPr>
              <a:solidFill>
                <a:srgbClr val="8C5325"/>
              </a:solidFill>
            </a:endParaRPr>
          </a:p>
        </p:txBody>
      </p:sp>
      <p:sp>
        <p:nvSpPr>
          <p:cNvPr id="774" name="Google Shape;774;p52"/>
          <p:cNvSpPr txBox="1"/>
          <p:nvPr/>
        </p:nvSpPr>
        <p:spPr>
          <a:xfrm>
            <a:off x="3011675" y="2312175"/>
            <a:ext cx="837000" cy="17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800">
                <a:solidFill>
                  <a:srgbClr val="3C8A49"/>
                </a:solidFill>
                <a:latin typeface="Pixelify Sans"/>
                <a:ea typeface="Pixelify Sans"/>
                <a:cs typeface="Pixelify Sans"/>
                <a:sym typeface="Pixelify Sans"/>
              </a:rPr>
              <a:t>EBF = 1.584</a:t>
            </a:r>
            <a:endParaRPr sz="800">
              <a:solidFill>
                <a:srgbClr val="3C8A49"/>
              </a:solidFill>
              <a:latin typeface="Pixelify Sans"/>
              <a:ea typeface="Pixelify Sans"/>
              <a:cs typeface="Pixelify Sans"/>
              <a:sym typeface="Pixelify Sans"/>
            </a:endParaRPr>
          </a:p>
        </p:txBody>
      </p:sp>
      <p:sp>
        <p:nvSpPr>
          <p:cNvPr id="775" name="Google Shape;775;p52"/>
          <p:cNvSpPr txBox="1"/>
          <p:nvPr/>
        </p:nvSpPr>
        <p:spPr>
          <a:xfrm>
            <a:off x="3011675" y="4818525"/>
            <a:ext cx="837000" cy="17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800">
                <a:solidFill>
                  <a:srgbClr val="3C8A49"/>
                </a:solidFill>
                <a:latin typeface="Pixelify Sans"/>
                <a:ea typeface="Pixelify Sans"/>
                <a:cs typeface="Pixelify Sans"/>
                <a:sym typeface="Pixelify Sans"/>
              </a:rPr>
              <a:t>EBF = 1.000</a:t>
            </a:r>
            <a:endParaRPr sz="800">
              <a:solidFill>
                <a:srgbClr val="3C8A49"/>
              </a:solidFill>
              <a:latin typeface="Pixelify Sans"/>
              <a:ea typeface="Pixelify Sans"/>
              <a:cs typeface="Pixelify Sans"/>
              <a:sym typeface="Pixelify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9D8"/>
        </a:solidFill>
      </p:bgPr>
    </p:bg>
    <p:spTree>
      <p:nvGrpSpPr>
        <p:cNvPr id="779" name="Shape 779"/>
        <p:cNvGrpSpPr/>
        <p:nvPr/>
      </p:nvGrpSpPr>
      <p:grpSpPr>
        <a:xfrm>
          <a:off x="0" y="0"/>
          <a:ext cx="0" cy="0"/>
          <a:chOff x="0" y="0"/>
          <a:chExt cx="0" cy="0"/>
        </a:xfrm>
      </p:grpSpPr>
      <p:sp>
        <p:nvSpPr>
          <p:cNvPr id="780" name="Google Shape;780;p53"/>
          <p:cNvSpPr txBox="1"/>
          <p:nvPr>
            <p:ph type="title"/>
          </p:nvPr>
        </p:nvSpPr>
        <p:spPr>
          <a:xfrm>
            <a:off x="1062990" y="377190"/>
            <a:ext cx="7564500" cy="548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s"/>
              <a:t>Niveles NO resueltos por falta de memoria</a:t>
            </a:r>
            <a:endParaRPr/>
          </a:p>
        </p:txBody>
      </p:sp>
      <p:pic>
        <p:nvPicPr>
          <p:cNvPr id="781" name="Google Shape;781;p53"/>
          <p:cNvPicPr preferRelativeResize="0"/>
          <p:nvPr/>
        </p:nvPicPr>
        <p:blipFill rotWithShape="1">
          <a:blip r:embed="rId3">
            <a:alphaModFix/>
          </a:blip>
          <a:srcRect b="0" l="1420" r="0" t="0"/>
          <a:stretch/>
        </p:blipFill>
        <p:spPr>
          <a:xfrm>
            <a:off x="904225" y="1443525"/>
            <a:ext cx="1836250" cy="1146825"/>
          </a:xfrm>
          <a:prstGeom prst="rect">
            <a:avLst/>
          </a:prstGeom>
          <a:noFill/>
          <a:ln>
            <a:noFill/>
          </a:ln>
        </p:spPr>
      </p:pic>
      <p:sp>
        <p:nvSpPr>
          <p:cNvPr id="782" name="Google Shape;782;p53"/>
          <p:cNvSpPr txBox="1"/>
          <p:nvPr>
            <p:ph idx="1" type="body"/>
          </p:nvPr>
        </p:nvSpPr>
        <p:spPr>
          <a:xfrm>
            <a:off x="4195775" y="1281275"/>
            <a:ext cx="4260000" cy="2580900"/>
          </a:xfrm>
          <a:prstGeom prst="rect">
            <a:avLst/>
          </a:prstGeom>
        </p:spPr>
        <p:txBody>
          <a:bodyPr anchorCtr="0" anchor="t" bIns="34275" lIns="68575" spcFirstLastPara="1" rIns="68575" wrap="square" tIns="34275">
            <a:noAutofit/>
          </a:bodyPr>
          <a:lstStyle/>
          <a:p>
            <a:pPr indent="0" lvl="0" marL="0" rtl="0" algn="ctr">
              <a:spcBef>
                <a:spcPts val="200"/>
              </a:spcBef>
              <a:spcAft>
                <a:spcPts val="0"/>
              </a:spcAft>
              <a:buNone/>
            </a:pPr>
            <a:r>
              <a:rPr b="1" lang="es">
                <a:solidFill>
                  <a:srgbClr val="5FB86D"/>
                </a:solidFill>
                <a:latin typeface="Pixelify Sans"/>
                <a:ea typeface="Pixelify Sans"/>
                <a:cs typeface="Pixelify Sans"/>
                <a:sym typeface="Pixelify Sans"/>
              </a:rPr>
              <a:t>¿Que tienen en común?</a:t>
            </a:r>
            <a:endParaRPr b="1">
              <a:solidFill>
                <a:srgbClr val="5FB86D"/>
              </a:solidFill>
              <a:latin typeface="Pixelify Sans"/>
              <a:ea typeface="Pixelify Sans"/>
              <a:cs typeface="Pixelify Sans"/>
              <a:sym typeface="Pixelify Sans"/>
            </a:endParaRPr>
          </a:p>
          <a:p>
            <a:pPr indent="0" lvl="0" marL="0" rtl="0" algn="l">
              <a:spcBef>
                <a:spcPts val="200"/>
              </a:spcBef>
              <a:spcAft>
                <a:spcPts val="0"/>
              </a:spcAft>
              <a:buNone/>
            </a:pPr>
            <a:r>
              <a:t/>
            </a:r>
            <a:endParaRPr b="1">
              <a:latin typeface="Pixelify Sans"/>
              <a:ea typeface="Pixelify Sans"/>
              <a:cs typeface="Pixelify Sans"/>
              <a:sym typeface="Pixelify San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Alta cantidad de cajas en lugares muy compactados</a:t>
            </a:r>
            <a:endParaRPr>
              <a:latin typeface="Consolas"/>
              <a:ea typeface="Consolas"/>
              <a:cs typeface="Consolas"/>
              <a:sym typeface="Consolas"/>
            </a:endParaRPr>
          </a:p>
          <a:p>
            <a:pPr indent="-304800" lvl="1" marL="914400" rtl="0" algn="l">
              <a:spcBef>
                <a:spcPts val="0"/>
              </a:spcBef>
              <a:spcAft>
                <a:spcPts val="0"/>
              </a:spcAft>
              <a:buSzPts val="1200"/>
              <a:buFont typeface="Consolas"/>
              <a:buChar char="❏"/>
            </a:pPr>
            <a:r>
              <a:rPr lang="es" sz="1200">
                <a:latin typeface="Consolas"/>
                <a:ea typeface="Consolas"/>
                <a:cs typeface="Consolas"/>
                <a:sym typeface="Consolas"/>
              </a:rPr>
              <a:t>El algoritmo hungaro </a:t>
            </a:r>
            <a:r>
              <a:rPr lang="es" sz="1200">
                <a:solidFill>
                  <a:srgbClr val="F44747"/>
                </a:solidFill>
                <a:latin typeface="Consolas"/>
                <a:ea typeface="Consolas"/>
                <a:cs typeface="Consolas"/>
                <a:sym typeface="Consolas"/>
              </a:rPr>
              <a:t>NO SIRVE</a:t>
            </a:r>
            <a:endParaRPr sz="1200">
              <a:solidFill>
                <a:srgbClr val="F44747"/>
              </a:solidFill>
              <a:latin typeface="Consolas"/>
              <a:ea typeface="Consolas"/>
              <a:cs typeface="Consolas"/>
              <a:sym typeface="Consolas"/>
            </a:endParaRPr>
          </a:p>
          <a:p>
            <a:pPr indent="-304800" lvl="1" marL="914400" rtl="0" algn="l">
              <a:spcBef>
                <a:spcPts val="0"/>
              </a:spcBef>
              <a:spcAft>
                <a:spcPts val="0"/>
              </a:spcAft>
              <a:buSzPts val="1200"/>
              <a:buFont typeface="Consolas"/>
              <a:buChar char="❏"/>
            </a:pPr>
            <a:r>
              <a:rPr lang="es" sz="1200">
                <a:latin typeface="Consolas"/>
                <a:ea typeface="Consolas"/>
                <a:cs typeface="Consolas"/>
                <a:sym typeface="Consolas"/>
              </a:rPr>
              <a:t>Difícil de definir una </a:t>
            </a:r>
            <a:r>
              <a:rPr b="1" lang="es" sz="1200">
                <a:latin typeface="Consolas"/>
                <a:ea typeface="Consolas"/>
                <a:cs typeface="Consolas"/>
                <a:sym typeface="Consolas"/>
              </a:rPr>
              <a:t>heurística</a:t>
            </a:r>
            <a:r>
              <a:rPr lang="es" sz="1200">
                <a:latin typeface="Consolas"/>
                <a:ea typeface="Consolas"/>
                <a:cs typeface="Consolas"/>
                <a:sym typeface="Consolas"/>
              </a:rPr>
              <a:t>?</a:t>
            </a:r>
            <a:endParaRPr sz="1200">
              <a:latin typeface="Consolas"/>
              <a:ea typeface="Consolas"/>
              <a:cs typeface="Consolas"/>
              <a:sym typeface="Consolas"/>
            </a:endParaRPr>
          </a:p>
          <a:p>
            <a:pPr indent="0" lvl="0" marL="457200" rtl="0" algn="l">
              <a:spcBef>
                <a:spcPts val="200"/>
              </a:spcBef>
              <a:spcAft>
                <a:spcPts val="0"/>
              </a:spcAft>
              <a:buNone/>
            </a:pPr>
            <a:r>
              <a:rPr lang="es">
                <a:latin typeface="Consolas"/>
                <a:ea typeface="Consolas"/>
                <a:cs typeface="Consolas"/>
                <a:sym typeface="Consolas"/>
              </a:rPr>
              <a:t>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Fácil de generar un freeze y un corral deadlock</a:t>
            </a:r>
            <a:endParaRPr>
              <a:latin typeface="Consolas"/>
              <a:ea typeface="Consolas"/>
              <a:cs typeface="Consolas"/>
              <a:sym typeface="Consolas"/>
            </a:endParaRPr>
          </a:p>
          <a:p>
            <a:pPr indent="0" lvl="0" marL="457200" rtl="0" algn="l">
              <a:spcBef>
                <a:spcPts val="200"/>
              </a:spcBef>
              <a:spcAft>
                <a:spcPts val="0"/>
              </a:spcAft>
              <a:buNone/>
            </a:pPr>
            <a:r>
              <a:rPr lang="es">
                <a:latin typeface="Consolas"/>
                <a:ea typeface="Consolas"/>
                <a:cs typeface="Consolas"/>
                <a:sym typeface="Consolas"/>
              </a:rPr>
              <a:t> </a:t>
            </a:r>
            <a:endParaRPr>
              <a:latin typeface="Consolas"/>
              <a:ea typeface="Consolas"/>
              <a:cs typeface="Consolas"/>
              <a:sym typeface="Consolas"/>
            </a:endParaRPr>
          </a:p>
          <a:p>
            <a:pPr indent="-304800" lvl="0" marL="457200" rtl="0" algn="l">
              <a:spcBef>
                <a:spcPts val="200"/>
              </a:spcBef>
              <a:spcAft>
                <a:spcPts val="0"/>
              </a:spcAft>
              <a:buSzPts val="1200"/>
              <a:buFont typeface="Consolas"/>
              <a:buChar char="❏"/>
            </a:pPr>
            <a:r>
              <a:rPr lang="es">
                <a:latin typeface="Consolas"/>
                <a:ea typeface="Consolas"/>
                <a:cs typeface="Consolas"/>
                <a:sym typeface="Consolas"/>
              </a:rPr>
              <a:t>Patrones repetitivos y simétricos</a:t>
            </a:r>
            <a:endParaRPr>
              <a:latin typeface="Consolas"/>
              <a:ea typeface="Consolas"/>
              <a:cs typeface="Consolas"/>
              <a:sym typeface="Consolas"/>
            </a:endParaRPr>
          </a:p>
        </p:txBody>
      </p:sp>
      <p:pic>
        <p:nvPicPr>
          <p:cNvPr id="783" name="Google Shape;783;p53"/>
          <p:cNvPicPr preferRelativeResize="0"/>
          <p:nvPr/>
        </p:nvPicPr>
        <p:blipFill>
          <a:blip r:embed="rId4">
            <a:alphaModFix/>
          </a:blip>
          <a:stretch>
            <a:fillRect/>
          </a:stretch>
        </p:blipFill>
        <p:spPr>
          <a:xfrm>
            <a:off x="2947325" y="2707363"/>
            <a:ext cx="1154850" cy="1154850"/>
          </a:xfrm>
          <a:prstGeom prst="rect">
            <a:avLst/>
          </a:prstGeom>
          <a:noFill/>
          <a:ln>
            <a:noFill/>
          </a:ln>
        </p:spPr>
      </p:pic>
      <p:pic>
        <p:nvPicPr>
          <p:cNvPr id="784" name="Google Shape;784;p53"/>
          <p:cNvPicPr preferRelativeResize="0"/>
          <p:nvPr/>
        </p:nvPicPr>
        <p:blipFill rotWithShape="1">
          <a:blip r:embed="rId5">
            <a:alphaModFix/>
          </a:blip>
          <a:srcRect b="0" l="1565" r="1234" t="0"/>
          <a:stretch/>
        </p:blipFill>
        <p:spPr>
          <a:xfrm>
            <a:off x="915187" y="2631075"/>
            <a:ext cx="1825288" cy="1146825"/>
          </a:xfrm>
          <a:prstGeom prst="rect">
            <a:avLst/>
          </a:prstGeom>
          <a:noFill/>
          <a:ln>
            <a:noFill/>
          </a:ln>
        </p:spPr>
      </p:pic>
      <p:pic>
        <p:nvPicPr>
          <p:cNvPr id="785" name="Google Shape;785;p53"/>
          <p:cNvPicPr preferRelativeResize="0"/>
          <p:nvPr/>
        </p:nvPicPr>
        <p:blipFill rotWithShape="1">
          <a:blip r:embed="rId6">
            <a:alphaModFix/>
          </a:blip>
          <a:srcRect b="4132" l="0" r="0" t="2183"/>
          <a:stretch/>
        </p:blipFill>
        <p:spPr>
          <a:xfrm>
            <a:off x="2947325" y="1435537"/>
            <a:ext cx="1154850" cy="116279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